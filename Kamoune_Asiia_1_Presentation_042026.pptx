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869" r:id="rId1"/>
  </p:sldMasterIdLst>
  <p:notesMasterIdLst>
    <p:notesMasterId r:id="rId36"/>
  </p:notesMasterIdLst>
  <p:sldIdLst>
    <p:sldId id="320" r:id="rId2"/>
    <p:sldId id="257" r:id="rId3"/>
    <p:sldId id="259" r:id="rId4"/>
    <p:sldId id="258" r:id="rId5"/>
    <p:sldId id="261" r:id="rId6"/>
    <p:sldId id="262" r:id="rId7"/>
    <p:sldId id="263" r:id="rId8"/>
    <p:sldId id="264" r:id="rId9"/>
    <p:sldId id="313" r:id="rId10"/>
    <p:sldId id="314" r:id="rId11"/>
    <p:sldId id="315" r:id="rId12"/>
    <p:sldId id="308" r:id="rId13"/>
    <p:sldId id="309" r:id="rId14"/>
    <p:sldId id="268" r:id="rId15"/>
    <p:sldId id="297" r:id="rId16"/>
    <p:sldId id="298" r:id="rId17"/>
    <p:sldId id="299" r:id="rId18"/>
    <p:sldId id="300" r:id="rId19"/>
    <p:sldId id="301" r:id="rId20"/>
    <p:sldId id="302" r:id="rId21"/>
    <p:sldId id="303" r:id="rId22"/>
    <p:sldId id="304" r:id="rId23"/>
    <p:sldId id="305" r:id="rId24"/>
    <p:sldId id="266" r:id="rId25"/>
    <p:sldId id="306" r:id="rId26"/>
    <p:sldId id="311" r:id="rId27"/>
    <p:sldId id="312" r:id="rId28"/>
    <p:sldId id="316" r:id="rId29"/>
    <p:sldId id="269" r:id="rId30"/>
    <p:sldId id="270" r:id="rId31"/>
    <p:sldId id="271" r:id="rId32"/>
    <p:sldId id="317" r:id="rId33"/>
    <p:sldId id="318" r:id="rId34"/>
    <p:sldId id="319" r:id="rId35"/>
  </p:sldIdLst>
  <p:sldSz cx="9144000" cy="5143500" type="screen16x9"/>
  <p:notesSz cx="6858000" cy="9144000"/>
  <p:embeddedFontLst>
    <p:embeddedFont>
      <p:font typeface="Century Gothic" panose="020B0502020202020204" pitchFamily="34" charset="0"/>
      <p:regular r:id="rId37"/>
      <p:bold r:id="rId38"/>
      <p:italic r:id="rId39"/>
      <p:boldItalic r:id="rId40"/>
    </p:embeddedFont>
    <p:embeddedFont>
      <p:font typeface="Space Grotesk" panose="020B0604020202020204" charset="0"/>
      <p:regular r:id="rId41"/>
      <p:bold r:id="rId42"/>
    </p:embeddedFont>
    <p:embeddedFont>
      <p:font typeface="Space Grotesk Medium" panose="020B0604020202020204" charset="0"/>
      <p:regular r:id="rId43"/>
      <p:bold r:id="rId44"/>
    </p:embeddedFont>
    <p:embeddedFont>
      <p:font typeface="Wingdings 3" panose="05040102010807070707" pitchFamily="18" charset="2"/>
      <p:regular r:id="rId4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7" roundtripDataSignature="AMtx7mjdhnSw0mXkQg9u0bc1nEdsQBftp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272DF2-5866-4BD9-90D9-472611E76D45}">
  <a:tblStyle styleId="{40272DF2-5866-4BD9-90D9-472611E76D45}"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616DA210-FB5B-4158-B5E0-FEB733F419BA}" styleName="Style clair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7AC3CCA-C797-4891-BE02-D94E43425B78}" styleName="Style moyen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99" autoAdjust="0"/>
    <p:restoredTop sz="95196" autoAdjust="0"/>
  </p:normalViewPr>
  <p:slideViewPr>
    <p:cSldViewPr snapToGrid="0">
      <p:cViewPr varScale="1">
        <p:scale>
          <a:sx n="113" d="100"/>
          <a:sy n="113" d="100"/>
        </p:scale>
        <p:origin x="61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79"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8.fntdata"/><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77" Type="http://customschemas.google.com/relationships/presentationmetadata" Target="metadata"/><Relationship Id="rId8" Type="http://schemas.openxmlformats.org/officeDocument/2006/relationships/slide" Target="slides/slide7.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20" Type="http://schemas.openxmlformats.org/officeDocument/2006/relationships/slide" Target="slides/slide19.xml"/><Relationship Id="rId41"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2"/>
        <p:cNvGrpSpPr/>
        <p:nvPr/>
      </p:nvGrpSpPr>
      <p:grpSpPr>
        <a:xfrm>
          <a:off x="0" y="0"/>
          <a:ext cx="0" cy="0"/>
          <a:chOff x="0" y="0"/>
          <a:chExt cx="0" cy="0"/>
        </a:xfrm>
      </p:grpSpPr>
      <p:sp>
        <p:nvSpPr>
          <p:cNvPr id="2233" name="Google Shape;223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dirty="0"/>
          </a:p>
        </p:txBody>
      </p:sp>
      <p:sp>
        <p:nvSpPr>
          <p:cNvPr id="2234" name="Google Shape;223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5"/>
        <p:cNvGrpSpPr/>
        <p:nvPr/>
      </p:nvGrpSpPr>
      <p:grpSpPr>
        <a:xfrm>
          <a:off x="0" y="0"/>
          <a:ext cx="0" cy="0"/>
          <a:chOff x="0" y="0"/>
          <a:chExt cx="0" cy="0"/>
        </a:xfrm>
      </p:grpSpPr>
      <p:sp>
        <p:nvSpPr>
          <p:cNvPr id="2256" name="Google Shape;225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dirty="0"/>
          </a:p>
        </p:txBody>
      </p:sp>
      <p:sp>
        <p:nvSpPr>
          <p:cNvPr id="2257" name="Google Shape;2257;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9"/>
        <p:cNvGrpSpPr/>
        <p:nvPr/>
      </p:nvGrpSpPr>
      <p:grpSpPr>
        <a:xfrm>
          <a:off x="0" y="0"/>
          <a:ext cx="0" cy="0"/>
          <a:chOff x="0" y="0"/>
          <a:chExt cx="0" cy="0"/>
        </a:xfrm>
      </p:grpSpPr>
      <p:sp>
        <p:nvSpPr>
          <p:cNvPr id="2250" name="Google Shape;225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dirty="0"/>
          </a:p>
        </p:txBody>
      </p:sp>
      <p:sp>
        <p:nvSpPr>
          <p:cNvPr id="2251" name="Google Shape;225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1468350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7"/>
        <p:cNvGrpSpPr/>
        <p:nvPr/>
      </p:nvGrpSpPr>
      <p:grpSpPr>
        <a:xfrm>
          <a:off x="0" y="0"/>
          <a:ext cx="0" cy="0"/>
          <a:chOff x="0" y="0"/>
          <a:chExt cx="0" cy="0"/>
        </a:xfrm>
      </p:grpSpPr>
      <p:sp>
        <p:nvSpPr>
          <p:cNvPr id="2268" name="Google Shape;226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dirty="0"/>
          </a:p>
        </p:txBody>
      </p:sp>
      <p:sp>
        <p:nvSpPr>
          <p:cNvPr id="2269" name="Google Shape;2269;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3"/>
        <p:cNvGrpSpPr/>
        <p:nvPr/>
      </p:nvGrpSpPr>
      <p:grpSpPr>
        <a:xfrm>
          <a:off x="0" y="0"/>
          <a:ext cx="0" cy="0"/>
          <a:chOff x="0" y="0"/>
          <a:chExt cx="0" cy="0"/>
        </a:xfrm>
      </p:grpSpPr>
      <p:sp>
        <p:nvSpPr>
          <p:cNvPr id="2274" name="Google Shape;227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2275" name="Google Shape;227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0"/>
        <p:cNvGrpSpPr/>
        <p:nvPr/>
      </p:nvGrpSpPr>
      <p:grpSpPr>
        <a:xfrm>
          <a:off x="0" y="0"/>
          <a:ext cx="0" cy="0"/>
          <a:chOff x="0" y="0"/>
          <a:chExt cx="0" cy="0"/>
        </a:xfrm>
      </p:grpSpPr>
      <p:sp>
        <p:nvSpPr>
          <p:cNvPr id="2291" name="Google Shape;229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2292" name="Google Shape;2292;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6"/>
        <p:cNvGrpSpPr/>
        <p:nvPr/>
      </p:nvGrpSpPr>
      <p:grpSpPr>
        <a:xfrm>
          <a:off x="0" y="0"/>
          <a:ext cx="0" cy="0"/>
          <a:chOff x="0" y="0"/>
          <a:chExt cx="0" cy="0"/>
        </a:xfrm>
      </p:grpSpPr>
      <p:sp>
        <p:nvSpPr>
          <p:cNvPr id="2317" name="Google Shape;231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2318" name="Google Shape;2318;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0">
          <a:extLst>
            <a:ext uri="{FF2B5EF4-FFF2-40B4-BE49-F238E27FC236}">
              <a16:creationId xmlns:a16="http://schemas.microsoft.com/office/drawing/2014/main" id="{FB0B032B-2875-84A4-F7F1-3F6EA0E934A8}"/>
            </a:ext>
          </a:extLst>
        </p:cNvPr>
        <p:cNvGrpSpPr/>
        <p:nvPr/>
      </p:nvGrpSpPr>
      <p:grpSpPr>
        <a:xfrm>
          <a:off x="0" y="0"/>
          <a:ext cx="0" cy="0"/>
          <a:chOff x="0" y="0"/>
          <a:chExt cx="0" cy="0"/>
        </a:xfrm>
      </p:grpSpPr>
      <p:sp>
        <p:nvSpPr>
          <p:cNvPr id="2341" name="Google Shape;2341;p13:notes">
            <a:extLst>
              <a:ext uri="{FF2B5EF4-FFF2-40B4-BE49-F238E27FC236}">
                <a16:creationId xmlns:a16="http://schemas.microsoft.com/office/drawing/2014/main" id="{BB8F8ECB-0D44-1F43-F6CB-3759148186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2342" name="Google Shape;2342;p13:notes">
            <a:extLst>
              <a:ext uri="{FF2B5EF4-FFF2-40B4-BE49-F238E27FC236}">
                <a16:creationId xmlns:a16="http://schemas.microsoft.com/office/drawing/2014/main" id="{C051A5CA-5B5E-ED62-1EC5-48890674635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7302100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0"/>
        <p:cNvGrpSpPr/>
        <p:nvPr/>
      </p:nvGrpSpPr>
      <p:grpSpPr>
        <a:xfrm>
          <a:off x="0" y="0"/>
          <a:ext cx="0" cy="0"/>
          <a:chOff x="0" y="0"/>
          <a:chExt cx="0" cy="0"/>
        </a:xfrm>
      </p:grpSpPr>
      <p:sp>
        <p:nvSpPr>
          <p:cNvPr id="2341" name="Google Shape;23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2342" name="Google Shape;2342;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8"/>
        <p:cNvGrpSpPr/>
        <p:nvPr/>
      </p:nvGrpSpPr>
      <p:grpSpPr>
        <a:xfrm>
          <a:off x="0" y="0"/>
          <a:ext cx="0" cy="0"/>
          <a:chOff x="0" y="0"/>
          <a:chExt cx="0" cy="0"/>
        </a:xfrm>
      </p:grpSpPr>
      <p:sp>
        <p:nvSpPr>
          <p:cNvPr id="2329" name="Google Shape;232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2330" name="Google Shape;2330;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2">
          <a:extLst>
            <a:ext uri="{FF2B5EF4-FFF2-40B4-BE49-F238E27FC236}">
              <a16:creationId xmlns:a16="http://schemas.microsoft.com/office/drawing/2014/main" id="{038E8510-ED0C-85CD-A0C2-674619D72E6D}"/>
            </a:ext>
          </a:extLst>
        </p:cNvPr>
        <p:cNvGrpSpPr/>
        <p:nvPr/>
      </p:nvGrpSpPr>
      <p:grpSpPr>
        <a:xfrm>
          <a:off x="0" y="0"/>
          <a:ext cx="0" cy="0"/>
          <a:chOff x="0" y="0"/>
          <a:chExt cx="0" cy="0"/>
        </a:xfrm>
      </p:grpSpPr>
      <p:sp>
        <p:nvSpPr>
          <p:cNvPr id="2353" name="Google Shape;2353;p15:notes">
            <a:extLst>
              <a:ext uri="{FF2B5EF4-FFF2-40B4-BE49-F238E27FC236}">
                <a16:creationId xmlns:a16="http://schemas.microsoft.com/office/drawing/2014/main" id="{2B977027-2905-C71D-5D94-7D4D17C033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2354" name="Google Shape;2354;p15:notes">
            <a:extLst>
              <a:ext uri="{FF2B5EF4-FFF2-40B4-BE49-F238E27FC236}">
                <a16:creationId xmlns:a16="http://schemas.microsoft.com/office/drawing/2014/main" id="{B2D4D42D-D0DE-6B7F-45B6-AA20AB34351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41569998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2">
          <a:extLst>
            <a:ext uri="{FF2B5EF4-FFF2-40B4-BE49-F238E27FC236}">
              <a16:creationId xmlns:a16="http://schemas.microsoft.com/office/drawing/2014/main" id="{E44D5A64-E0AB-D550-F5F0-C85A3425264B}"/>
            </a:ext>
          </a:extLst>
        </p:cNvPr>
        <p:cNvGrpSpPr/>
        <p:nvPr/>
      </p:nvGrpSpPr>
      <p:grpSpPr>
        <a:xfrm>
          <a:off x="0" y="0"/>
          <a:ext cx="0" cy="0"/>
          <a:chOff x="0" y="0"/>
          <a:chExt cx="0" cy="0"/>
        </a:xfrm>
      </p:grpSpPr>
      <p:sp>
        <p:nvSpPr>
          <p:cNvPr id="2353" name="Google Shape;2353;p15:notes">
            <a:extLst>
              <a:ext uri="{FF2B5EF4-FFF2-40B4-BE49-F238E27FC236}">
                <a16:creationId xmlns:a16="http://schemas.microsoft.com/office/drawing/2014/main" id="{FB18EC5F-79DA-9BA6-7D37-3901D9DFF57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2354" name="Google Shape;2354;p15:notes">
            <a:extLst>
              <a:ext uri="{FF2B5EF4-FFF2-40B4-BE49-F238E27FC236}">
                <a16:creationId xmlns:a16="http://schemas.microsoft.com/office/drawing/2014/main" id="{D877EF69-6D11-9ACE-61AF-CE4CD97DD11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4187274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6"/>
        <p:cNvGrpSpPr/>
        <p:nvPr/>
      </p:nvGrpSpPr>
      <p:grpSpPr>
        <a:xfrm>
          <a:off x="0" y="0"/>
          <a:ext cx="0" cy="0"/>
          <a:chOff x="0" y="0"/>
          <a:chExt cx="0" cy="0"/>
        </a:xfrm>
      </p:grpSpPr>
      <p:sp>
        <p:nvSpPr>
          <p:cNvPr id="2347" name="Google Shape;2347;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2348" name="Google Shape;2348;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2"/>
        <p:cNvGrpSpPr/>
        <p:nvPr/>
      </p:nvGrpSpPr>
      <p:grpSpPr>
        <a:xfrm>
          <a:off x="0" y="0"/>
          <a:ext cx="0" cy="0"/>
          <a:chOff x="0" y="0"/>
          <a:chExt cx="0" cy="0"/>
        </a:xfrm>
      </p:grpSpPr>
      <p:sp>
        <p:nvSpPr>
          <p:cNvPr id="2353" name="Google Shape;2353;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2354" name="Google Shape;2354;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8"/>
        <p:cNvGrpSpPr/>
        <p:nvPr/>
      </p:nvGrpSpPr>
      <p:grpSpPr>
        <a:xfrm>
          <a:off x="0" y="0"/>
          <a:ext cx="0" cy="0"/>
          <a:chOff x="0" y="0"/>
          <a:chExt cx="0" cy="0"/>
        </a:xfrm>
      </p:grpSpPr>
      <p:sp>
        <p:nvSpPr>
          <p:cNvPr id="2359" name="Google Shape;2359;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2360" name="Google Shape;2360;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866216" y="1085850"/>
            <a:ext cx="6619244" cy="2497186"/>
          </a:xfrm>
        </p:spPr>
        <p:txBody>
          <a:bodyPr anchor="b"/>
          <a:lstStyle>
            <a:lvl1pPr>
              <a:defRPr sz="5400"/>
            </a:lvl1pPr>
          </a:lstStyle>
          <a:p>
            <a:r>
              <a:rPr lang="fr-FR"/>
              <a:t>Modifiez le style du titre</a:t>
            </a:r>
            <a:endParaRPr lang="en-US" dirty="0"/>
          </a:p>
        </p:txBody>
      </p:sp>
      <p:sp>
        <p:nvSpPr>
          <p:cNvPr id="3" name="Subtitle 2"/>
          <p:cNvSpPr>
            <a:spLocks noGrp="1"/>
          </p:cNvSpPr>
          <p:nvPr>
            <p:ph type="subTitle" idx="1"/>
          </p:nvPr>
        </p:nvSpPr>
        <p:spPr>
          <a:xfrm>
            <a:off x="866216" y="3583035"/>
            <a:ext cx="6619244" cy="646065"/>
          </a:xfrm>
        </p:spPr>
        <p:txBody>
          <a:bodyPr anchor="t"/>
          <a:lstStyle>
            <a:lvl1pPr marL="0" indent="0" algn="l">
              <a:buNone/>
              <a:defRPr cap="all">
                <a:solidFill>
                  <a:schemeClr val="accent1">
                    <a:lumMod val="60000"/>
                    <a:lumOff val="4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3BD6C7CC-8031-46EC-9310-519E6FD1E1F0}" type="datetimeFigureOut">
              <a:rPr lang="fr-FR" smtClean="0"/>
              <a:t>10/04/2026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DFC73B9-99E2-4215-BFFB-41D628EAAE91}" type="slidenum">
              <a:rPr lang="fr-FR" smtClean="0"/>
              <a:t>‹N°›</a:t>
            </a:fld>
            <a:endParaRPr lang="fr-FR"/>
          </a:p>
        </p:txBody>
      </p:sp>
    </p:spTree>
    <p:extLst>
      <p:ext uri="{BB962C8B-B14F-4D97-AF65-F5344CB8AC3E}">
        <p14:creationId xmlns:p14="http://schemas.microsoft.com/office/powerpoint/2010/main" val="191960200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3BD6C7CC-8031-46EC-9310-519E6FD1E1F0}" type="datetimeFigureOut">
              <a:rPr lang="fr-FR" smtClean="0"/>
              <a:t>10/04/2026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DFC73B9-99E2-4215-BFFB-41D628EAAE91}" type="slidenum">
              <a:rPr lang="fr-FR" smtClean="0"/>
              <a:t>‹N°›</a:t>
            </a:fld>
            <a:endParaRPr lang="fr-FR"/>
          </a:p>
        </p:txBody>
      </p:sp>
    </p:spTree>
    <p:extLst>
      <p:ext uri="{BB962C8B-B14F-4D97-AF65-F5344CB8AC3E}">
        <p14:creationId xmlns:p14="http://schemas.microsoft.com/office/powerpoint/2010/main" val="410998361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66217" y="2146300"/>
            <a:ext cx="6619243" cy="1436735"/>
          </a:xfrm>
        </p:spPr>
        <p:txBody>
          <a:bodyPr anchor="b"/>
          <a:lstStyle>
            <a:lvl1pPr algn="l">
              <a:defRPr sz="3000" b="0" cap="none"/>
            </a:lvl1pPr>
          </a:lstStyle>
          <a:p>
            <a:r>
              <a:rPr lang="fr-FR"/>
              <a:t>Modifiez le style du titre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all">
                <a:solidFill>
                  <a:schemeClr val="accent1">
                    <a:lumMod val="60000"/>
                    <a:lumOff val="4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3BD6C7CC-8031-46EC-9310-519E6FD1E1F0}" type="datetimeFigureOut">
              <a:rPr lang="fr-FR" smtClean="0"/>
              <a:t>10/04/2026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DFC73B9-99E2-4215-BFFB-41D628EAAE91}" type="slidenum">
              <a:rPr lang="fr-FR" smtClean="0"/>
              <a:t>‹N°›</a:t>
            </a:fld>
            <a:endParaRPr lang="fr-FR"/>
          </a:p>
        </p:txBody>
      </p:sp>
    </p:spTree>
    <p:extLst>
      <p:ext uri="{BB962C8B-B14F-4D97-AF65-F5344CB8AC3E}">
        <p14:creationId xmlns:p14="http://schemas.microsoft.com/office/powerpoint/2010/main" val="765159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27485" y="1545432"/>
            <a:ext cx="3297254" cy="3146822"/>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240870" y="1542069"/>
            <a:ext cx="3297256" cy="315018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3BD6C7CC-8031-46EC-9310-519E6FD1E1F0}" type="datetimeFigureOut">
              <a:rPr lang="fr-FR" smtClean="0"/>
              <a:t>10/04/2026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FDFC73B9-99E2-4215-BFFB-41D628EAAE91}" type="slidenum">
              <a:rPr lang="fr-FR" smtClean="0"/>
              <a:t>‹N°›</a:t>
            </a:fld>
            <a:endParaRPr lang="fr-FR"/>
          </a:p>
        </p:txBody>
      </p:sp>
    </p:spTree>
    <p:extLst>
      <p:ext uri="{BB962C8B-B14F-4D97-AF65-F5344CB8AC3E}">
        <p14:creationId xmlns:p14="http://schemas.microsoft.com/office/powerpoint/2010/main" val="126450716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827485" y="1428750"/>
            <a:ext cx="3297254" cy="432197"/>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4" name="Content Placeholder 3"/>
          <p:cNvSpPr>
            <a:spLocks noGrp="1"/>
          </p:cNvSpPr>
          <p:nvPr>
            <p:ph sz="half" idx="2"/>
          </p:nvPr>
        </p:nvSpPr>
        <p:spPr>
          <a:xfrm>
            <a:off x="827485"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240872" y="1428750"/>
            <a:ext cx="3297254" cy="432197"/>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6" name="Content Placeholder 5"/>
          <p:cNvSpPr>
            <a:spLocks noGrp="1"/>
          </p:cNvSpPr>
          <p:nvPr>
            <p:ph sz="quarter" idx="4"/>
          </p:nvPr>
        </p:nvSpPr>
        <p:spPr>
          <a:xfrm>
            <a:off x="4240872"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3BD6C7CC-8031-46EC-9310-519E6FD1E1F0}" type="datetimeFigureOut">
              <a:rPr lang="fr-FR" smtClean="0"/>
              <a:t>10/04/2026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FDFC73B9-99E2-4215-BFFB-41D628EAAE91}" type="slidenum">
              <a:rPr lang="fr-FR" smtClean="0"/>
              <a:t>‹N°›</a:t>
            </a:fld>
            <a:endParaRPr lang="fr-FR"/>
          </a:p>
        </p:txBody>
      </p:sp>
    </p:spTree>
    <p:extLst>
      <p:ext uri="{BB962C8B-B14F-4D97-AF65-F5344CB8AC3E}">
        <p14:creationId xmlns:p14="http://schemas.microsoft.com/office/powerpoint/2010/main" val="112045082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7" name="Date Placeholder 2"/>
          <p:cNvSpPr>
            <a:spLocks noGrp="1"/>
          </p:cNvSpPr>
          <p:nvPr>
            <p:ph type="dt" sz="half" idx="10"/>
          </p:nvPr>
        </p:nvSpPr>
        <p:spPr/>
        <p:txBody>
          <a:bodyPr/>
          <a:lstStyle/>
          <a:p>
            <a:fld id="{3BD6C7CC-8031-46EC-9310-519E6FD1E1F0}" type="datetimeFigureOut">
              <a:rPr lang="fr-FR" smtClean="0"/>
              <a:t>10/04/2026</a:t>
            </a:fld>
            <a:endParaRPr lang="fr-FR"/>
          </a:p>
        </p:txBody>
      </p:sp>
      <p:sp>
        <p:nvSpPr>
          <p:cNvPr id="5" name="Footer Placeholder 3"/>
          <p:cNvSpPr>
            <a:spLocks noGrp="1"/>
          </p:cNvSpPr>
          <p:nvPr>
            <p:ph type="ftr" sz="quarter" idx="11"/>
          </p:nvPr>
        </p:nvSpPr>
        <p:spPr/>
        <p:txBody>
          <a:bodyPr/>
          <a:lstStyle/>
          <a:p>
            <a:endParaRPr lang="fr-FR"/>
          </a:p>
        </p:txBody>
      </p:sp>
      <p:sp>
        <p:nvSpPr>
          <p:cNvPr id="6" name="Slide Number Placeholder 4"/>
          <p:cNvSpPr>
            <a:spLocks noGrp="1"/>
          </p:cNvSpPr>
          <p:nvPr>
            <p:ph type="sldNum" sz="quarter" idx="12"/>
          </p:nvPr>
        </p:nvSpPr>
        <p:spPr/>
        <p:txBody>
          <a:bodyPr/>
          <a:lstStyle/>
          <a:p>
            <a:fld id="{FDFC73B9-99E2-4215-BFFB-41D628EAAE91}" type="slidenum">
              <a:rPr lang="fr-FR" smtClean="0"/>
              <a:t>‹N°›</a:t>
            </a:fld>
            <a:endParaRPr lang="fr-FR"/>
          </a:p>
        </p:txBody>
      </p:sp>
    </p:spTree>
    <p:extLst>
      <p:ext uri="{BB962C8B-B14F-4D97-AF65-F5344CB8AC3E}">
        <p14:creationId xmlns:p14="http://schemas.microsoft.com/office/powerpoint/2010/main" val="38763145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3BD6C7CC-8031-46EC-9310-519E6FD1E1F0}" type="datetimeFigureOut">
              <a:rPr lang="fr-FR" smtClean="0"/>
              <a:t>10/04/2026</a:t>
            </a:fld>
            <a:endParaRPr lang="fr-FR"/>
          </a:p>
        </p:txBody>
      </p:sp>
      <p:sp>
        <p:nvSpPr>
          <p:cNvPr id="5" name="Footer Placeholder 2"/>
          <p:cNvSpPr>
            <a:spLocks noGrp="1"/>
          </p:cNvSpPr>
          <p:nvPr>
            <p:ph type="ftr" sz="quarter" idx="11"/>
          </p:nvPr>
        </p:nvSpPr>
        <p:spPr/>
        <p:txBody>
          <a:bodyPr/>
          <a:lstStyle/>
          <a:p>
            <a:endParaRPr lang="fr-FR"/>
          </a:p>
        </p:txBody>
      </p:sp>
      <p:sp>
        <p:nvSpPr>
          <p:cNvPr id="6" name="Slide Number Placeholder 3"/>
          <p:cNvSpPr>
            <a:spLocks noGrp="1"/>
          </p:cNvSpPr>
          <p:nvPr>
            <p:ph type="sldNum" sz="quarter" idx="12"/>
          </p:nvPr>
        </p:nvSpPr>
        <p:spPr/>
        <p:txBody>
          <a:bodyPr/>
          <a:lstStyle/>
          <a:p>
            <a:fld id="{FDFC73B9-99E2-4215-BFFB-41D628EAAE91}" type="slidenum">
              <a:rPr lang="fr-FR" smtClean="0"/>
              <a:t>‹N°›</a:t>
            </a:fld>
            <a:endParaRPr lang="fr-FR"/>
          </a:p>
        </p:txBody>
      </p:sp>
    </p:spTree>
    <p:extLst>
      <p:ext uri="{BB962C8B-B14F-4D97-AF65-F5344CB8AC3E}">
        <p14:creationId xmlns:p14="http://schemas.microsoft.com/office/powerpoint/2010/main" val="55189303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66216" y="1085850"/>
            <a:ext cx="2550797" cy="1085850"/>
          </a:xfrm>
        </p:spPr>
        <p:txBody>
          <a:bodyPr anchor="b"/>
          <a:lstStyle>
            <a:lvl1pPr algn="l">
              <a:defRPr sz="1800" b="0"/>
            </a:lvl1pPr>
          </a:lstStyle>
          <a:p>
            <a:r>
              <a:rPr lang="fr-FR"/>
              <a:t>Modifiez le style du titre</a:t>
            </a:r>
            <a:endParaRPr lang="en-US" dirty="0"/>
          </a:p>
        </p:txBody>
      </p:sp>
      <p:sp>
        <p:nvSpPr>
          <p:cNvPr id="3" name="Content Placeholder 2"/>
          <p:cNvSpPr>
            <a:spLocks noGrp="1"/>
          </p:cNvSpPr>
          <p:nvPr>
            <p:ph idx="1"/>
          </p:nvPr>
        </p:nvSpPr>
        <p:spPr>
          <a:xfrm>
            <a:off x="3588462" y="1085850"/>
            <a:ext cx="3896998" cy="3429000"/>
          </a:xfrm>
        </p:spPr>
        <p:txBody>
          <a:bodyPr anchor="ct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66216" y="2346961"/>
            <a:ext cx="2550797" cy="2171699"/>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Cliquez pour modifier les styles du texte du masque</a:t>
            </a:r>
          </a:p>
        </p:txBody>
      </p:sp>
      <p:sp>
        <p:nvSpPr>
          <p:cNvPr id="7" name="Date Placeholder 4"/>
          <p:cNvSpPr>
            <a:spLocks noGrp="1"/>
          </p:cNvSpPr>
          <p:nvPr>
            <p:ph type="dt" sz="half" idx="10"/>
          </p:nvPr>
        </p:nvSpPr>
        <p:spPr/>
        <p:txBody>
          <a:bodyPr/>
          <a:lstStyle/>
          <a:p>
            <a:fld id="{3BD6C7CC-8031-46EC-9310-519E6FD1E1F0}" type="datetimeFigureOut">
              <a:rPr lang="fr-FR" smtClean="0"/>
              <a:t>10/04/2026</a:t>
            </a:fld>
            <a:endParaRPr lang="fr-FR"/>
          </a:p>
        </p:txBody>
      </p:sp>
      <p:sp>
        <p:nvSpPr>
          <p:cNvPr id="5" name="Footer Placeholder 5"/>
          <p:cNvSpPr>
            <a:spLocks noGrp="1"/>
          </p:cNvSpPr>
          <p:nvPr>
            <p:ph type="ftr" sz="quarter" idx="11"/>
          </p:nvPr>
        </p:nvSpPr>
        <p:spPr/>
        <p:txBody>
          <a:bodyPr/>
          <a:lstStyle/>
          <a:p>
            <a:endParaRPr lang="fr-FR"/>
          </a:p>
        </p:txBody>
      </p:sp>
      <p:sp>
        <p:nvSpPr>
          <p:cNvPr id="6" name="Slide Number Placeholder 6"/>
          <p:cNvSpPr>
            <a:spLocks noGrp="1"/>
          </p:cNvSpPr>
          <p:nvPr>
            <p:ph type="sldNum" sz="quarter" idx="12"/>
          </p:nvPr>
        </p:nvSpPr>
        <p:spPr/>
        <p:txBody>
          <a:bodyPr/>
          <a:lstStyle/>
          <a:p>
            <a:fld id="{FDFC73B9-99E2-4215-BFFB-41D628EAAE91}" type="slidenum">
              <a:rPr lang="fr-FR" smtClean="0"/>
              <a:t>‹N°›</a:t>
            </a:fld>
            <a:endParaRPr lang="fr-FR"/>
          </a:p>
        </p:txBody>
      </p:sp>
    </p:spTree>
    <p:extLst>
      <p:ext uri="{BB962C8B-B14F-4D97-AF65-F5344CB8AC3E}">
        <p14:creationId xmlns:p14="http://schemas.microsoft.com/office/powerpoint/2010/main" val="419681860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65430" y="1390644"/>
            <a:ext cx="3819680" cy="1181106"/>
          </a:xfrm>
        </p:spPr>
        <p:txBody>
          <a:bodyPr anchor="b">
            <a:normAutofit/>
          </a:bodyPr>
          <a:lstStyle>
            <a:lvl1pPr algn="l">
              <a:defRPr sz="2700" b="0"/>
            </a:lvl1pPr>
          </a:lstStyle>
          <a:p>
            <a:r>
              <a:rPr lang="fr-FR"/>
              <a:t>Modifiez le style du titre</a:t>
            </a:r>
            <a:endParaRPr lang="en-US" dirty="0"/>
          </a:p>
        </p:txBody>
      </p:sp>
      <p:sp>
        <p:nvSpPr>
          <p:cNvPr id="3" name="Picture Placeholder 2"/>
          <p:cNvSpPr>
            <a:spLocks noGrp="1" noChangeAspect="1"/>
          </p:cNvSpPr>
          <p:nvPr>
            <p:ph type="pic" idx="1"/>
          </p:nvPr>
        </p:nvSpPr>
        <p:spPr>
          <a:xfrm>
            <a:off x="5212160" y="857250"/>
            <a:ext cx="2400300"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fr-FR"/>
              <a:t>Cliquez sur l'icône pour ajouter une image</a:t>
            </a:r>
            <a:endParaRPr lang="en-US" dirty="0"/>
          </a:p>
        </p:txBody>
      </p:sp>
      <p:sp>
        <p:nvSpPr>
          <p:cNvPr id="4" name="Text Placeholder 3"/>
          <p:cNvSpPr>
            <a:spLocks noGrp="1"/>
          </p:cNvSpPr>
          <p:nvPr>
            <p:ph type="body" sz="half" idx="2"/>
          </p:nvPr>
        </p:nvSpPr>
        <p:spPr>
          <a:xfrm>
            <a:off x="866216" y="2743200"/>
            <a:ext cx="3813734" cy="1028700"/>
          </a:xfrm>
        </p:spPr>
        <p:txBody>
          <a:bodyPr>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3BD6C7CC-8031-46EC-9310-519E6FD1E1F0}" type="datetimeFigureOut">
              <a:rPr lang="fr-FR" smtClean="0"/>
              <a:t>10/04/2026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FDFC73B9-99E2-4215-BFFB-41D628EAAE91}" type="slidenum">
              <a:rPr lang="fr-FR" smtClean="0"/>
              <a:t>‹N°›</a:t>
            </a:fld>
            <a:endParaRPr lang="fr-FR"/>
          </a:p>
        </p:txBody>
      </p:sp>
    </p:spTree>
    <p:extLst>
      <p:ext uri="{BB962C8B-B14F-4D97-AF65-F5344CB8AC3E}">
        <p14:creationId xmlns:p14="http://schemas.microsoft.com/office/powerpoint/2010/main" val="161568832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66217" y="3600440"/>
            <a:ext cx="6619243" cy="425054"/>
          </a:xfrm>
        </p:spPr>
        <p:txBody>
          <a:bodyPr anchor="b">
            <a:normAutofit/>
          </a:bodyPr>
          <a:lstStyle>
            <a:lvl1pPr algn="l">
              <a:defRPr sz="1800" b="0"/>
            </a:lvl1pPr>
          </a:lstStyle>
          <a:p>
            <a:r>
              <a:rPr lang="fr-FR"/>
              <a:t>Modifiez le style du titre</a:t>
            </a:r>
            <a:endParaRPr lang="en-US" dirty="0"/>
          </a:p>
        </p:txBody>
      </p:sp>
      <p:sp>
        <p:nvSpPr>
          <p:cNvPr id="3" name="Picture Placeholder 2"/>
          <p:cNvSpPr>
            <a:spLocks noGrp="1" noChangeAspect="1"/>
          </p:cNvSpPr>
          <p:nvPr>
            <p:ph type="pic" idx="1"/>
          </p:nvPr>
        </p:nvSpPr>
        <p:spPr>
          <a:xfrm>
            <a:off x="866216" y="514350"/>
            <a:ext cx="6619244" cy="27305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fr-FR"/>
              <a:t>Cliquez sur l'icône pour ajouter une image</a:t>
            </a:r>
            <a:endParaRPr lang="en-US" dirty="0"/>
          </a:p>
        </p:txBody>
      </p:sp>
      <p:sp>
        <p:nvSpPr>
          <p:cNvPr id="4" name="Text Placeholder 3"/>
          <p:cNvSpPr>
            <a:spLocks noGrp="1"/>
          </p:cNvSpPr>
          <p:nvPr>
            <p:ph type="body" sz="half" idx="2"/>
          </p:nvPr>
        </p:nvSpPr>
        <p:spPr>
          <a:xfrm>
            <a:off x="866217" y="4025494"/>
            <a:ext cx="6619242" cy="37028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3BD6C7CC-8031-46EC-9310-519E6FD1E1F0}" type="datetimeFigureOut">
              <a:rPr lang="fr-FR" smtClean="0"/>
              <a:t>10/04/2026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FDFC73B9-99E2-4215-BFFB-41D628EAAE91}" type="slidenum">
              <a:rPr lang="fr-FR" smtClean="0"/>
              <a:t>‹N°›</a:t>
            </a:fld>
            <a:endParaRPr lang="fr-FR"/>
          </a:p>
        </p:txBody>
      </p:sp>
    </p:spTree>
    <p:extLst>
      <p:ext uri="{BB962C8B-B14F-4D97-AF65-F5344CB8AC3E}">
        <p14:creationId xmlns:p14="http://schemas.microsoft.com/office/powerpoint/2010/main" val="24993316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866216" y="1085850"/>
            <a:ext cx="6619244" cy="1485900"/>
          </a:xfrm>
        </p:spPr>
        <p:txBody>
          <a:bodyPr/>
          <a:lstStyle>
            <a:lvl1pPr>
              <a:defRPr sz="3600"/>
            </a:lvl1pPr>
          </a:lstStyle>
          <a:p>
            <a:r>
              <a:rPr lang="fr-FR"/>
              <a:t>Modifiez le style du titre</a:t>
            </a:r>
            <a:endParaRPr lang="en-US" dirty="0"/>
          </a:p>
        </p:txBody>
      </p:sp>
      <p:sp>
        <p:nvSpPr>
          <p:cNvPr id="8" name="Text Placeholder 3"/>
          <p:cNvSpPr>
            <a:spLocks noGrp="1"/>
          </p:cNvSpPr>
          <p:nvPr>
            <p:ph type="body" sz="half" idx="2"/>
          </p:nvPr>
        </p:nvSpPr>
        <p:spPr>
          <a:xfrm>
            <a:off x="866216" y="2743200"/>
            <a:ext cx="6619244" cy="177165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3BD6C7CC-8031-46EC-9310-519E6FD1E1F0}" type="datetimeFigureOut">
              <a:rPr lang="fr-FR" smtClean="0"/>
              <a:t>10/04/2026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DFC73B9-99E2-4215-BFFB-41D628EAAE91}" type="slidenum">
              <a:rPr lang="fr-FR" smtClean="0"/>
              <a:t>‹N°›</a:t>
            </a:fld>
            <a:endParaRPr lang="fr-FR"/>
          </a:p>
        </p:txBody>
      </p:sp>
    </p:spTree>
    <p:extLst>
      <p:ext uri="{BB962C8B-B14F-4D97-AF65-F5344CB8AC3E}">
        <p14:creationId xmlns:p14="http://schemas.microsoft.com/office/powerpoint/2010/main" val="89431152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81100" y="1085850"/>
            <a:ext cx="5999486" cy="1742531"/>
          </a:xfrm>
        </p:spPr>
        <p:txBody>
          <a:bodyPr/>
          <a:lstStyle>
            <a:lvl1pPr>
              <a:defRPr sz="3600"/>
            </a:lvl1pPr>
          </a:lstStyle>
          <a:p>
            <a:r>
              <a:rPr lang="fr-FR"/>
              <a:t>Modifiez le style du titre</a:t>
            </a:r>
            <a:endParaRPr lang="en-US" dirty="0"/>
          </a:p>
        </p:txBody>
      </p:sp>
      <p:sp>
        <p:nvSpPr>
          <p:cNvPr id="14" name="Text Placeholder 3"/>
          <p:cNvSpPr>
            <a:spLocks noGrp="1"/>
          </p:cNvSpPr>
          <p:nvPr>
            <p:ph type="body" sz="half" idx="13"/>
          </p:nvPr>
        </p:nvSpPr>
        <p:spPr>
          <a:xfrm>
            <a:off x="1447800" y="2828380"/>
            <a:ext cx="5459737" cy="256631"/>
          </a:xfrm>
        </p:spPr>
        <p:txBody>
          <a:bodyPr anchor="t">
            <a:normAutofit/>
          </a:bodyPr>
          <a:lstStyle>
            <a:lvl1pPr marL="0" indent="0">
              <a:buNone/>
              <a:defRPr lang="en-US" sz="1050" b="0" i="0" kern="1200" cap="small" dirty="0">
                <a:solidFill>
                  <a:schemeClr val="accent1">
                    <a:lumMod val="60000"/>
                    <a:lumOff val="40000"/>
                  </a:schemeClr>
                </a:solidFill>
                <a:latin typeface="+mj-lt"/>
                <a:ea typeface="+mj-ea"/>
                <a:cs typeface="+mj-cs"/>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Cliquez pour modifier les styles du texte du masque</a:t>
            </a:r>
          </a:p>
        </p:txBody>
      </p:sp>
      <p:sp>
        <p:nvSpPr>
          <p:cNvPr id="10" name="Text Placeholder 3"/>
          <p:cNvSpPr>
            <a:spLocks noGrp="1"/>
          </p:cNvSpPr>
          <p:nvPr>
            <p:ph type="body" sz="half" idx="2"/>
          </p:nvPr>
        </p:nvSpPr>
        <p:spPr>
          <a:xfrm>
            <a:off x="866216" y="3262993"/>
            <a:ext cx="6619244" cy="125730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3BD6C7CC-8031-46EC-9310-519E6FD1E1F0}" type="datetimeFigureOut">
              <a:rPr lang="fr-FR" smtClean="0"/>
              <a:t>10/04/2026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DFC73B9-99E2-4215-BFFB-41D628EAAE91}" type="slidenum">
              <a:rPr lang="fr-FR" smtClean="0"/>
              <a:t>‹N°›</a:t>
            </a:fld>
            <a:endParaRPr lang="fr-FR"/>
          </a:p>
        </p:txBody>
      </p:sp>
      <p:sp>
        <p:nvSpPr>
          <p:cNvPr id="12" name="TextBox 11"/>
          <p:cNvSpPr txBox="1"/>
          <p:nvPr/>
        </p:nvSpPr>
        <p:spPr>
          <a:xfrm>
            <a:off x="673721" y="728440"/>
            <a:ext cx="601434" cy="1500411"/>
          </a:xfrm>
          <a:prstGeom prst="rect">
            <a:avLst/>
          </a:prstGeom>
          <a:noFill/>
        </p:spPr>
        <p:txBody>
          <a:bodyPr wrap="square" rtlCol="0">
            <a:spAutoFit/>
          </a:bodyPr>
          <a:lstStyle/>
          <a:p>
            <a:pPr algn="r"/>
            <a:r>
              <a:rPr lang="en-US" sz="9150" b="0" i="0" dirty="0">
                <a:solidFill>
                  <a:schemeClr val="accent1">
                    <a:lumMod val="60000"/>
                    <a:lumOff val="40000"/>
                  </a:schemeClr>
                </a:solidFill>
                <a:latin typeface="Arial"/>
                <a:ea typeface="+mj-ea"/>
                <a:cs typeface="+mj-cs"/>
              </a:rPr>
              <a:t>“</a:t>
            </a:r>
          </a:p>
        </p:txBody>
      </p:sp>
      <p:sp>
        <p:nvSpPr>
          <p:cNvPr id="11" name="TextBox 10"/>
          <p:cNvSpPr txBox="1"/>
          <p:nvPr/>
        </p:nvSpPr>
        <p:spPr>
          <a:xfrm>
            <a:off x="6997868" y="1960341"/>
            <a:ext cx="601434" cy="1500411"/>
          </a:xfrm>
          <a:prstGeom prst="rect">
            <a:avLst/>
          </a:prstGeom>
          <a:noFill/>
        </p:spPr>
        <p:txBody>
          <a:bodyPr wrap="square" rtlCol="0">
            <a:spAutoFit/>
          </a:bodyPr>
          <a:lstStyle/>
          <a:p>
            <a:pPr algn="r"/>
            <a:r>
              <a:rPr lang="en-US" sz="9150" b="0" i="0" dirty="0">
                <a:solidFill>
                  <a:schemeClr val="accent1">
                    <a:lumMod val="60000"/>
                    <a:lumOff val="40000"/>
                  </a:schemeClr>
                </a:solidFill>
                <a:latin typeface="Arial"/>
                <a:ea typeface="+mj-ea"/>
                <a:cs typeface="+mj-cs"/>
              </a:rPr>
              <a:t>”</a:t>
            </a:r>
          </a:p>
        </p:txBody>
      </p:sp>
    </p:spTree>
    <p:extLst>
      <p:ext uri="{BB962C8B-B14F-4D97-AF65-F5344CB8AC3E}">
        <p14:creationId xmlns:p14="http://schemas.microsoft.com/office/powerpoint/2010/main" val="374028984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866216" y="2343151"/>
            <a:ext cx="6619244" cy="1239885"/>
          </a:xfrm>
        </p:spPr>
        <p:txBody>
          <a:bodyPr anchor="b"/>
          <a:lstStyle>
            <a:lvl1pPr algn="l">
              <a:defRPr sz="3000" b="0" cap="none"/>
            </a:lvl1pPr>
          </a:lstStyle>
          <a:p>
            <a:r>
              <a:rPr lang="fr-FR"/>
              <a:t>Modifiez le style du titre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none">
                <a:solidFill>
                  <a:schemeClr val="accent1">
                    <a:lumMod val="60000"/>
                    <a:lumOff val="4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3BD6C7CC-8031-46EC-9310-519E6FD1E1F0}" type="datetimeFigureOut">
              <a:rPr lang="fr-FR" smtClean="0"/>
              <a:t>10/04/2026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DFC73B9-99E2-4215-BFFB-41D628EAAE91}" type="slidenum">
              <a:rPr lang="fr-FR" smtClean="0"/>
              <a:t>‹N°›</a:t>
            </a:fld>
            <a:endParaRPr lang="fr-FR"/>
          </a:p>
        </p:txBody>
      </p:sp>
    </p:spTree>
    <p:extLst>
      <p:ext uri="{BB962C8B-B14F-4D97-AF65-F5344CB8AC3E}">
        <p14:creationId xmlns:p14="http://schemas.microsoft.com/office/powerpoint/2010/main" val="189133466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fr-FR"/>
              <a:t>Modifiez le style du titre</a:t>
            </a:r>
            <a:endParaRPr lang="en-US" dirty="0"/>
          </a:p>
        </p:txBody>
      </p:sp>
      <p:sp>
        <p:nvSpPr>
          <p:cNvPr id="3" name="Text Placeholder 2"/>
          <p:cNvSpPr>
            <a:spLocks noGrp="1"/>
          </p:cNvSpPr>
          <p:nvPr>
            <p:ph type="body" idx="1"/>
          </p:nvPr>
        </p:nvSpPr>
        <p:spPr>
          <a:xfrm>
            <a:off x="474710" y="1485900"/>
            <a:ext cx="2210150" cy="432197"/>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16" name="Text Placeholder 3"/>
          <p:cNvSpPr>
            <a:spLocks noGrp="1"/>
          </p:cNvSpPr>
          <p:nvPr>
            <p:ph type="body" sz="half" idx="15"/>
          </p:nvPr>
        </p:nvSpPr>
        <p:spPr>
          <a:xfrm>
            <a:off x="489347" y="2000250"/>
            <a:ext cx="2195513"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Cliquez pour modifier les styles du texte du masque</a:t>
            </a:r>
          </a:p>
        </p:txBody>
      </p:sp>
      <p:sp>
        <p:nvSpPr>
          <p:cNvPr id="5" name="Text Placeholder 4"/>
          <p:cNvSpPr>
            <a:spLocks noGrp="1"/>
          </p:cNvSpPr>
          <p:nvPr>
            <p:ph type="body" sz="quarter" idx="3"/>
          </p:nvPr>
        </p:nvSpPr>
        <p:spPr>
          <a:xfrm>
            <a:off x="2912745" y="1485900"/>
            <a:ext cx="2202181" cy="432197"/>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19" name="Text Placeholder 3"/>
          <p:cNvSpPr>
            <a:spLocks noGrp="1"/>
          </p:cNvSpPr>
          <p:nvPr>
            <p:ph type="body" sz="half" idx="16"/>
          </p:nvPr>
        </p:nvSpPr>
        <p:spPr>
          <a:xfrm>
            <a:off x="2904829" y="2000250"/>
            <a:ext cx="2210096"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Cliquez pour modifier les styles du texte du masque</a:t>
            </a:r>
          </a:p>
        </p:txBody>
      </p:sp>
      <p:sp>
        <p:nvSpPr>
          <p:cNvPr id="14" name="Text Placeholder 4"/>
          <p:cNvSpPr>
            <a:spLocks noGrp="1"/>
          </p:cNvSpPr>
          <p:nvPr>
            <p:ph type="body" sz="quarter" idx="13"/>
          </p:nvPr>
        </p:nvSpPr>
        <p:spPr>
          <a:xfrm>
            <a:off x="5343525" y="1485900"/>
            <a:ext cx="2199085" cy="432197"/>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20" name="Text Placeholder 3"/>
          <p:cNvSpPr>
            <a:spLocks noGrp="1"/>
          </p:cNvSpPr>
          <p:nvPr>
            <p:ph type="body" sz="half" idx="17"/>
          </p:nvPr>
        </p:nvSpPr>
        <p:spPr>
          <a:xfrm>
            <a:off x="5343525" y="2000250"/>
            <a:ext cx="2199085"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Cliquez pour modifier les styles du texte du masque</a:t>
            </a:r>
          </a:p>
        </p:txBody>
      </p:sp>
      <p:cxnSp>
        <p:nvCxnSpPr>
          <p:cNvPr id="17" name="Straight Connector 16"/>
          <p:cNvCxnSpPr/>
          <p:nvPr/>
        </p:nvCxnSpPr>
        <p:spPr>
          <a:xfrm>
            <a:off x="2794607" y="1600200"/>
            <a:ext cx="0" cy="29718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1670" y="1600200"/>
            <a:ext cx="0" cy="297516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3BD6C7CC-8031-46EC-9310-519E6FD1E1F0}" type="datetimeFigureOut">
              <a:rPr lang="fr-FR" smtClean="0"/>
              <a:t>10/04/2026</a:t>
            </a:fld>
            <a:endParaRPr lang="fr-FR"/>
          </a:p>
        </p:txBody>
      </p:sp>
      <p:sp>
        <p:nvSpPr>
          <p:cNvPr id="4"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DFC73B9-99E2-4215-BFFB-41D628EAAE91}" type="slidenum">
              <a:rPr lang="fr-FR" smtClean="0"/>
              <a:t>‹N°›</a:t>
            </a:fld>
            <a:endParaRPr lang="fr-FR"/>
          </a:p>
        </p:txBody>
      </p:sp>
    </p:spTree>
    <p:extLst>
      <p:ext uri="{BB962C8B-B14F-4D97-AF65-F5344CB8AC3E}">
        <p14:creationId xmlns:p14="http://schemas.microsoft.com/office/powerpoint/2010/main" val="3697180014"/>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fr-FR"/>
              <a:t>Modifiez le style du titre</a:t>
            </a:r>
            <a:endParaRPr lang="en-US" dirty="0"/>
          </a:p>
        </p:txBody>
      </p:sp>
      <p:sp>
        <p:nvSpPr>
          <p:cNvPr id="3" name="Text Placeholder 2"/>
          <p:cNvSpPr>
            <a:spLocks noGrp="1"/>
          </p:cNvSpPr>
          <p:nvPr>
            <p:ph type="body" idx="1"/>
          </p:nvPr>
        </p:nvSpPr>
        <p:spPr>
          <a:xfrm>
            <a:off x="489347" y="3188212"/>
            <a:ext cx="2205038" cy="432197"/>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29" name="Picture Placeholder 2"/>
          <p:cNvSpPr>
            <a:spLocks noGrp="1" noChangeAspect="1"/>
          </p:cNvSpPr>
          <p:nvPr>
            <p:ph type="pic" idx="15"/>
          </p:nvPr>
        </p:nvSpPr>
        <p:spPr>
          <a:xfrm>
            <a:off x="489347" y="1657350"/>
            <a:ext cx="2205038"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fr-FR"/>
              <a:t>Cliquez sur l'icône pour ajouter une image</a:t>
            </a:r>
            <a:endParaRPr lang="en-US" dirty="0"/>
          </a:p>
        </p:txBody>
      </p:sp>
      <p:sp>
        <p:nvSpPr>
          <p:cNvPr id="22" name="Text Placeholder 3"/>
          <p:cNvSpPr>
            <a:spLocks noGrp="1"/>
          </p:cNvSpPr>
          <p:nvPr>
            <p:ph type="body" sz="half" idx="18"/>
          </p:nvPr>
        </p:nvSpPr>
        <p:spPr>
          <a:xfrm>
            <a:off x="489347" y="3620409"/>
            <a:ext cx="220503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Cliquez pour modifier les styles du texte du masque</a:t>
            </a:r>
          </a:p>
        </p:txBody>
      </p:sp>
      <p:sp>
        <p:nvSpPr>
          <p:cNvPr id="5" name="Text Placeholder 4"/>
          <p:cNvSpPr>
            <a:spLocks noGrp="1"/>
          </p:cNvSpPr>
          <p:nvPr>
            <p:ph type="body" sz="quarter" idx="3"/>
          </p:nvPr>
        </p:nvSpPr>
        <p:spPr>
          <a:xfrm>
            <a:off x="2917032" y="3188212"/>
            <a:ext cx="2197894" cy="432197"/>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30" name="Picture Placeholder 2"/>
          <p:cNvSpPr>
            <a:spLocks noGrp="1" noChangeAspect="1"/>
          </p:cNvSpPr>
          <p:nvPr>
            <p:ph type="pic" idx="21"/>
          </p:nvPr>
        </p:nvSpPr>
        <p:spPr>
          <a:xfrm>
            <a:off x="2917031" y="1657350"/>
            <a:ext cx="2197894"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fr-FR"/>
              <a:t>Cliquez sur l'icône pour ajouter une image</a:t>
            </a:r>
            <a:endParaRPr lang="en-US" dirty="0"/>
          </a:p>
        </p:txBody>
      </p:sp>
      <p:sp>
        <p:nvSpPr>
          <p:cNvPr id="23" name="Text Placeholder 3"/>
          <p:cNvSpPr>
            <a:spLocks noGrp="1"/>
          </p:cNvSpPr>
          <p:nvPr>
            <p:ph type="body" sz="half" idx="19"/>
          </p:nvPr>
        </p:nvSpPr>
        <p:spPr>
          <a:xfrm>
            <a:off x="2916016" y="3620408"/>
            <a:ext cx="2200805"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Cliquez pour modifier les styles du texte du masque</a:t>
            </a:r>
          </a:p>
        </p:txBody>
      </p:sp>
      <p:sp>
        <p:nvSpPr>
          <p:cNvPr id="14" name="Text Placeholder 4"/>
          <p:cNvSpPr>
            <a:spLocks noGrp="1"/>
          </p:cNvSpPr>
          <p:nvPr>
            <p:ph type="body" sz="quarter" idx="13"/>
          </p:nvPr>
        </p:nvSpPr>
        <p:spPr>
          <a:xfrm>
            <a:off x="5343525" y="3188212"/>
            <a:ext cx="2199085" cy="432197"/>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31" name="Picture Placeholder 2"/>
          <p:cNvSpPr>
            <a:spLocks noGrp="1" noChangeAspect="1"/>
          </p:cNvSpPr>
          <p:nvPr>
            <p:ph type="pic" idx="22"/>
          </p:nvPr>
        </p:nvSpPr>
        <p:spPr>
          <a:xfrm>
            <a:off x="5343525" y="1657350"/>
            <a:ext cx="2199085"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fr-FR"/>
              <a:t>Cliquez sur l'icône pour ajouter une image</a:t>
            </a:r>
            <a:endParaRPr lang="en-US" dirty="0"/>
          </a:p>
        </p:txBody>
      </p:sp>
      <p:sp>
        <p:nvSpPr>
          <p:cNvPr id="24" name="Text Placeholder 3"/>
          <p:cNvSpPr>
            <a:spLocks noGrp="1"/>
          </p:cNvSpPr>
          <p:nvPr>
            <p:ph type="body" sz="half" idx="20"/>
          </p:nvPr>
        </p:nvSpPr>
        <p:spPr>
          <a:xfrm>
            <a:off x="5343432" y="3620406"/>
            <a:ext cx="220199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Cliquez pour modifier les styles du texte du masque</a:t>
            </a:r>
          </a:p>
        </p:txBody>
      </p:sp>
      <p:cxnSp>
        <p:nvCxnSpPr>
          <p:cNvPr id="17" name="Straight Connector 16"/>
          <p:cNvCxnSpPr/>
          <p:nvPr/>
        </p:nvCxnSpPr>
        <p:spPr>
          <a:xfrm>
            <a:off x="2794607" y="1600200"/>
            <a:ext cx="0" cy="29718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1670" y="1600200"/>
            <a:ext cx="0" cy="297516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3BD6C7CC-8031-46EC-9310-519E6FD1E1F0}" type="datetimeFigureOut">
              <a:rPr lang="fr-FR" smtClean="0"/>
              <a:t>10/04/2026</a:t>
            </a:fld>
            <a:endParaRPr lang="fr-FR"/>
          </a:p>
        </p:txBody>
      </p:sp>
      <p:sp>
        <p:nvSpPr>
          <p:cNvPr id="4"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DFC73B9-99E2-4215-BFFB-41D628EAAE91}" type="slidenum">
              <a:rPr lang="fr-FR" smtClean="0"/>
              <a:t>‹N°›</a:t>
            </a:fld>
            <a:endParaRPr lang="fr-FR"/>
          </a:p>
        </p:txBody>
      </p:sp>
    </p:spTree>
    <p:extLst>
      <p:ext uri="{BB962C8B-B14F-4D97-AF65-F5344CB8AC3E}">
        <p14:creationId xmlns:p14="http://schemas.microsoft.com/office/powerpoint/2010/main" val="111588017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nchorCtr="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3BD6C7CC-8031-46EC-9310-519E6FD1E1F0}" type="datetimeFigureOut">
              <a:rPr lang="fr-FR" smtClean="0"/>
              <a:t>10/04/2026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DFC73B9-99E2-4215-BFFB-41D628EAAE91}" type="slidenum">
              <a:rPr lang="fr-FR" smtClean="0"/>
              <a:t>‹N°›</a:t>
            </a:fld>
            <a:endParaRPr lang="fr-FR"/>
          </a:p>
        </p:txBody>
      </p:sp>
    </p:spTree>
    <p:extLst>
      <p:ext uri="{BB962C8B-B14F-4D97-AF65-F5344CB8AC3E}">
        <p14:creationId xmlns:p14="http://schemas.microsoft.com/office/powerpoint/2010/main" val="3060239913"/>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8159" y="322660"/>
            <a:ext cx="1314451" cy="4369594"/>
          </a:xfrm>
        </p:spPr>
        <p:txBody>
          <a:bodyPr vert="eaVert" anchor="b" anchorCtr="0"/>
          <a:lstStyle/>
          <a:p>
            <a:r>
              <a:rPr lang="fr-FR"/>
              <a:t>Modifiez le style du titre</a:t>
            </a:r>
            <a:endParaRPr lang="en-US" dirty="0"/>
          </a:p>
        </p:txBody>
      </p:sp>
      <p:sp>
        <p:nvSpPr>
          <p:cNvPr id="3" name="Vertical Text Placeholder 2"/>
          <p:cNvSpPr>
            <a:spLocks noGrp="1"/>
          </p:cNvSpPr>
          <p:nvPr>
            <p:ph type="body" orient="vert" idx="1"/>
          </p:nvPr>
        </p:nvSpPr>
        <p:spPr>
          <a:xfrm>
            <a:off x="489348" y="665561"/>
            <a:ext cx="5567362" cy="4026693"/>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3BD6C7CC-8031-46EC-9310-519E6FD1E1F0}" type="datetimeFigureOut">
              <a:rPr lang="fr-FR" smtClean="0"/>
              <a:t>10/04/2026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DFC73B9-99E2-4215-BFFB-41D628EAAE91}" type="slidenum">
              <a:rPr lang="fr-FR" smtClean="0"/>
              <a:t>‹N°›</a:t>
            </a:fld>
            <a:endParaRPr lang="fr-FR"/>
          </a:p>
        </p:txBody>
      </p:sp>
    </p:spTree>
    <p:extLst>
      <p:ext uri="{BB962C8B-B14F-4D97-AF65-F5344CB8AC3E}">
        <p14:creationId xmlns:p14="http://schemas.microsoft.com/office/powerpoint/2010/main" val="2878196280"/>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36"/>
        <p:cNvGrpSpPr/>
        <p:nvPr/>
      </p:nvGrpSpPr>
      <p:grpSpPr>
        <a:xfrm>
          <a:off x="0" y="0"/>
          <a:ext cx="0" cy="0"/>
          <a:chOff x="0" y="0"/>
          <a:chExt cx="0" cy="0"/>
        </a:xfrm>
      </p:grpSpPr>
      <p:sp>
        <p:nvSpPr>
          <p:cNvPr id="137" name="Google Shape;137;p44"/>
          <p:cNvSpPr txBox="1">
            <a:spLocks noGrp="1"/>
          </p:cNvSpPr>
          <p:nvPr>
            <p:ph type="title"/>
          </p:nvPr>
        </p:nvSpPr>
        <p:spPr>
          <a:xfrm>
            <a:off x="1506398" y="1559275"/>
            <a:ext cx="2574300" cy="527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1800">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138" name="Google Shape;138;p44"/>
          <p:cNvSpPr txBox="1">
            <a:spLocks noGrp="1"/>
          </p:cNvSpPr>
          <p:nvPr>
            <p:ph type="title" idx="2"/>
          </p:nvPr>
        </p:nvSpPr>
        <p:spPr>
          <a:xfrm>
            <a:off x="730301" y="1711675"/>
            <a:ext cx="7761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b="1"/>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139" name="Google Shape;139;p44"/>
          <p:cNvSpPr txBox="1">
            <a:spLocks noGrp="1"/>
          </p:cNvSpPr>
          <p:nvPr>
            <p:ph type="subTitle" idx="1"/>
          </p:nvPr>
        </p:nvSpPr>
        <p:spPr>
          <a:xfrm>
            <a:off x="1506390" y="1996550"/>
            <a:ext cx="25743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0" name="Google Shape;140;p44"/>
          <p:cNvSpPr txBox="1">
            <a:spLocks noGrp="1"/>
          </p:cNvSpPr>
          <p:nvPr>
            <p:ph type="title" idx="3"/>
          </p:nvPr>
        </p:nvSpPr>
        <p:spPr>
          <a:xfrm>
            <a:off x="1506523" y="3272625"/>
            <a:ext cx="2574300" cy="527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1800">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141" name="Google Shape;141;p44"/>
          <p:cNvSpPr txBox="1">
            <a:spLocks noGrp="1"/>
          </p:cNvSpPr>
          <p:nvPr>
            <p:ph type="title" idx="4"/>
          </p:nvPr>
        </p:nvSpPr>
        <p:spPr>
          <a:xfrm>
            <a:off x="730469" y="3425025"/>
            <a:ext cx="7761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b="1"/>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142" name="Google Shape;142;p44"/>
          <p:cNvSpPr txBox="1">
            <a:spLocks noGrp="1"/>
          </p:cNvSpPr>
          <p:nvPr>
            <p:ph type="subTitle" idx="5"/>
          </p:nvPr>
        </p:nvSpPr>
        <p:spPr>
          <a:xfrm>
            <a:off x="1506514" y="3709900"/>
            <a:ext cx="25743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3" name="Google Shape;143;p44"/>
          <p:cNvSpPr txBox="1">
            <a:spLocks noGrp="1"/>
          </p:cNvSpPr>
          <p:nvPr>
            <p:ph type="title" idx="6"/>
          </p:nvPr>
        </p:nvSpPr>
        <p:spPr>
          <a:xfrm>
            <a:off x="5045226" y="1559275"/>
            <a:ext cx="2574300" cy="527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1800">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144" name="Google Shape;144;p44"/>
          <p:cNvSpPr txBox="1">
            <a:spLocks noGrp="1"/>
          </p:cNvSpPr>
          <p:nvPr>
            <p:ph type="title" idx="7"/>
          </p:nvPr>
        </p:nvSpPr>
        <p:spPr>
          <a:xfrm>
            <a:off x="4281950" y="1711675"/>
            <a:ext cx="7764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b="1"/>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145" name="Google Shape;145;p44"/>
          <p:cNvSpPr txBox="1">
            <a:spLocks noGrp="1"/>
          </p:cNvSpPr>
          <p:nvPr>
            <p:ph type="subTitle" idx="8"/>
          </p:nvPr>
        </p:nvSpPr>
        <p:spPr>
          <a:xfrm>
            <a:off x="5045218" y="1996550"/>
            <a:ext cx="25743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p44"/>
          <p:cNvSpPr txBox="1">
            <a:spLocks noGrp="1"/>
          </p:cNvSpPr>
          <p:nvPr>
            <p:ph type="title" idx="9"/>
          </p:nvPr>
        </p:nvSpPr>
        <p:spPr>
          <a:xfrm>
            <a:off x="4282125" y="3425025"/>
            <a:ext cx="7764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b="1"/>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400" name="Google Shape;400;p44"/>
          <p:cNvSpPr txBox="1">
            <a:spLocks noGrp="1"/>
          </p:cNvSpPr>
          <p:nvPr>
            <p:ph type="title" idx="13"/>
          </p:nvPr>
        </p:nvSpPr>
        <p:spPr>
          <a:xfrm>
            <a:off x="5045351" y="3272625"/>
            <a:ext cx="2574300" cy="527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1800">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01" name="Google Shape;401;p44"/>
          <p:cNvSpPr txBox="1">
            <a:spLocks noGrp="1"/>
          </p:cNvSpPr>
          <p:nvPr>
            <p:ph type="subTitle" idx="14"/>
          </p:nvPr>
        </p:nvSpPr>
        <p:spPr>
          <a:xfrm>
            <a:off x="5045342" y="3709900"/>
            <a:ext cx="25743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2" name="Google Shape;402;p44"/>
          <p:cNvSpPr txBox="1">
            <a:spLocks noGrp="1"/>
          </p:cNvSpPr>
          <p:nvPr>
            <p:ph type="title" idx="15"/>
          </p:nvPr>
        </p:nvSpPr>
        <p:spPr>
          <a:xfrm>
            <a:off x="713225" y="539500"/>
            <a:ext cx="76803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300"/>
              <a:buNone/>
              <a:defRPr/>
            </a:lvl1pPr>
            <a:lvl2pPr lvl="1" algn="l">
              <a:lnSpc>
                <a:spcPct val="100000"/>
              </a:lnSpc>
              <a:spcBef>
                <a:spcPts val="0"/>
              </a:spcBef>
              <a:spcAft>
                <a:spcPts val="0"/>
              </a:spcAft>
              <a:buSzPts val="3300"/>
              <a:buNone/>
              <a:defRPr/>
            </a:lvl2pPr>
            <a:lvl3pPr lvl="2" algn="l">
              <a:lnSpc>
                <a:spcPct val="100000"/>
              </a:lnSpc>
              <a:spcBef>
                <a:spcPts val="0"/>
              </a:spcBef>
              <a:spcAft>
                <a:spcPts val="0"/>
              </a:spcAft>
              <a:buSzPts val="3300"/>
              <a:buNone/>
              <a:defRPr/>
            </a:lvl3pPr>
            <a:lvl4pPr lvl="3" algn="l">
              <a:lnSpc>
                <a:spcPct val="100000"/>
              </a:lnSpc>
              <a:spcBef>
                <a:spcPts val="0"/>
              </a:spcBef>
              <a:spcAft>
                <a:spcPts val="0"/>
              </a:spcAft>
              <a:buSzPts val="3300"/>
              <a:buNone/>
              <a:defRPr/>
            </a:lvl4pPr>
            <a:lvl5pPr lvl="4" algn="l">
              <a:lnSpc>
                <a:spcPct val="100000"/>
              </a:lnSpc>
              <a:spcBef>
                <a:spcPts val="0"/>
              </a:spcBef>
              <a:spcAft>
                <a:spcPts val="0"/>
              </a:spcAft>
              <a:buSzPts val="3300"/>
              <a:buNone/>
              <a:defRPr/>
            </a:lvl5pPr>
            <a:lvl6pPr lvl="5" algn="l">
              <a:lnSpc>
                <a:spcPct val="100000"/>
              </a:lnSpc>
              <a:spcBef>
                <a:spcPts val="0"/>
              </a:spcBef>
              <a:spcAft>
                <a:spcPts val="0"/>
              </a:spcAft>
              <a:buSzPts val="3300"/>
              <a:buNone/>
              <a:defRPr/>
            </a:lvl6pPr>
            <a:lvl7pPr lvl="6" algn="l">
              <a:lnSpc>
                <a:spcPct val="100000"/>
              </a:lnSpc>
              <a:spcBef>
                <a:spcPts val="0"/>
              </a:spcBef>
              <a:spcAft>
                <a:spcPts val="0"/>
              </a:spcAft>
              <a:buSzPts val="3300"/>
              <a:buNone/>
              <a:defRPr/>
            </a:lvl7pPr>
            <a:lvl8pPr lvl="7" algn="l">
              <a:lnSpc>
                <a:spcPct val="100000"/>
              </a:lnSpc>
              <a:spcBef>
                <a:spcPts val="0"/>
              </a:spcBef>
              <a:spcAft>
                <a:spcPts val="0"/>
              </a:spcAft>
              <a:buSzPts val="3300"/>
              <a:buNone/>
              <a:defRPr/>
            </a:lvl8pPr>
            <a:lvl9pPr lvl="8" algn="l">
              <a:lnSpc>
                <a:spcPct val="100000"/>
              </a:lnSpc>
              <a:spcBef>
                <a:spcPts val="0"/>
              </a:spcBef>
              <a:spcAft>
                <a:spcPts val="0"/>
              </a:spcAft>
              <a:buSzPts val="3300"/>
              <a:buNone/>
              <a:defRPr/>
            </a:lvl9pPr>
          </a:lstStyle>
          <a:p>
            <a:endParaRPr/>
          </a:p>
        </p:txBody>
      </p:sp>
    </p:spTree>
    <p:extLst>
      <p:ext uri="{BB962C8B-B14F-4D97-AF65-F5344CB8AC3E}">
        <p14:creationId xmlns:p14="http://schemas.microsoft.com/office/powerpoint/2010/main" val="9190020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442"/>
        <p:cNvGrpSpPr/>
        <p:nvPr/>
      </p:nvGrpSpPr>
      <p:grpSpPr>
        <a:xfrm>
          <a:off x="0" y="0"/>
          <a:ext cx="0" cy="0"/>
          <a:chOff x="0" y="0"/>
          <a:chExt cx="0" cy="0"/>
        </a:xfrm>
      </p:grpSpPr>
      <p:sp>
        <p:nvSpPr>
          <p:cNvPr id="443" name="Google Shape;443;p46"/>
          <p:cNvSpPr txBox="1">
            <a:spLocks noGrp="1"/>
          </p:cNvSpPr>
          <p:nvPr>
            <p:ph type="title"/>
          </p:nvPr>
        </p:nvSpPr>
        <p:spPr>
          <a:xfrm>
            <a:off x="5449425" y="1593575"/>
            <a:ext cx="2998800" cy="14025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44" name="Google Shape;444;p46"/>
          <p:cNvSpPr txBox="1">
            <a:spLocks noGrp="1"/>
          </p:cNvSpPr>
          <p:nvPr>
            <p:ph type="subTitle" idx="1"/>
          </p:nvPr>
        </p:nvSpPr>
        <p:spPr>
          <a:xfrm>
            <a:off x="5449425" y="3203575"/>
            <a:ext cx="2998800" cy="604200"/>
          </a:xfrm>
          <a:prstGeom prst="rect">
            <a:avLst/>
          </a:prstGeom>
          <a:solidFill>
            <a:srgbClr val="00FFFF"/>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100"/>
              <a:buNone/>
              <a:defRPr sz="1600" b="1">
                <a:solidFill>
                  <a:schemeClr val="dk1"/>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45" name="Google Shape;445;p46"/>
          <p:cNvSpPr txBox="1">
            <a:spLocks noGrp="1"/>
          </p:cNvSpPr>
          <p:nvPr>
            <p:ph type="title" idx="2"/>
          </p:nvPr>
        </p:nvSpPr>
        <p:spPr>
          <a:xfrm>
            <a:off x="3377825" y="1593575"/>
            <a:ext cx="2015700" cy="14025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SzPts val="12000"/>
              <a:buNone/>
              <a:defRPr sz="12000" b="1"/>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endParaRPr/>
          </a:p>
        </p:txBody>
      </p:sp>
    </p:spTree>
    <p:extLst>
      <p:ext uri="{BB962C8B-B14F-4D97-AF65-F5344CB8AC3E}">
        <p14:creationId xmlns:p14="http://schemas.microsoft.com/office/powerpoint/2010/main" val="22529509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403"/>
        <p:cNvGrpSpPr/>
        <p:nvPr/>
      </p:nvGrpSpPr>
      <p:grpSpPr>
        <a:xfrm>
          <a:off x="0" y="0"/>
          <a:ext cx="0" cy="0"/>
          <a:chOff x="0" y="0"/>
          <a:chExt cx="0" cy="0"/>
        </a:xfrm>
      </p:grpSpPr>
      <p:sp>
        <p:nvSpPr>
          <p:cNvPr id="440" name="Google Shape;440;p45"/>
          <p:cNvSpPr txBox="1">
            <a:spLocks noGrp="1"/>
          </p:cNvSpPr>
          <p:nvPr>
            <p:ph type="title"/>
          </p:nvPr>
        </p:nvSpPr>
        <p:spPr>
          <a:xfrm>
            <a:off x="2074375" y="2993651"/>
            <a:ext cx="4658100" cy="531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sz="18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a:endParaRPr/>
          </a:p>
        </p:txBody>
      </p:sp>
      <p:sp>
        <p:nvSpPr>
          <p:cNvPr id="441" name="Google Shape;441;p45"/>
          <p:cNvSpPr txBox="1">
            <a:spLocks noGrp="1"/>
          </p:cNvSpPr>
          <p:nvPr>
            <p:ph type="subTitle" idx="1"/>
          </p:nvPr>
        </p:nvSpPr>
        <p:spPr>
          <a:xfrm>
            <a:off x="2074375" y="1438075"/>
            <a:ext cx="5385000" cy="1445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a:endParaRPr/>
          </a:p>
        </p:txBody>
      </p:sp>
    </p:spTree>
    <p:extLst>
      <p:ext uri="{BB962C8B-B14F-4D97-AF65-F5344CB8AC3E}">
        <p14:creationId xmlns:p14="http://schemas.microsoft.com/office/powerpoint/2010/main" val="7912843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619"/>
        <p:cNvGrpSpPr/>
        <p:nvPr/>
      </p:nvGrpSpPr>
      <p:grpSpPr>
        <a:xfrm>
          <a:off x="0" y="0"/>
          <a:ext cx="0" cy="0"/>
          <a:chOff x="0" y="0"/>
          <a:chExt cx="0" cy="0"/>
        </a:xfrm>
      </p:grpSpPr>
      <p:sp>
        <p:nvSpPr>
          <p:cNvPr id="620" name="Google Shape;620;p48"/>
          <p:cNvSpPr txBox="1">
            <a:spLocks noGrp="1"/>
          </p:cNvSpPr>
          <p:nvPr>
            <p:ph type="title"/>
          </p:nvPr>
        </p:nvSpPr>
        <p:spPr>
          <a:xfrm>
            <a:off x="713225" y="539500"/>
            <a:ext cx="77175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300"/>
              <a:buNone/>
              <a:defRPr/>
            </a:lvl1pPr>
            <a:lvl2pPr lvl="1" algn="l">
              <a:lnSpc>
                <a:spcPct val="100000"/>
              </a:lnSpc>
              <a:spcBef>
                <a:spcPts val="0"/>
              </a:spcBef>
              <a:spcAft>
                <a:spcPts val="0"/>
              </a:spcAft>
              <a:buSzPts val="3300"/>
              <a:buNone/>
              <a:defRPr/>
            </a:lvl2pPr>
            <a:lvl3pPr lvl="2" algn="l">
              <a:lnSpc>
                <a:spcPct val="100000"/>
              </a:lnSpc>
              <a:spcBef>
                <a:spcPts val="0"/>
              </a:spcBef>
              <a:spcAft>
                <a:spcPts val="0"/>
              </a:spcAft>
              <a:buSzPts val="3300"/>
              <a:buNone/>
              <a:defRPr/>
            </a:lvl3pPr>
            <a:lvl4pPr lvl="3" algn="l">
              <a:lnSpc>
                <a:spcPct val="100000"/>
              </a:lnSpc>
              <a:spcBef>
                <a:spcPts val="0"/>
              </a:spcBef>
              <a:spcAft>
                <a:spcPts val="0"/>
              </a:spcAft>
              <a:buSzPts val="3300"/>
              <a:buNone/>
              <a:defRPr/>
            </a:lvl4pPr>
            <a:lvl5pPr lvl="4" algn="l">
              <a:lnSpc>
                <a:spcPct val="100000"/>
              </a:lnSpc>
              <a:spcBef>
                <a:spcPts val="0"/>
              </a:spcBef>
              <a:spcAft>
                <a:spcPts val="0"/>
              </a:spcAft>
              <a:buSzPts val="3300"/>
              <a:buNone/>
              <a:defRPr/>
            </a:lvl5pPr>
            <a:lvl6pPr lvl="5" algn="l">
              <a:lnSpc>
                <a:spcPct val="100000"/>
              </a:lnSpc>
              <a:spcBef>
                <a:spcPts val="0"/>
              </a:spcBef>
              <a:spcAft>
                <a:spcPts val="0"/>
              </a:spcAft>
              <a:buSzPts val="3300"/>
              <a:buNone/>
              <a:defRPr/>
            </a:lvl6pPr>
            <a:lvl7pPr lvl="6" algn="l">
              <a:lnSpc>
                <a:spcPct val="100000"/>
              </a:lnSpc>
              <a:spcBef>
                <a:spcPts val="0"/>
              </a:spcBef>
              <a:spcAft>
                <a:spcPts val="0"/>
              </a:spcAft>
              <a:buSzPts val="3300"/>
              <a:buNone/>
              <a:defRPr/>
            </a:lvl7pPr>
            <a:lvl8pPr lvl="7" algn="l">
              <a:lnSpc>
                <a:spcPct val="100000"/>
              </a:lnSpc>
              <a:spcBef>
                <a:spcPts val="0"/>
              </a:spcBef>
              <a:spcAft>
                <a:spcPts val="0"/>
              </a:spcAft>
              <a:buSzPts val="3300"/>
              <a:buNone/>
              <a:defRPr/>
            </a:lvl8pPr>
            <a:lvl9pPr lvl="8" algn="l">
              <a:lnSpc>
                <a:spcPct val="100000"/>
              </a:lnSpc>
              <a:spcBef>
                <a:spcPts val="0"/>
              </a:spcBef>
              <a:spcAft>
                <a:spcPts val="0"/>
              </a:spcAft>
              <a:buSzPts val="3300"/>
              <a:buNone/>
              <a:defRPr/>
            </a:lvl9pPr>
          </a:lstStyle>
          <a:p>
            <a:endParaRPr/>
          </a:p>
        </p:txBody>
      </p:sp>
    </p:spTree>
    <p:extLst>
      <p:ext uri="{BB962C8B-B14F-4D97-AF65-F5344CB8AC3E}">
        <p14:creationId xmlns:p14="http://schemas.microsoft.com/office/powerpoint/2010/main" val="40247610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664"/>
        <p:cNvGrpSpPr/>
        <p:nvPr/>
      </p:nvGrpSpPr>
      <p:grpSpPr>
        <a:xfrm>
          <a:off x="0" y="0"/>
          <a:ext cx="0" cy="0"/>
          <a:chOff x="0" y="0"/>
          <a:chExt cx="0" cy="0"/>
        </a:xfrm>
      </p:grpSpPr>
      <p:sp>
        <p:nvSpPr>
          <p:cNvPr id="691" name="Google Shape;691;p49"/>
          <p:cNvSpPr txBox="1">
            <a:spLocks noGrp="1"/>
          </p:cNvSpPr>
          <p:nvPr>
            <p:ph type="title"/>
          </p:nvPr>
        </p:nvSpPr>
        <p:spPr>
          <a:xfrm>
            <a:off x="883200" y="1287888"/>
            <a:ext cx="2168100" cy="5277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SzPts val="2500"/>
              <a:buNone/>
              <a:defRPr sz="1800">
                <a:latin typeface="Space Grotesk Medium"/>
                <a:ea typeface="Space Grotesk Medium"/>
                <a:cs typeface="Space Grotesk Medium"/>
                <a:sym typeface="Space Grotesk Medium"/>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a:endParaRPr/>
          </a:p>
        </p:txBody>
      </p:sp>
      <p:sp>
        <p:nvSpPr>
          <p:cNvPr id="692" name="Google Shape;692;p49"/>
          <p:cNvSpPr txBox="1">
            <a:spLocks noGrp="1"/>
          </p:cNvSpPr>
          <p:nvPr>
            <p:ph type="subTitle" idx="1"/>
          </p:nvPr>
        </p:nvSpPr>
        <p:spPr>
          <a:xfrm>
            <a:off x="883201" y="1731875"/>
            <a:ext cx="2168100" cy="4848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93" name="Google Shape;693;p49"/>
          <p:cNvSpPr txBox="1">
            <a:spLocks noGrp="1"/>
          </p:cNvSpPr>
          <p:nvPr>
            <p:ph type="title" idx="2"/>
          </p:nvPr>
        </p:nvSpPr>
        <p:spPr>
          <a:xfrm>
            <a:off x="883201" y="2445568"/>
            <a:ext cx="2168100" cy="5277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SzPts val="2500"/>
              <a:buNone/>
              <a:defRPr sz="1800">
                <a:latin typeface="Space Grotesk Medium"/>
                <a:ea typeface="Space Grotesk Medium"/>
                <a:cs typeface="Space Grotesk Medium"/>
                <a:sym typeface="Space Grotesk Medium"/>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a:endParaRPr/>
          </a:p>
        </p:txBody>
      </p:sp>
      <p:sp>
        <p:nvSpPr>
          <p:cNvPr id="694" name="Google Shape;694;p49"/>
          <p:cNvSpPr txBox="1">
            <a:spLocks noGrp="1"/>
          </p:cNvSpPr>
          <p:nvPr>
            <p:ph type="subTitle" idx="3"/>
          </p:nvPr>
        </p:nvSpPr>
        <p:spPr>
          <a:xfrm>
            <a:off x="883201" y="2884841"/>
            <a:ext cx="2168100" cy="4848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95" name="Google Shape;695;p49"/>
          <p:cNvSpPr txBox="1">
            <a:spLocks noGrp="1"/>
          </p:cNvSpPr>
          <p:nvPr>
            <p:ph type="title" idx="4"/>
          </p:nvPr>
        </p:nvSpPr>
        <p:spPr>
          <a:xfrm>
            <a:off x="883176" y="3577196"/>
            <a:ext cx="2168100" cy="5277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SzPts val="2500"/>
              <a:buNone/>
              <a:defRPr sz="1800">
                <a:latin typeface="Space Grotesk Medium"/>
                <a:ea typeface="Space Grotesk Medium"/>
                <a:cs typeface="Space Grotesk Medium"/>
                <a:sym typeface="Space Grotesk Medium"/>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a:endParaRPr/>
          </a:p>
        </p:txBody>
      </p:sp>
      <p:sp>
        <p:nvSpPr>
          <p:cNvPr id="696" name="Google Shape;696;p49"/>
          <p:cNvSpPr txBox="1">
            <a:spLocks noGrp="1"/>
          </p:cNvSpPr>
          <p:nvPr>
            <p:ph type="subTitle" idx="5"/>
          </p:nvPr>
        </p:nvSpPr>
        <p:spPr>
          <a:xfrm>
            <a:off x="883176" y="4020638"/>
            <a:ext cx="2168100" cy="4848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97" name="Google Shape;697;p49"/>
          <p:cNvSpPr txBox="1">
            <a:spLocks noGrp="1"/>
          </p:cNvSpPr>
          <p:nvPr>
            <p:ph type="title" idx="6"/>
          </p:nvPr>
        </p:nvSpPr>
        <p:spPr>
          <a:xfrm>
            <a:off x="713225" y="539500"/>
            <a:ext cx="7717500" cy="565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300"/>
              <a:buNone/>
              <a:defRPr/>
            </a:lvl1pPr>
            <a:lvl2pPr lvl="1" algn="l">
              <a:lnSpc>
                <a:spcPct val="100000"/>
              </a:lnSpc>
              <a:spcBef>
                <a:spcPts val="0"/>
              </a:spcBef>
              <a:spcAft>
                <a:spcPts val="0"/>
              </a:spcAft>
              <a:buSzPts val="3300"/>
              <a:buNone/>
              <a:defRPr/>
            </a:lvl2pPr>
            <a:lvl3pPr lvl="2" algn="l">
              <a:lnSpc>
                <a:spcPct val="100000"/>
              </a:lnSpc>
              <a:spcBef>
                <a:spcPts val="0"/>
              </a:spcBef>
              <a:spcAft>
                <a:spcPts val="0"/>
              </a:spcAft>
              <a:buSzPts val="3300"/>
              <a:buNone/>
              <a:defRPr/>
            </a:lvl3pPr>
            <a:lvl4pPr lvl="3" algn="l">
              <a:lnSpc>
                <a:spcPct val="100000"/>
              </a:lnSpc>
              <a:spcBef>
                <a:spcPts val="0"/>
              </a:spcBef>
              <a:spcAft>
                <a:spcPts val="0"/>
              </a:spcAft>
              <a:buSzPts val="3300"/>
              <a:buNone/>
              <a:defRPr/>
            </a:lvl4pPr>
            <a:lvl5pPr lvl="4" algn="l">
              <a:lnSpc>
                <a:spcPct val="100000"/>
              </a:lnSpc>
              <a:spcBef>
                <a:spcPts val="0"/>
              </a:spcBef>
              <a:spcAft>
                <a:spcPts val="0"/>
              </a:spcAft>
              <a:buSzPts val="3300"/>
              <a:buNone/>
              <a:defRPr/>
            </a:lvl5pPr>
            <a:lvl6pPr lvl="5" algn="l">
              <a:lnSpc>
                <a:spcPct val="100000"/>
              </a:lnSpc>
              <a:spcBef>
                <a:spcPts val="0"/>
              </a:spcBef>
              <a:spcAft>
                <a:spcPts val="0"/>
              </a:spcAft>
              <a:buSzPts val="3300"/>
              <a:buNone/>
              <a:defRPr/>
            </a:lvl6pPr>
            <a:lvl7pPr lvl="6" algn="l">
              <a:lnSpc>
                <a:spcPct val="100000"/>
              </a:lnSpc>
              <a:spcBef>
                <a:spcPts val="0"/>
              </a:spcBef>
              <a:spcAft>
                <a:spcPts val="0"/>
              </a:spcAft>
              <a:buSzPts val="3300"/>
              <a:buNone/>
              <a:defRPr/>
            </a:lvl7pPr>
            <a:lvl8pPr lvl="7" algn="l">
              <a:lnSpc>
                <a:spcPct val="100000"/>
              </a:lnSpc>
              <a:spcBef>
                <a:spcPts val="0"/>
              </a:spcBef>
              <a:spcAft>
                <a:spcPts val="0"/>
              </a:spcAft>
              <a:buSzPts val="3300"/>
              <a:buNone/>
              <a:defRPr/>
            </a:lvl8pPr>
            <a:lvl9pPr lvl="8" algn="l">
              <a:lnSpc>
                <a:spcPct val="100000"/>
              </a:lnSpc>
              <a:spcBef>
                <a:spcPts val="0"/>
              </a:spcBef>
              <a:spcAft>
                <a:spcPts val="0"/>
              </a:spcAft>
              <a:buSzPts val="3300"/>
              <a:buNone/>
              <a:defRPr/>
            </a:lvl9pPr>
          </a:lstStyle>
          <a:p>
            <a:endParaRPr/>
          </a:p>
        </p:txBody>
      </p:sp>
      <p:sp>
        <p:nvSpPr>
          <p:cNvPr id="698" name="Google Shape;698;p49"/>
          <p:cNvSpPr txBox="1">
            <a:spLocks noGrp="1"/>
          </p:cNvSpPr>
          <p:nvPr>
            <p:ph type="title" idx="7"/>
          </p:nvPr>
        </p:nvSpPr>
        <p:spPr>
          <a:xfrm>
            <a:off x="6092700" y="1287888"/>
            <a:ext cx="2168100" cy="527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500"/>
              <a:buNone/>
              <a:defRPr sz="1800">
                <a:latin typeface="Space Grotesk Medium"/>
                <a:ea typeface="Space Grotesk Medium"/>
                <a:cs typeface="Space Grotesk Medium"/>
                <a:sym typeface="Space Grotesk Medium"/>
              </a:defRPr>
            </a:lvl1pPr>
            <a:lvl2pPr lvl="1" algn="l">
              <a:lnSpc>
                <a:spcPct val="100000"/>
              </a:lnSpc>
              <a:spcBef>
                <a:spcPts val="0"/>
              </a:spcBef>
              <a:spcAft>
                <a:spcPts val="0"/>
              </a:spcAft>
              <a:buSzPts val="2500"/>
              <a:buNone/>
              <a:defRPr sz="2500"/>
            </a:lvl2pPr>
            <a:lvl3pPr lvl="2" algn="l">
              <a:lnSpc>
                <a:spcPct val="100000"/>
              </a:lnSpc>
              <a:spcBef>
                <a:spcPts val="0"/>
              </a:spcBef>
              <a:spcAft>
                <a:spcPts val="0"/>
              </a:spcAft>
              <a:buSzPts val="2500"/>
              <a:buNone/>
              <a:defRPr sz="2500"/>
            </a:lvl3pPr>
            <a:lvl4pPr lvl="3" algn="l">
              <a:lnSpc>
                <a:spcPct val="100000"/>
              </a:lnSpc>
              <a:spcBef>
                <a:spcPts val="0"/>
              </a:spcBef>
              <a:spcAft>
                <a:spcPts val="0"/>
              </a:spcAft>
              <a:buSzPts val="2500"/>
              <a:buNone/>
              <a:defRPr sz="2500"/>
            </a:lvl4pPr>
            <a:lvl5pPr lvl="4" algn="l">
              <a:lnSpc>
                <a:spcPct val="100000"/>
              </a:lnSpc>
              <a:spcBef>
                <a:spcPts val="0"/>
              </a:spcBef>
              <a:spcAft>
                <a:spcPts val="0"/>
              </a:spcAft>
              <a:buSzPts val="2500"/>
              <a:buNone/>
              <a:defRPr sz="2500"/>
            </a:lvl5pPr>
            <a:lvl6pPr lvl="5" algn="l">
              <a:lnSpc>
                <a:spcPct val="100000"/>
              </a:lnSpc>
              <a:spcBef>
                <a:spcPts val="0"/>
              </a:spcBef>
              <a:spcAft>
                <a:spcPts val="0"/>
              </a:spcAft>
              <a:buSzPts val="2500"/>
              <a:buNone/>
              <a:defRPr sz="2500"/>
            </a:lvl6pPr>
            <a:lvl7pPr lvl="6" algn="l">
              <a:lnSpc>
                <a:spcPct val="100000"/>
              </a:lnSpc>
              <a:spcBef>
                <a:spcPts val="0"/>
              </a:spcBef>
              <a:spcAft>
                <a:spcPts val="0"/>
              </a:spcAft>
              <a:buSzPts val="2500"/>
              <a:buNone/>
              <a:defRPr sz="2500"/>
            </a:lvl7pPr>
            <a:lvl8pPr lvl="7" algn="l">
              <a:lnSpc>
                <a:spcPct val="100000"/>
              </a:lnSpc>
              <a:spcBef>
                <a:spcPts val="0"/>
              </a:spcBef>
              <a:spcAft>
                <a:spcPts val="0"/>
              </a:spcAft>
              <a:buSzPts val="2500"/>
              <a:buNone/>
              <a:defRPr sz="2500"/>
            </a:lvl8pPr>
            <a:lvl9pPr lvl="8" algn="l">
              <a:lnSpc>
                <a:spcPct val="100000"/>
              </a:lnSpc>
              <a:spcBef>
                <a:spcPts val="0"/>
              </a:spcBef>
              <a:spcAft>
                <a:spcPts val="0"/>
              </a:spcAft>
              <a:buSzPts val="2500"/>
              <a:buNone/>
              <a:defRPr sz="2500"/>
            </a:lvl9pPr>
          </a:lstStyle>
          <a:p>
            <a:endParaRPr/>
          </a:p>
        </p:txBody>
      </p:sp>
      <p:sp>
        <p:nvSpPr>
          <p:cNvPr id="699" name="Google Shape;699;p49"/>
          <p:cNvSpPr txBox="1">
            <a:spLocks noGrp="1"/>
          </p:cNvSpPr>
          <p:nvPr>
            <p:ph type="subTitle" idx="8"/>
          </p:nvPr>
        </p:nvSpPr>
        <p:spPr>
          <a:xfrm>
            <a:off x="6092701" y="1731875"/>
            <a:ext cx="21681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0" name="Google Shape;700;p49"/>
          <p:cNvSpPr txBox="1">
            <a:spLocks noGrp="1"/>
          </p:cNvSpPr>
          <p:nvPr>
            <p:ph type="title" idx="9"/>
          </p:nvPr>
        </p:nvSpPr>
        <p:spPr>
          <a:xfrm>
            <a:off x="6092701" y="2445568"/>
            <a:ext cx="2168100" cy="527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500"/>
              <a:buNone/>
              <a:defRPr sz="1800">
                <a:latin typeface="Space Grotesk Medium"/>
                <a:ea typeface="Space Grotesk Medium"/>
                <a:cs typeface="Space Grotesk Medium"/>
                <a:sym typeface="Space Grotesk Medium"/>
              </a:defRPr>
            </a:lvl1pPr>
            <a:lvl2pPr lvl="1" algn="l">
              <a:lnSpc>
                <a:spcPct val="100000"/>
              </a:lnSpc>
              <a:spcBef>
                <a:spcPts val="0"/>
              </a:spcBef>
              <a:spcAft>
                <a:spcPts val="0"/>
              </a:spcAft>
              <a:buSzPts val="2500"/>
              <a:buNone/>
              <a:defRPr sz="2500"/>
            </a:lvl2pPr>
            <a:lvl3pPr lvl="2" algn="l">
              <a:lnSpc>
                <a:spcPct val="100000"/>
              </a:lnSpc>
              <a:spcBef>
                <a:spcPts val="0"/>
              </a:spcBef>
              <a:spcAft>
                <a:spcPts val="0"/>
              </a:spcAft>
              <a:buSzPts val="2500"/>
              <a:buNone/>
              <a:defRPr sz="2500"/>
            </a:lvl3pPr>
            <a:lvl4pPr lvl="3" algn="l">
              <a:lnSpc>
                <a:spcPct val="100000"/>
              </a:lnSpc>
              <a:spcBef>
                <a:spcPts val="0"/>
              </a:spcBef>
              <a:spcAft>
                <a:spcPts val="0"/>
              </a:spcAft>
              <a:buSzPts val="2500"/>
              <a:buNone/>
              <a:defRPr sz="2500"/>
            </a:lvl4pPr>
            <a:lvl5pPr lvl="4" algn="l">
              <a:lnSpc>
                <a:spcPct val="100000"/>
              </a:lnSpc>
              <a:spcBef>
                <a:spcPts val="0"/>
              </a:spcBef>
              <a:spcAft>
                <a:spcPts val="0"/>
              </a:spcAft>
              <a:buSzPts val="2500"/>
              <a:buNone/>
              <a:defRPr sz="2500"/>
            </a:lvl5pPr>
            <a:lvl6pPr lvl="5" algn="l">
              <a:lnSpc>
                <a:spcPct val="100000"/>
              </a:lnSpc>
              <a:spcBef>
                <a:spcPts val="0"/>
              </a:spcBef>
              <a:spcAft>
                <a:spcPts val="0"/>
              </a:spcAft>
              <a:buSzPts val="2500"/>
              <a:buNone/>
              <a:defRPr sz="2500"/>
            </a:lvl6pPr>
            <a:lvl7pPr lvl="6" algn="l">
              <a:lnSpc>
                <a:spcPct val="100000"/>
              </a:lnSpc>
              <a:spcBef>
                <a:spcPts val="0"/>
              </a:spcBef>
              <a:spcAft>
                <a:spcPts val="0"/>
              </a:spcAft>
              <a:buSzPts val="2500"/>
              <a:buNone/>
              <a:defRPr sz="2500"/>
            </a:lvl7pPr>
            <a:lvl8pPr lvl="7" algn="l">
              <a:lnSpc>
                <a:spcPct val="100000"/>
              </a:lnSpc>
              <a:spcBef>
                <a:spcPts val="0"/>
              </a:spcBef>
              <a:spcAft>
                <a:spcPts val="0"/>
              </a:spcAft>
              <a:buSzPts val="2500"/>
              <a:buNone/>
              <a:defRPr sz="2500"/>
            </a:lvl8pPr>
            <a:lvl9pPr lvl="8" algn="l">
              <a:lnSpc>
                <a:spcPct val="100000"/>
              </a:lnSpc>
              <a:spcBef>
                <a:spcPts val="0"/>
              </a:spcBef>
              <a:spcAft>
                <a:spcPts val="0"/>
              </a:spcAft>
              <a:buSzPts val="2500"/>
              <a:buNone/>
              <a:defRPr sz="2500"/>
            </a:lvl9pPr>
          </a:lstStyle>
          <a:p>
            <a:endParaRPr/>
          </a:p>
        </p:txBody>
      </p:sp>
      <p:sp>
        <p:nvSpPr>
          <p:cNvPr id="701" name="Google Shape;701;p49"/>
          <p:cNvSpPr txBox="1">
            <a:spLocks noGrp="1"/>
          </p:cNvSpPr>
          <p:nvPr>
            <p:ph type="subTitle" idx="13"/>
          </p:nvPr>
        </p:nvSpPr>
        <p:spPr>
          <a:xfrm>
            <a:off x="6092701" y="2884841"/>
            <a:ext cx="21681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2" name="Google Shape;702;p49"/>
          <p:cNvSpPr txBox="1">
            <a:spLocks noGrp="1"/>
          </p:cNvSpPr>
          <p:nvPr>
            <p:ph type="title" idx="14"/>
          </p:nvPr>
        </p:nvSpPr>
        <p:spPr>
          <a:xfrm>
            <a:off x="6092676" y="3577196"/>
            <a:ext cx="2168100" cy="527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500"/>
              <a:buNone/>
              <a:defRPr sz="1800">
                <a:latin typeface="Space Grotesk Medium"/>
                <a:ea typeface="Space Grotesk Medium"/>
                <a:cs typeface="Space Grotesk Medium"/>
                <a:sym typeface="Space Grotesk Medium"/>
              </a:defRPr>
            </a:lvl1pPr>
            <a:lvl2pPr lvl="1" algn="l">
              <a:lnSpc>
                <a:spcPct val="100000"/>
              </a:lnSpc>
              <a:spcBef>
                <a:spcPts val="0"/>
              </a:spcBef>
              <a:spcAft>
                <a:spcPts val="0"/>
              </a:spcAft>
              <a:buSzPts val="2500"/>
              <a:buNone/>
              <a:defRPr sz="2500"/>
            </a:lvl2pPr>
            <a:lvl3pPr lvl="2" algn="l">
              <a:lnSpc>
                <a:spcPct val="100000"/>
              </a:lnSpc>
              <a:spcBef>
                <a:spcPts val="0"/>
              </a:spcBef>
              <a:spcAft>
                <a:spcPts val="0"/>
              </a:spcAft>
              <a:buSzPts val="2500"/>
              <a:buNone/>
              <a:defRPr sz="2500"/>
            </a:lvl3pPr>
            <a:lvl4pPr lvl="3" algn="l">
              <a:lnSpc>
                <a:spcPct val="100000"/>
              </a:lnSpc>
              <a:spcBef>
                <a:spcPts val="0"/>
              </a:spcBef>
              <a:spcAft>
                <a:spcPts val="0"/>
              </a:spcAft>
              <a:buSzPts val="2500"/>
              <a:buNone/>
              <a:defRPr sz="2500"/>
            </a:lvl4pPr>
            <a:lvl5pPr lvl="4" algn="l">
              <a:lnSpc>
                <a:spcPct val="100000"/>
              </a:lnSpc>
              <a:spcBef>
                <a:spcPts val="0"/>
              </a:spcBef>
              <a:spcAft>
                <a:spcPts val="0"/>
              </a:spcAft>
              <a:buSzPts val="2500"/>
              <a:buNone/>
              <a:defRPr sz="2500"/>
            </a:lvl5pPr>
            <a:lvl6pPr lvl="5" algn="l">
              <a:lnSpc>
                <a:spcPct val="100000"/>
              </a:lnSpc>
              <a:spcBef>
                <a:spcPts val="0"/>
              </a:spcBef>
              <a:spcAft>
                <a:spcPts val="0"/>
              </a:spcAft>
              <a:buSzPts val="2500"/>
              <a:buNone/>
              <a:defRPr sz="2500"/>
            </a:lvl6pPr>
            <a:lvl7pPr lvl="6" algn="l">
              <a:lnSpc>
                <a:spcPct val="100000"/>
              </a:lnSpc>
              <a:spcBef>
                <a:spcPts val="0"/>
              </a:spcBef>
              <a:spcAft>
                <a:spcPts val="0"/>
              </a:spcAft>
              <a:buSzPts val="2500"/>
              <a:buNone/>
              <a:defRPr sz="2500"/>
            </a:lvl7pPr>
            <a:lvl8pPr lvl="7" algn="l">
              <a:lnSpc>
                <a:spcPct val="100000"/>
              </a:lnSpc>
              <a:spcBef>
                <a:spcPts val="0"/>
              </a:spcBef>
              <a:spcAft>
                <a:spcPts val="0"/>
              </a:spcAft>
              <a:buSzPts val="2500"/>
              <a:buNone/>
              <a:defRPr sz="2500"/>
            </a:lvl8pPr>
            <a:lvl9pPr lvl="8" algn="l">
              <a:lnSpc>
                <a:spcPct val="100000"/>
              </a:lnSpc>
              <a:spcBef>
                <a:spcPts val="0"/>
              </a:spcBef>
              <a:spcAft>
                <a:spcPts val="0"/>
              </a:spcAft>
              <a:buSzPts val="2500"/>
              <a:buNone/>
              <a:defRPr sz="2500"/>
            </a:lvl9pPr>
          </a:lstStyle>
          <a:p>
            <a:endParaRPr/>
          </a:p>
        </p:txBody>
      </p:sp>
      <p:sp>
        <p:nvSpPr>
          <p:cNvPr id="703" name="Google Shape;703;p49"/>
          <p:cNvSpPr txBox="1">
            <a:spLocks noGrp="1"/>
          </p:cNvSpPr>
          <p:nvPr>
            <p:ph type="subTitle" idx="15"/>
          </p:nvPr>
        </p:nvSpPr>
        <p:spPr>
          <a:xfrm>
            <a:off x="6092676" y="4020638"/>
            <a:ext cx="21681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74816209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4">
  <p:cSld name="Title only 4">
    <p:spTree>
      <p:nvGrpSpPr>
        <p:cNvPr id="1" name="Shape 704"/>
        <p:cNvGrpSpPr/>
        <p:nvPr/>
      </p:nvGrpSpPr>
      <p:grpSpPr>
        <a:xfrm>
          <a:off x="0" y="0"/>
          <a:ext cx="0" cy="0"/>
          <a:chOff x="0" y="0"/>
          <a:chExt cx="0" cy="0"/>
        </a:xfrm>
      </p:grpSpPr>
      <p:sp>
        <p:nvSpPr>
          <p:cNvPr id="705" name="Google Shape;705;p50"/>
          <p:cNvSpPr txBox="1">
            <a:spLocks noGrp="1"/>
          </p:cNvSpPr>
          <p:nvPr>
            <p:ph type="title"/>
          </p:nvPr>
        </p:nvSpPr>
        <p:spPr>
          <a:xfrm>
            <a:off x="713225" y="539500"/>
            <a:ext cx="77175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300"/>
              <a:buNone/>
              <a:defRPr/>
            </a:lvl1pPr>
            <a:lvl2pPr lvl="1" algn="l">
              <a:lnSpc>
                <a:spcPct val="100000"/>
              </a:lnSpc>
              <a:spcBef>
                <a:spcPts val="0"/>
              </a:spcBef>
              <a:spcAft>
                <a:spcPts val="0"/>
              </a:spcAft>
              <a:buSzPts val="3300"/>
              <a:buNone/>
              <a:defRPr/>
            </a:lvl2pPr>
            <a:lvl3pPr lvl="2" algn="l">
              <a:lnSpc>
                <a:spcPct val="100000"/>
              </a:lnSpc>
              <a:spcBef>
                <a:spcPts val="0"/>
              </a:spcBef>
              <a:spcAft>
                <a:spcPts val="0"/>
              </a:spcAft>
              <a:buSzPts val="3300"/>
              <a:buNone/>
              <a:defRPr/>
            </a:lvl3pPr>
            <a:lvl4pPr lvl="3" algn="l">
              <a:lnSpc>
                <a:spcPct val="100000"/>
              </a:lnSpc>
              <a:spcBef>
                <a:spcPts val="0"/>
              </a:spcBef>
              <a:spcAft>
                <a:spcPts val="0"/>
              </a:spcAft>
              <a:buSzPts val="3300"/>
              <a:buNone/>
              <a:defRPr/>
            </a:lvl4pPr>
            <a:lvl5pPr lvl="4" algn="l">
              <a:lnSpc>
                <a:spcPct val="100000"/>
              </a:lnSpc>
              <a:spcBef>
                <a:spcPts val="0"/>
              </a:spcBef>
              <a:spcAft>
                <a:spcPts val="0"/>
              </a:spcAft>
              <a:buSzPts val="3300"/>
              <a:buNone/>
              <a:defRPr/>
            </a:lvl5pPr>
            <a:lvl6pPr lvl="5" algn="l">
              <a:lnSpc>
                <a:spcPct val="100000"/>
              </a:lnSpc>
              <a:spcBef>
                <a:spcPts val="0"/>
              </a:spcBef>
              <a:spcAft>
                <a:spcPts val="0"/>
              </a:spcAft>
              <a:buSzPts val="3300"/>
              <a:buNone/>
              <a:defRPr/>
            </a:lvl6pPr>
            <a:lvl7pPr lvl="6" algn="l">
              <a:lnSpc>
                <a:spcPct val="100000"/>
              </a:lnSpc>
              <a:spcBef>
                <a:spcPts val="0"/>
              </a:spcBef>
              <a:spcAft>
                <a:spcPts val="0"/>
              </a:spcAft>
              <a:buSzPts val="3300"/>
              <a:buNone/>
              <a:defRPr/>
            </a:lvl7pPr>
            <a:lvl8pPr lvl="7" algn="l">
              <a:lnSpc>
                <a:spcPct val="100000"/>
              </a:lnSpc>
              <a:spcBef>
                <a:spcPts val="0"/>
              </a:spcBef>
              <a:spcAft>
                <a:spcPts val="0"/>
              </a:spcAft>
              <a:buSzPts val="3300"/>
              <a:buNone/>
              <a:defRPr/>
            </a:lvl8pPr>
            <a:lvl9pPr lvl="8" algn="l">
              <a:lnSpc>
                <a:spcPct val="100000"/>
              </a:lnSpc>
              <a:spcBef>
                <a:spcPts val="0"/>
              </a:spcBef>
              <a:spcAft>
                <a:spcPts val="0"/>
              </a:spcAft>
              <a:buSzPts val="3300"/>
              <a:buNone/>
              <a:defRPr/>
            </a:lvl9pPr>
          </a:lstStyle>
          <a:p>
            <a:endParaRPr/>
          </a:p>
        </p:txBody>
      </p:sp>
    </p:spTree>
    <p:extLst>
      <p:ext uri="{BB962C8B-B14F-4D97-AF65-F5344CB8AC3E}">
        <p14:creationId xmlns:p14="http://schemas.microsoft.com/office/powerpoint/2010/main" val="4230015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3.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5">
            <a:extLst>
              <a:ext uri="{28A0092B-C50C-407E-A947-70E740481C1C}">
                <a14:useLocalDpi xmlns:a14="http://schemas.microsoft.com/office/drawing/2010/main" val="0"/>
              </a:ext>
            </a:extLst>
          </a:blip>
          <a:srcRect l="3644"/>
          <a:stretch/>
        </p:blipFill>
        <p:spPr>
          <a:xfrm>
            <a:off x="0" y="2002264"/>
            <a:ext cx="3026752" cy="3141236"/>
          </a:xfrm>
          <a:prstGeom prst="rect">
            <a:avLst/>
          </a:prstGeom>
        </p:spPr>
      </p:pic>
      <p:pic>
        <p:nvPicPr>
          <p:cNvPr id="7" name="Picture 6"/>
          <p:cNvPicPr>
            <a:picLocks noChangeAspect="1"/>
          </p:cNvPicPr>
          <p:nvPr/>
        </p:nvPicPr>
        <p:blipFill rotWithShape="1">
          <a:blip r:embed="rId26">
            <a:extLst>
              <a:ext uri="{28A0092B-C50C-407E-A947-70E740481C1C}">
                <a14:useLocalDpi xmlns:a14="http://schemas.microsoft.com/office/drawing/2010/main" val="0"/>
              </a:ext>
            </a:extLst>
          </a:blip>
          <a:srcRect l="35640"/>
          <a:stretch/>
        </p:blipFill>
        <p:spPr>
          <a:xfrm>
            <a:off x="0" y="2169261"/>
            <a:ext cx="1141809" cy="1774090"/>
          </a:xfrm>
          <a:prstGeom prst="rect">
            <a:avLst/>
          </a:prstGeom>
        </p:spPr>
      </p:pic>
      <p:sp>
        <p:nvSpPr>
          <p:cNvPr id="16" name="Oval 15"/>
          <p:cNvSpPr/>
          <p:nvPr/>
        </p:nvSpPr>
        <p:spPr>
          <a:xfrm>
            <a:off x="6456759" y="1257300"/>
            <a:ext cx="2114550" cy="211455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pic>
        <p:nvPicPr>
          <p:cNvPr id="9" name="Picture 8"/>
          <p:cNvPicPr>
            <a:picLocks noChangeAspect="1"/>
          </p:cNvPicPr>
          <p:nvPr/>
        </p:nvPicPr>
        <p:blipFill rotWithShape="1">
          <a:blip r:embed="rId27">
            <a:extLst>
              <a:ext uri="{28A0092B-C50C-407E-A947-70E740481C1C}">
                <a14:useLocalDpi xmlns:a14="http://schemas.microsoft.com/office/drawing/2010/main" val="0"/>
              </a:ext>
            </a:extLst>
          </a:blip>
          <a:srcRect t="28813"/>
          <a:stretch/>
        </p:blipFill>
        <p:spPr>
          <a:xfrm>
            <a:off x="5999560" y="1"/>
            <a:ext cx="1202540" cy="856055"/>
          </a:xfrm>
          <a:prstGeom prst="rect">
            <a:avLst/>
          </a:prstGeom>
        </p:spPr>
      </p:pic>
      <p:pic>
        <p:nvPicPr>
          <p:cNvPr id="10" name="Picture 9"/>
          <p:cNvPicPr>
            <a:picLocks noChangeAspect="1"/>
          </p:cNvPicPr>
          <p:nvPr/>
        </p:nvPicPr>
        <p:blipFill rotWithShape="1">
          <a:blip r:embed="rId28">
            <a:extLst>
              <a:ext uri="{28A0092B-C50C-407E-A947-70E740481C1C}">
                <a14:useLocalDpi xmlns:a14="http://schemas.microsoft.com/office/drawing/2010/main" val="0"/>
              </a:ext>
            </a:extLst>
          </a:blip>
          <a:srcRect b="23320"/>
          <a:stretch/>
        </p:blipFill>
        <p:spPr>
          <a:xfrm>
            <a:off x="6456759" y="4572000"/>
            <a:ext cx="745301" cy="571500"/>
          </a:xfrm>
          <a:prstGeom prst="rect">
            <a:avLst/>
          </a:prstGeom>
        </p:spPr>
      </p:pic>
      <p:sp>
        <p:nvSpPr>
          <p:cNvPr id="14" name="Rectangle 13"/>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 name="Title Placeholder 1"/>
          <p:cNvSpPr>
            <a:spLocks noGrp="1"/>
          </p:cNvSpPr>
          <p:nvPr>
            <p:ph type="title"/>
          </p:nvPr>
        </p:nvSpPr>
        <p:spPr>
          <a:xfrm>
            <a:off x="484584" y="339538"/>
            <a:ext cx="7053542" cy="1050398"/>
          </a:xfrm>
          <a:prstGeom prst="rect">
            <a:avLst/>
          </a:prstGeom>
        </p:spPr>
        <p:txBody>
          <a:bodyPr vert="horz" lIns="91440" tIns="45720" rIns="91440" bIns="45720" rtlCol="0" anchor="t">
            <a:noAutofit/>
          </a:bodyPr>
          <a:lstStyle/>
          <a:p>
            <a:r>
              <a:rPr lang="fr-FR"/>
              <a:t>Modifiez le style du titre</a:t>
            </a:r>
            <a:endParaRPr lang="en-US" dirty="0"/>
          </a:p>
        </p:txBody>
      </p:sp>
      <p:sp>
        <p:nvSpPr>
          <p:cNvPr id="3" name="Text Placeholder 2"/>
          <p:cNvSpPr>
            <a:spLocks noGrp="1"/>
          </p:cNvSpPr>
          <p:nvPr>
            <p:ph type="body" idx="1"/>
          </p:nvPr>
        </p:nvSpPr>
        <p:spPr>
          <a:xfrm>
            <a:off x="827484" y="1539689"/>
            <a:ext cx="6709906" cy="3146611"/>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rot="5400000">
            <a:off x="7616730" y="1343026"/>
            <a:ext cx="742949" cy="228599"/>
          </a:xfrm>
          <a:prstGeom prst="rect">
            <a:avLst/>
          </a:prstGeom>
        </p:spPr>
        <p:txBody>
          <a:bodyPr vert="horz" lIns="91440" tIns="45720" rIns="91440" bIns="45720" rtlCol="0" anchor="t"/>
          <a:lstStyle>
            <a:lvl1pPr algn="l">
              <a:defRPr sz="825" b="0" i="0">
                <a:solidFill>
                  <a:schemeClr val="tx1">
                    <a:tint val="75000"/>
                    <a:alpha val="60000"/>
                  </a:schemeClr>
                </a:solidFill>
              </a:defRPr>
            </a:lvl1pPr>
          </a:lstStyle>
          <a:p>
            <a:fld id="{3BD6C7CC-8031-46EC-9310-519E6FD1E1F0}" type="datetimeFigureOut">
              <a:rPr lang="fr-FR" smtClean="0"/>
              <a:t>10/04/2026</a:t>
            </a:fld>
            <a:endParaRPr lang="fr-FR"/>
          </a:p>
        </p:txBody>
      </p:sp>
      <p:sp>
        <p:nvSpPr>
          <p:cNvPr id="5" name="Footer Placeholder 4"/>
          <p:cNvSpPr>
            <a:spLocks noGrp="1"/>
          </p:cNvSpPr>
          <p:nvPr>
            <p:ph type="ftr" sz="quarter" idx="3"/>
          </p:nvPr>
        </p:nvSpPr>
        <p:spPr>
          <a:xfrm rot="5400000">
            <a:off x="6713680" y="2418973"/>
            <a:ext cx="2894846" cy="228601"/>
          </a:xfrm>
          <a:prstGeom prst="rect">
            <a:avLst/>
          </a:prstGeom>
        </p:spPr>
        <p:txBody>
          <a:bodyPr vert="horz" lIns="91440" tIns="45720" rIns="91440" bIns="45720" rtlCol="0" anchor="b"/>
          <a:lstStyle>
            <a:lvl1pPr algn="l">
              <a:defRPr sz="825" b="0" i="0">
                <a:solidFill>
                  <a:schemeClr val="tx1">
                    <a:tint val="75000"/>
                    <a:alpha val="60000"/>
                  </a:schemeClr>
                </a:solidFill>
              </a:defRPr>
            </a:lvl1pPr>
          </a:lstStyle>
          <a:p>
            <a:endParaRPr lang="fr-FR"/>
          </a:p>
        </p:txBody>
      </p:sp>
      <p:sp>
        <p:nvSpPr>
          <p:cNvPr id="6" name="Slide Number Placeholder 5"/>
          <p:cNvSpPr>
            <a:spLocks noGrp="1"/>
          </p:cNvSpPr>
          <p:nvPr>
            <p:ph type="sldNum" sz="quarter" idx="4"/>
          </p:nvPr>
        </p:nvSpPr>
        <p:spPr bwMode="gray">
          <a:xfrm>
            <a:off x="7764406" y="221797"/>
            <a:ext cx="628649" cy="575765"/>
          </a:xfrm>
          <a:prstGeom prst="rect">
            <a:avLst/>
          </a:prstGeom>
        </p:spPr>
        <p:txBody>
          <a:bodyPr vert="horz" lIns="91440" tIns="45720" rIns="91440" bIns="45720" rtlCol="0" anchor="b"/>
          <a:lstStyle>
            <a:lvl1pPr algn="ctr">
              <a:defRPr sz="2100" b="0" i="0">
                <a:solidFill>
                  <a:schemeClr val="tx1">
                    <a:tint val="75000"/>
                  </a:schemeClr>
                </a:solidFill>
              </a:defRPr>
            </a:lvl1pPr>
          </a:lstStyle>
          <a:p>
            <a:fld id="{FDFC73B9-99E2-4215-BFFB-41D628EAAE91}" type="slidenum">
              <a:rPr lang="fr-FR" smtClean="0"/>
              <a:t>‹N°›</a:t>
            </a:fld>
            <a:endParaRPr lang="fr-FR"/>
          </a:p>
        </p:txBody>
      </p:sp>
    </p:spTree>
    <p:extLst>
      <p:ext uri="{BB962C8B-B14F-4D97-AF65-F5344CB8AC3E}">
        <p14:creationId xmlns:p14="http://schemas.microsoft.com/office/powerpoint/2010/main" val="284680635"/>
      </p:ext>
    </p:extLst>
  </p:cSld>
  <p:clrMap bg1="dk1" tx1="lt1" bg2="dk2" tx2="lt2" accent1="accent1" accent2="accent2" accent3="accent3" accent4="accent4" accent5="accent5" accent6="accent6" hlink="hlink" folHlink="folHlink"/>
  <p:sldLayoutIdLst>
    <p:sldLayoutId id="2147483870" r:id="rId1"/>
    <p:sldLayoutId id="2147483871" r:id="rId2"/>
    <p:sldLayoutId id="2147483872" r:id="rId3"/>
    <p:sldLayoutId id="2147483873" r:id="rId4"/>
    <p:sldLayoutId id="2147483874" r:id="rId5"/>
    <p:sldLayoutId id="2147483875" r:id="rId6"/>
    <p:sldLayoutId id="2147483876" r:id="rId7"/>
    <p:sldLayoutId id="2147483877" r:id="rId8"/>
    <p:sldLayoutId id="2147483878" r:id="rId9"/>
    <p:sldLayoutId id="2147483879" r:id="rId10"/>
    <p:sldLayoutId id="2147483880" r:id="rId11"/>
    <p:sldLayoutId id="2147483881" r:id="rId12"/>
    <p:sldLayoutId id="2147483882" r:id="rId13"/>
    <p:sldLayoutId id="2147483883" r:id="rId14"/>
    <p:sldLayoutId id="2147483884" r:id="rId15"/>
    <p:sldLayoutId id="2147483885" r:id="rId16"/>
    <p:sldLayoutId id="2147483886" r:id="rId17"/>
    <p:sldLayoutId id="2147483887" r:id="rId18"/>
    <p:sldLayoutId id="2147483888" r:id="rId19"/>
    <p:sldLayoutId id="2147483889" r:id="rId20"/>
    <p:sldLayoutId id="2147483890" r:id="rId21"/>
    <p:sldLayoutId id="2147483891" r:id="rId22"/>
    <p:sldLayoutId id="2147483892" r:id="rId23"/>
  </p:sldLayoutIdLst>
  <p:hf sldNum="0" hdr="0" ftr="0" dt="0"/>
  <p:txStyles>
    <p:title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lumMod val="60000"/>
            <a:lumOff val="40000"/>
          </a:schemeClr>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accent1">
            <a:lumMod val="60000"/>
            <a:lumOff val="40000"/>
          </a:schemeClr>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accent1">
            <a:lumMod val="60000"/>
            <a:lumOff val="40000"/>
          </a:schemeClr>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accent1">
            <a:lumMod val="60000"/>
            <a:lumOff val="40000"/>
          </a:schemeClr>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accent1">
            <a:lumMod val="60000"/>
            <a:lumOff val="40000"/>
          </a:schemeClr>
        </a:buClr>
        <a:buSzPct val="80000"/>
        <a:buFont typeface="Wingdings 3" charset="2"/>
        <a:buChar char=""/>
        <a:defRPr sz="1050" b="0" i="0" kern="1200">
          <a:solidFill>
            <a:schemeClr val="tx1"/>
          </a:solidFill>
          <a:latin typeface="+mj-lt"/>
          <a:ea typeface="+mj-ea"/>
          <a:cs typeface="+mj-cs"/>
        </a:defRPr>
      </a:lvl5pPr>
      <a:lvl6pPr marL="1885950" indent="-171450" algn="l" defTabSz="342900" rtl="0" eaLnBrk="1" latinLnBrk="0" hangingPunct="1">
        <a:spcBef>
          <a:spcPts val="750"/>
        </a:spcBef>
        <a:spcAft>
          <a:spcPts val="0"/>
        </a:spcAft>
        <a:buClr>
          <a:schemeClr val="accent1">
            <a:lumMod val="60000"/>
            <a:lumOff val="40000"/>
          </a:schemeClr>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accent1">
            <a:lumMod val="60000"/>
            <a:lumOff val="40000"/>
          </a:schemeClr>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accent1">
            <a:lumMod val="60000"/>
            <a:lumOff val="40000"/>
          </a:schemeClr>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accent1">
            <a:lumMod val="60000"/>
            <a:lumOff val="40000"/>
          </a:schemeClr>
        </a:buClr>
        <a:buSzPct val="80000"/>
        <a:buFont typeface="Wingdings 3" charset="2"/>
        <a:buChar char=""/>
        <a:defRPr sz="1050" b="0" i="0" kern="1200">
          <a:solidFill>
            <a:schemeClr val="tx1"/>
          </a:solidFill>
          <a:latin typeface="+mj-lt"/>
          <a:ea typeface="+mj-ea"/>
          <a:cs typeface="+mj-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230;p1">
            <a:extLst>
              <a:ext uri="{FF2B5EF4-FFF2-40B4-BE49-F238E27FC236}">
                <a16:creationId xmlns:a16="http://schemas.microsoft.com/office/drawing/2014/main" id="{8143BD02-2199-C829-09F1-537A4EF1840C}"/>
              </a:ext>
            </a:extLst>
          </p:cNvPr>
          <p:cNvSpPr txBox="1">
            <a:spLocks/>
          </p:cNvSpPr>
          <p:nvPr/>
        </p:nvSpPr>
        <p:spPr>
          <a:xfrm>
            <a:off x="606721" y="733734"/>
            <a:ext cx="7930558" cy="2532488"/>
          </a:xfrm>
          <a:prstGeom prst="rect">
            <a:avLst/>
          </a:prstGeom>
          <a:noFill/>
          <a:ln>
            <a:noFill/>
          </a:ln>
        </p:spPr>
        <p:txBody>
          <a:bodyPr spcFirstLastPara="1" vert="horz" wrap="square" lIns="91425" tIns="91425" rIns="91425" bIns="91425" rtlCol="0" anchor="ctr" anchorCtr="0">
            <a:noAutofit/>
          </a:bodyPr>
          <a:lst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lnSpc>
                <a:spcPct val="80000"/>
              </a:lnSpc>
              <a:spcBef>
                <a:spcPts val="0"/>
              </a:spcBef>
              <a:buSzPts val="5200"/>
            </a:pPr>
            <a:r>
              <a:rPr lang="fr-FR" sz="3600" b="1" kern="0" dirty="0">
                <a:solidFill>
                  <a:srgbClr val="FFFFFF"/>
                </a:solidFill>
                <a:latin typeface="Arial" panose="020B0604020202020204" pitchFamily="34" charset="0"/>
                <a:cs typeface="Arial" panose="020B0604020202020204" pitchFamily="34" charset="0"/>
                <a:sym typeface="Space Grotesk"/>
              </a:rPr>
              <a:t>Analyse du Marché</a:t>
            </a:r>
          </a:p>
          <a:p>
            <a:pPr algn="ctr">
              <a:lnSpc>
                <a:spcPct val="80000"/>
              </a:lnSpc>
              <a:spcBef>
                <a:spcPts val="0"/>
              </a:spcBef>
              <a:buSzPts val="5200"/>
            </a:pPr>
            <a:br>
              <a:rPr lang="fr-FR" sz="2000" b="1" kern="0" dirty="0">
                <a:solidFill>
                  <a:srgbClr val="FFFFFF"/>
                </a:solidFill>
                <a:latin typeface="Arial" panose="020B0604020202020204" pitchFamily="34" charset="0"/>
                <a:cs typeface="Arial" panose="020B0604020202020204" pitchFamily="34" charset="0"/>
                <a:sym typeface="Space Grotesk"/>
              </a:rPr>
            </a:br>
            <a:r>
              <a:rPr lang="fr-FR" sz="2000" b="1" kern="0" dirty="0">
                <a:solidFill>
                  <a:srgbClr val="FFFFFF"/>
                </a:solidFill>
                <a:latin typeface="Arial" panose="020B0604020202020204" pitchFamily="34" charset="0"/>
                <a:cs typeface="Arial" panose="020B0604020202020204" pitchFamily="34" charset="0"/>
                <a:sym typeface="Space Grotesk"/>
              </a:rPr>
              <a:t>Projet Jeu Vidéo Triple A</a:t>
            </a:r>
            <a:br>
              <a:rPr lang="fr-FR" sz="2000" b="1" kern="0" dirty="0">
                <a:solidFill>
                  <a:srgbClr val="FFFFFF"/>
                </a:solidFill>
                <a:latin typeface="Arial" panose="020B0604020202020204" pitchFamily="34" charset="0"/>
                <a:cs typeface="Arial" panose="020B0604020202020204" pitchFamily="34" charset="0"/>
                <a:sym typeface="Space Grotesk"/>
              </a:rPr>
            </a:br>
            <a:endParaRPr lang="fr-FR" sz="2000" b="1" dirty="0">
              <a:latin typeface="Arial" panose="020B0604020202020204" pitchFamily="34" charset="0"/>
              <a:cs typeface="Arial" panose="020B0604020202020204" pitchFamily="34" charset="0"/>
            </a:endParaRPr>
          </a:p>
        </p:txBody>
      </p:sp>
      <p:sp>
        <p:nvSpPr>
          <p:cNvPr id="6" name="Google Shape;2231;p1">
            <a:extLst>
              <a:ext uri="{FF2B5EF4-FFF2-40B4-BE49-F238E27FC236}">
                <a16:creationId xmlns:a16="http://schemas.microsoft.com/office/drawing/2014/main" id="{0E380557-988A-FFB6-DB96-510E04D7CE17}"/>
              </a:ext>
            </a:extLst>
          </p:cNvPr>
          <p:cNvSpPr txBox="1">
            <a:spLocks/>
          </p:cNvSpPr>
          <p:nvPr/>
        </p:nvSpPr>
        <p:spPr>
          <a:xfrm>
            <a:off x="3675407" y="2652248"/>
            <a:ext cx="1729714" cy="551540"/>
          </a:xfrm>
          <a:prstGeom prst="rect">
            <a:avLst/>
          </a:prstGeom>
          <a:solidFill>
            <a:srgbClr val="590000"/>
          </a:solidFill>
          <a:ln w="9525" cap="flat" cmpd="sng">
            <a:solidFill>
              <a:schemeClr val="dk1"/>
            </a:solidFill>
            <a:prstDash val="solid"/>
            <a:round/>
            <a:headEnd type="none" w="sm" len="sm"/>
            <a:tailEnd type="none" w="sm" len="sm"/>
          </a:ln>
        </p:spPr>
        <p:txBody>
          <a:bodyPr spcFirstLastPara="1" vert="horz" wrap="square" lIns="91425" tIns="91425" rIns="91425" bIns="91425" rtlCol="0" anchor="t" anchorCtr="0">
            <a:noAutofit/>
          </a:bodyPr>
          <a:lstStyle>
            <a:lvl1pPr marL="257175" indent="-257175" algn="l" defTabSz="342900" rtl="0" eaLnBrk="1" latinLnBrk="0" hangingPunct="1">
              <a:spcBef>
                <a:spcPts val="750"/>
              </a:spcBef>
              <a:spcAft>
                <a:spcPts val="0"/>
              </a:spcAft>
              <a:buClr>
                <a:schemeClr val="accent1">
                  <a:lumMod val="60000"/>
                  <a:lumOff val="40000"/>
                </a:schemeClr>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accent1">
                  <a:lumMod val="60000"/>
                  <a:lumOff val="40000"/>
                </a:schemeClr>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accent1">
                  <a:lumMod val="60000"/>
                  <a:lumOff val="40000"/>
                </a:schemeClr>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accent1">
                  <a:lumMod val="60000"/>
                  <a:lumOff val="40000"/>
                </a:schemeClr>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accent1">
                  <a:lumMod val="60000"/>
                  <a:lumOff val="40000"/>
                </a:schemeClr>
              </a:buClr>
              <a:buSzPct val="80000"/>
              <a:buFont typeface="Wingdings 3" charset="2"/>
              <a:buChar char=""/>
              <a:defRPr sz="1050" b="0" i="0" kern="1200">
                <a:solidFill>
                  <a:schemeClr val="tx1"/>
                </a:solidFill>
                <a:latin typeface="+mj-lt"/>
                <a:ea typeface="+mj-ea"/>
                <a:cs typeface="+mj-cs"/>
              </a:defRPr>
            </a:lvl5pPr>
            <a:lvl6pPr marL="1885950" indent="-171450" algn="l" defTabSz="342900" rtl="0" eaLnBrk="1" latinLnBrk="0" hangingPunct="1">
              <a:spcBef>
                <a:spcPts val="750"/>
              </a:spcBef>
              <a:spcAft>
                <a:spcPts val="0"/>
              </a:spcAft>
              <a:buClr>
                <a:schemeClr val="accent1">
                  <a:lumMod val="60000"/>
                  <a:lumOff val="40000"/>
                </a:schemeClr>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accent1">
                  <a:lumMod val="60000"/>
                  <a:lumOff val="40000"/>
                </a:schemeClr>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accent1">
                  <a:lumMod val="60000"/>
                  <a:lumOff val="40000"/>
                </a:schemeClr>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accent1">
                  <a:lumMod val="60000"/>
                  <a:lumOff val="40000"/>
                </a:schemeClr>
              </a:buClr>
              <a:buSzPct val="80000"/>
              <a:buFont typeface="Wingdings 3" charset="2"/>
              <a:buChar char=""/>
              <a:defRPr sz="1050" b="0" i="0" kern="1200">
                <a:solidFill>
                  <a:schemeClr val="tx1"/>
                </a:solidFill>
                <a:latin typeface="+mj-lt"/>
                <a:ea typeface="+mj-ea"/>
                <a:cs typeface="+mj-cs"/>
              </a:defRPr>
            </a:lvl9pPr>
          </a:lstStyle>
          <a:p>
            <a:pPr marL="0" indent="0" algn="ctr">
              <a:buNone/>
            </a:pPr>
            <a:r>
              <a:rPr lang="fr-FR" b="1" dirty="0">
                <a:latin typeface="Arial" panose="020B0604020202020204" pitchFamily="34" charset="0"/>
                <a:cs typeface="Arial" panose="020B0604020202020204" pitchFamily="34" charset="0"/>
              </a:rPr>
              <a:t>UOI GAMES</a:t>
            </a:r>
          </a:p>
        </p:txBody>
      </p:sp>
      <p:sp>
        <p:nvSpPr>
          <p:cNvPr id="7" name="Rectangle 6">
            <a:extLst>
              <a:ext uri="{FF2B5EF4-FFF2-40B4-BE49-F238E27FC236}">
                <a16:creationId xmlns:a16="http://schemas.microsoft.com/office/drawing/2014/main" id="{78EB182F-9DA2-F654-790F-F873EFD84FA2}"/>
              </a:ext>
            </a:extLst>
          </p:cNvPr>
          <p:cNvSpPr/>
          <p:nvPr/>
        </p:nvSpPr>
        <p:spPr>
          <a:xfrm>
            <a:off x="680463" y="3849327"/>
            <a:ext cx="2785408" cy="560439"/>
          </a:xfrm>
          <a:prstGeom prst="rect">
            <a:avLst/>
          </a:prstGeom>
          <a:solidFill>
            <a:schemeClr val="accent1">
              <a:lumMod val="5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600" b="1" dirty="0">
                <a:latin typeface="Arial" panose="020B0604020202020204" pitchFamily="34" charset="0"/>
                <a:cs typeface="Arial" panose="020B0604020202020204" pitchFamily="34" charset="0"/>
              </a:rPr>
              <a:t>KAMOUNE</a:t>
            </a:r>
            <a:r>
              <a:rPr lang="fr-FR" dirty="0">
                <a:latin typeface="Arial" panose="020B0604020202020204" pitchFamily="34" charset="0"/>
                <a:cs typeface="Arial" panose="020B0604020202020204" pitchFamily="34" charset="0"/>
              </a:rPr>
              <a:t> </a:t>
            </a:r>
            <a:r>
              <a:rPr lang="fr-FR" sz="1600" b="1" dirty="0">
                <a:latin typeface="Arial" panose="020B0604020202020204" pitchFamily="34" charset="0"/>
                <a:cs typeface="Arial" panose="020B0604020202020204" pitchFamily="34" charset="0"/>
              </a:rPr>
              <a:t>Assia</a:t>
            </a:r>
            <a:r>
              <a:rPr lang="fr-FR" dirty="0">
                <a:latin typeface="Arial" panose="020B0604020202020204" pitchFamily="34" charset="0"/>
                <a:cs typeface="Arial" panose="020B0604020202020204" pitchFamily="34" charset="0"/>
              </a:rPr>
              <a:t> </a:t>
            </a:r>
          </a:p>
        </p:txBody>
      </p:sp>
      <p:sp>
        <p:nvSpPr>
          <p:cNvPr id="8" name="Rectangle 7">
            <a:extLst>
              <a:ext uri="{FF2B5EF4-FFF2-40B4-BE49-F238E27FC236}">
                <a16:creationId xmlns:a16="http://schemas.microsoft.com/office/drawing/2014/main" id="{38C1D738-E268-FA12-3BF3-A0EA4D5AA0DD}"/>
              </a:ext>
            </a:extLst>
          </p:cNvPr>
          <p:cNvSpPr/>
          <p:nvPr/>
        </p:nvSpPr>
        <p:spPr>
          <a:xfrm>
            <a:off x="5323747" y="3812455"/>
            <a:ext cx="2785408" cy="560439"/>
          </a:xfrm>
          <a:prstGeom prst="rect">
            <a:avLst/>
          </a:prstGeom>
          <a:solidFill>
            <a:schemeClr val="accent1">
              <a:lumMod val="5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600" b="1" dirty="0">
                <a:latin typeface="Arial" panose="020B0604020202020204" pitchFamily="34" charset="0"/>
                <a:cs typeface="Arial" panose="020B0604020202020204" pitchFamily="34" charset="0"/>
              </a:rPr>
              <a:t>07/04/2026</a:t>
            </a:r>
            <a:r>
              <a:rPr lang="fr-FR"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8149698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35"/>
        <p:cNvGrpSpPr/>
        <p:nvPr/>
      </p:nvGrpSpPr>
      <p:grpSpPr>
        <a:xfrm>
          <a:off x="0" y="0"/>
          <a:ext cx="0" cy="0"/>
          <a:chOff x="0" y="0"/>
          <a:chExt cx="0" cy="0"/>
        </a:xfrm>
      </p:grpSpPr>
      <p:sp>
        <p:nvSpPr>
          <p:cNvPr id="2237" name="Google Shape;2237;p2"/>
          <p:cNvSpPr txBox="1">
            <a:spLocks noGrp="1"/>
          </p:cNvSpPr>
          <p:nvPr>
            <p:ph type="title"/>
          </p:nvPr>
        </p:nvSpPr>
        <p:spPr>
          <a:xfrm>
            <a:off x="1543678" y="1162827"/>
            <a:ext cx="2574300" cy="527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400"/>
              <a:buNone/>
            </a:pPr>
            <a:r>
              <a:rPr lang="en" sz="1600" b="1" dirty="0">
                <a:latin typeface="Arial" panose="020B0604020202020204" pitchFamily="34" charset="0"/>
                <a:cs typeface="Arial" panose="020B0604020202020204" pitchFamily="34" charset="0"/>
              </a:rPr>
              <a:t>Le contexte</a:t>
            </a:r>
            <a:endParaRPr sz="1600" b="1" dirty="0">
              <a:latin typeface="Arial" panose="020B0604020202020204" pitchFamily="34" charset="0"/>
              <a:cs typeface="Arial" panose="020B0604020202020204" pitchFamily="34" charset="0"/>
            </a:endParaRPr>
          </a:p>
        </p:txBody>
      </p:sp>
      <p:sp>
        <p:nvSpPr>
          <p:cNvPr id="2238" name="Google Shape;2238;p2"/>
          <p:cNvSpPr txBox="1">
            <a:spLocks noGrp="1"/>
          </p:cNvSpPr>
          <p:nvPr>
            <p:ph type="title" idx="2"/>
          </p:nvPr>
        </p:nvSpPr>
        <p:spPr>
          <a:xfrm>
            <a:off x="730301" y="1157457"/>
            <a:ext cx="7761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000"/>
              <a:buNone/>
            </a:pPr>
            <a:r>
              <a:rPr lang="en" dirty="0">
                <a:latin typeface="Arial" panose="020B0604020202020204" pitchFamily="34" charset="0"/>
                <a:cs typeface="Arial" panose="020B0604020202020204" pitchFamily="34" charset="0"/>
              </a:rPr>
              <a:t>01</a:t>
            </a:r>
            <a:endParaRPr dirty="0">
              <a:latin typeface="Arial" panose="020B0604020202020204" pitchFamily="34" charset="0"/>
              <a:cs typeface="Arial" panose="020B0604020202020204" pitchFamily="34" charset="0"/>
            </a:endParaRPr>
          </a:p>
        </p:txBody>
      </p:sp>
      <p:sp>
        <p:nvSpPr>
          <p:cNvPr id="2239" name="Google Shape;2239;p2"/>
          <p:cNvSpPr txBox="1">
            <a:spLocks noGrp="1"/>
          </p:cNvSpPr>
          <p:nvPr>
            <p:ph type="title" idx="3"/>
          </p:nvPr>
        </p:nvSpPr>
        <p:spPr>
          <a:xfrm>
            <a:off x="1543678" y="2051429"/>
            <a:ext cx="2684094" cy="572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400"/>
              <a:buNone/>
            </a:pPr>
            <a:r>
              <a:rPr lang="en" sz="1600" b="1" dirty="0">
                <a:latin typeface="Arial" panose="020B0604020202020204" pitchFamily="34" charset="0"/>
                <a:cs typeface="Arial" panose="020B0604020202020204" pitchFamily="34" charset="0"/>
              </a:rPr>
              <a:t>Analyses des tendances actuelles</a:t>
            </a:r>
            <a:endParaRPr sz="1600" b="1" dirty="0">
              <a:latin typeface="Arial" panose="020B0604020202020204" pitchFamily="34" charset="0"/>
              <a:cs typeface="Arial" panose="020B0604020202020204" pitchFamily="34" charset="0"/>
            </a:endParaRPr>
          </a:p>
        </p:txBody>
      </p:sp>
      <p:sp>
        <p:nvSpPr>
          <p:cNvPr id="2240" name="Google Shape;2240;p2"/>
          <p:cNvSpPr txBox="1">
            <a:spLocks noGrp="1"/>
          </p:cNvSpPr>
          <p:nvPr>
            <p:ph type="title" idx="4"/>
          </p:nvPr>
        </p:nvSpPr>
        <p:spPr>
          <a:xfrm>
            <a:off x="730301" y="2013505"/>
            <a:ext cx="7761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000"/>
              <a:buNone/>
            </a:pPr>
            <a:r>
              <a:rPr lang="en">
                <a:latin typeface="Arial" panose="020B0604020202020204" pitchFamily="34" charset="0"/>
                <a:cs typeface="Arial" panose="020B0604020202020204" pitchFamily="34" charset="0"/>
              </a:rPr>
              <a:t>03</a:t>
            </a:r>
            <a:endParaRPr dirty="0">
              <a:latin typeface="Arial" panose="020B0604020202020204" pitchFamily="34" charset="0"/>
              <a:cs typeface="Arial" panose="020B0604020202020204" pitchFamily="34" charset="0"/>
            </a:endParaRPr>
          </a:p>
        </p:txBody>
      </p:sp>
      <p:sp>
        <p:nvSpPr>
          <p:cNvPr id="2241" name="Google Shape;2241;p2"/>
          <p:cNvSpPr txBox="1">
            <a:spLocks noGrp="1"/>
          </p:cNvSpPr>
          <p:nvPr>
            <p:ph type="title" idx="6"/>
          </p:nvPr>
        </p:nvSpPr>
        <p:spPr>
          <a:xfrm>
            <a:off x="5150155" y="1101165"/>
            <a:ext cx="2859523" cy="527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400"/>
              <a:buNone/>
            </a:pPr>
            <a:r>
              <a:rPr lang="en" sz="1600" b="1" dirty="0">
                <a:latin typeface="Arial" panose="020B0604020202020204" pitchFamily="34" charset="0"/>
                <a:cs typeface="Arial" panose="020B0604020202020204" pitchFamily="34" charset="0"/>
              </a:rPr>
              <a:t>La matrice SWOT/PESTEL</a:t>
            </a:r>
            <a:endParaRPr sz="1600" b="1" dirty="0">
              <a:latin typeface="Arial" panose="020B0604020202020204" pitchFamily="34" charset="0"/>
              <a:cs typeface="Arial" panose="020B0604020202020204" pitchFamily="34" charset="0"/>
            </a:endParaRPr>
          </a:p>
        </p:txBody>
      </p:sp>
      <p:sp>
        <p:nvSpPr>
          <p:cNvPr id="2242" name="Google Shape;2242;p2"/>
          <p:cNvSpPr txBox="1">
            <a:spLocks noGrp="1"/>
          </p:cNvSpPr>
          <p:nvPr>
            <p:ph type="title" idx="7"/>
          </p:nvPr>
        </p:nvSpPr>
        <p:spPr>
          <a:xfrm>
            <a:off x="4276711" y="1157457"/>
            <a:ext cx="7764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000"/>
              <a:buNone/>
            </a:pPr>
            <a:r>
              <a:rPr lang="en" dirty="0">
                <a:latin typeface="Arial" panose="020B0604020202020204" pitchFamily="34" charset="0"/>
                <a:cs typeface="Arial" panose="020B0604020202020204" pitchFamily="34" charset="0"/>
              </a:rPr>
              <a:t>02</a:t>
            </a:r>
            <a:endParaRPr dirty="0">
              <a:latin typeface="Arial" panose="020B0604020202020204" pitchFamily="34" charset="0"/>
              <a:cs typeface="Arial" panose="020B0604020202020204" pitchFamily="34" charset="0"/>
            </a:endParaRPr>
          </a:p>
        </p:txBody>
      </p:sp>
      <p:sp>
        <p:nvSpPr>
          <p:cNvPr id="2244" name="Google Shape;2244;p2"/>
          <p:cNvSpPr txBox="1">
            <a:spLocks noGrp="1"/>
          </p:cNvSpPr>
          <p:nvPr>
            <p:ph type="title" idx="9"/>
          </p:nvPr>
        </p:nvSpPr>
        <p:spPr>
          <a:xfrm>
            <a:off x="4281949" y="2013505"/>
            <a:ext cx="7764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000"/>
              <a:buNone/>
            </a:pPr>
            <a:r>
              <a:rPr lang="en" dirty="0">
                <a:latin typeface="Arial" panose="020B0604020202020204" pitchFamily="34" charset="0"/>
                <a:cs typeface="Arial" panose="020B0604020202020204" pitchFamily="34" charset="0"/>
              </a:rPr>
              <a:t>04</a:t>
            </a:r>
            <a:endParaRPr dirty="0">
              <a:latin typeface="Arial" panose="020B0604020202020204" pitchFamily="34" charset="0"/>
              <a:cs typeface="Arial" panose="020B0604020202020204" pitchFamily="34" charset="0"/>
            </a:endParaRPr>
          </a:p>
        </p:txBody>
      </p:sp>
      <p:sp>
        <p:nvSpPr>
          <p:cNvPr id="2243" name="Google Shape;2243;p2"/>
          <p:cNvSpPr txBox="1">
            <a:spLocks noGrp="1"/>
          </p:cNvSpPr>
          <p:nvPr>
            <p:ph type="title" idx="13"/>
          </p:nvPr>
        </p:nvSpPr>
        <p:spPr>
          <a:xfrm>
            <a:off x="5166290" y="2865033"/>
            <a:ext cx="2778830" cy="527701"/>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400"/>
              <a:buNone/>
            </a:pPr>
            <a:r>
              <a:rPr lang="en" sz="1600" b="1" dirty="0">
                <a:latin typeface="Arial" panose="020B0604020202020204" pitchFamily="34" charset="0"/>
                <a:cs typeface="Arial" panose="020B0604020202020204" pitchFamily="34" charset="0"/>
              </a:rPr>
              <a:t>Les futures tendances et perspectives</a:t>
            </a:r>
            <a:endParaRPr sz="1600" b="1" dirty="0">
              <a:latin typeface="Arial" panose="020B0604020202020204" pitchFamily="34" charset="0"/>
              <a:cs typeface="Arial" panose="020B0604020202020204" pitchFamily="34" charset="0"/>
            </a:endParaRPr>
          </a:p>
        </p:txBody>
      </p:sp>
      <p:sp>
        <p:nvSpPr>
          <p:cNvPr id="2236" name="Google Shape;2236;p2"/>
          <p:cNvSpPr txBox="1">
            <a:spLocks noGrp="1"/>
          </p:cNvSpPr>
          <p:nvPr>
            <p:ph type="title" idx="15"/>
          </p:nvPr>
        </p:nvSpPr>
        <p:spPr>
          <a:xfrm>
            <a:off x="409468" y="301841"/>
            <a:ext cx="76803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300"/>
              <a:buNone/>
            </a:pPr>
            <a:r>
              <a:rPr lang="en" b="1" dirty="0">
                <a:latin typeface="Arial" panose="020B0604020202020204" pitchFamily="34" charset="0"/>
                <a:ea typeface="Space Grotesk Light"/>
                <a:cs typeface="Arial" panose="020B0604020202020204" pitchFamily="34" charset="0"/>
                <a:sym typeface="Space Grotesk Light"/>
              </a:rPr>
              <a:t>Sommaire</a:t>
            </a:r>
            <a:endParaRPr b="1" dirty="0">
              <a:latin typeface="Arial" panose="020B0604020202020204" pitchFamily="34" charset="0"/>
              <a:ea typeface="Space Grotesk"/>
              <a:cs typeface="Arial" panose="020B0604020202020204" pitchFamily="34" charset="0"/>
              <a:sym typeface="Space Grotesk"/>
            </a:endParaRPr>
          </a:p>
        </p:txBody>
      </p:sp>
      <p:sp>
        <p:nvSpPr>
          <p:cNvPr id="2245" name="Google Shape;2245;p2"/>
          <p:cNvSpPr txBox="1"/>
          <p:nvPr/>
        </p:nvSpPr>
        <p:spPr>
          <a:xfrm>
            <a:off x="1543678" y="3725601"/>
            <a:ext cx="2574300" cy="5277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lt1"/>
              </a:buClr>
              <a:buSzPts val="2400"/>
              <a:buFont typeface="Space Grotesk"/>
              <a:buNone/>
            </a:pPr>
            <a:r>
              <a:rPr lang="en" sz="1600" b="1" i="0" u="none" strike="noStrike" cap="none" dirty="0">
                <a:latin typeface="Arial" panose="020B0604020202020204" pitchFamily="34" charset="0"/>
                <a:ea typeface="Space Grotesk Medium"/>
                <a:cs typeface="Arial" panose="020B0604020202020204" pitchFamily="34" charset="0"/>
                <a:sym typeface="Space Grotesk Medium"/>
              </a:rPr>
              <a:t>Tests des hypothèses</a:t>
            </a:r>
            <a:endParaRPr b="1" dirty="0">
              <a:latin typeface="Arial" panose="020B0604020202020204" pitchFamily="34" charset="0"/>
              <a:cs typeface="Arial" panose="020B0604020202020204" pitchFamily="34" charset="0"/>
            </a:endParaRPr>
          </a:p>
        </p:txBody>
      </p:sp>
      <p:sp>
        <p:nvSpPr>
          <p:cNvPr id="2246" name="Google Shape;2246;p2"/>
          <p:cNvSpPr txBox="1"/>
          <p:nvPr/>
        </p:nvSpPr>
        <p:spPr>
          <a:xfrm>
            <a:off x="734462" y="3725601"/>
            <a:ext cx="7761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lt1"/>
              </a:buClr>
              <a:buSzPts val="3000"/>
              <a:buFont typeface="Space Grotesk"/>
              <a:buNone/>
            </a:pPr>
            <a:r>
              <a:rPr lang="en" sz="3300" b="1" i="0" u="none" strike="noStrike" cap="none" dirty="0">
                <a:latin typeface="Arial" panose="020B0604020202020204" pitchFamily="34" charset="0"/>
                <a:ea typeface="Space Grotesk"/>
                <a:cs typeface="Arial" panose="020B0604020202020204" pitchFamily="34" charset="0"/>
                <a:sym typeface="Space Grotesk"/>
              </a:rPr>
              <a:t>07</a:t>
            </a:r>
            <a:endParaRPr b="1" dirty="0">
              <a:latin typeface="Arial" panose="020B0604020202020204" pitchFamily="34" charset="0"/>
              <a:cs typeface="Arial" panose="020B0604020202020204" pitchFamily="34" charset="0"/>
            </a:endParaRPr>
          </a:p>
        </p:txBody>
      </p:sp>
      <p:sp>
        <p:nvSpPr>
          <p:cNvPr id="2247" name="Google Shape;2247;p2"/>
          <p:cNvSpPr txBox="1"/>
          <p:nvPr/>
        </p:nvSpPr>
        <p:spPr>
          <a:xfrm>
            <a:off x="3555999" y="4504639"/>
            <a:ext cx="4030133" cy="46492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lt1"/>
              </a:buClr>
              <a:buSzPts val="2400"/>
              <a:buFont typeface="Space Grotesk"/>
              <a:buNone/>
            </a:pPr>
            <a:r>
              <a:rPr lang="en" sz="1600" b="1" i="0" u="none" strike="noStrike" cap="none" dirty="0">
                <a:latin typeface="Arial" panose="020B0604020202020204" pitchFamily="34" charset="0"/>
                <a:ea typeface="Space Grotesk Medium"/>
                <a:cs typeface="Arial" panose="020B0604020202020204" pitchFamily="34" charset="0"/>
                <a:sym typeface="Space Grotesk Medium"/>
              </a:rPr>
              <a:t>Recommandations stratégiques</a:t>
            </a:r>
            <a:endParaRPr b="1" dirty="0">
              <a:latin typeface="Arial" panose="020B0604020202020204" pitchFamily="34" charset="0"/>
              <a:cs typeface="Arial" panose="020B0604020202020204" pitchFamily="34" charset="0"/>
            </a:endParaRPr>
          </a:p>
        </p:txBody>
      </p:sp>
      <p:sp>
        <p:nvSpPr>
          <p:cNvPr id="2248" name="Google Shape;2248;p2"/>
          <p:cNvSpPr txBox="1"/>
          <p:nvPr/>
        </p:nvSpPr>
        <p:spPr>
          <a:xfrm>
            <a:off x="4276711" y="2865033"/>
            <a:ext cx="7764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lt1"/>
              </a:buClr>
              <a:buSzPts val="3000"/>
              <a:buFont typeface="Space Grotesk"/>
              <a:buNone/>
            </a:pPr>
            <a:r>
              <a:rPr lang="en" sz="3300" b="1" i="0" u="none" strike="noStrike" cap="none" dirty="0">
                <a:latin typeface="Arial" panose="020B0604020202020204" pitchFamily="34" charset="0"/>
                <a:ea typeface="Space Grotesk"/>
                <a:cs typeface="Arial" panose="020B0604020202020204" pitchFamily="34" charset="0"/>
                <a:sym typeface="Space Grotesk"/>
              </a:rPr>
              <a:t>06</a:t>
            </a:r>
            <a:endParaRPr b="1" dirty="0">
              <a:latin typeface="Arial" panose="020B0604020202020204" pitchFamily="34" charset="0"/>
              <a:cs typeface="Arial" panose="020B0604020202020204" pitchFamily="34" charset="0"/>
            </a:endParaRPr>
          </a:p>
        </p:txBody>
      </p:sp>
      <p:sp>
        <p:nvSpPr>
          <p:cNvPr id="3" name="ZoneTexte 2">
            <a:extLst>
              <a:ext uri="{FF2B5EF4-FFF2-40B4-BE49-F238E27FC236}">
                <a16:creationId xmlns:a16="http://schemas.microsoft.com/office/drawing/2014/main" id="{B9656170-630C-E950-DFA9-040278918838}"/>
              </a:ext>
            </a:extLst>
          </p:cNvPr>
          <p:cNvSpPr txBox="1"/>
          <p:nvPr/>
        </p:nvSpPr>
        <p:spPr>
          <a:xfrm>
            <a:off x="5166290" y="2108078"/>
            <a:ext cx="2897152" cy="338554"/>
          </a:xfrm>
          <a:prstGeom prst="rect">
            <a:avLst/>
          </a:prstGeom>
          <a:noFill/>
        </p:spPr>
        <p:txBody>
          <a:bodyPr wrap="square">
            <a:spAutoFit/>
          </a:bodyPr>
          <a:lstStyle/>
          <a:p>
            <a:r>
              <a:rPr lang="en" sz="1600" b="1" dirty="0">
                <a:latin typeface="Arial" panose="020B0604020202020204" pitchFamily="34" charset="0"/>
                <a:cs typeface="Arial" panose="020B0604020202020204" pitchFamily="34" charset="0"/>
              </a:rPr>
              <a:t>Les hypothèses de l’étude</a:t>
            </a:r>
            <a:endParaRPr lang="fr-FR" sz="1600" b="1" dirty="0">
              <a:latin typeface="Arial" panose="020B0604020202020204" pitchFamily="34" charset="0"/>
              <a:cs typeface="Arial" panose="020B0604020202020204" pitchFamily="34" charset="0"/>
            </a:endParaRPr>
          </a:p>
        </p:txBody>
      </p:sp>
      <p:sp>
        <p:nvSpPr>
          <p:cNvPr id="4" name="Google Shape;2246;p2">
            <a:extLst>
              <a:ext uri="{FF2B5EF4-FFF2-40B4-BE49-F238E27FC236}">
                <a16:creationId xmlns:a16="http://schemas.microsoft.com/office/drawing/2014/main" id="{A6E5D789-E265-4E28-FE81-93A898A6399E}"/>
              </a:ext>
            </a:extLst>
          </p:cNvPr>
          <p:cNvSpPr txBox="1"/>
          <p:nvPr/>
        </p:nvSpPr>
        <p:spPr>
          <a:xfrm>
            <a:off x="730301" y="2870487"/>
            <a:ext cx="7761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lt1"/>
              </a:buClr>
              <a:buSzPts val="3000"/>
              <a:buFont typeface="Space Grotesk"/>
              <a:buNone/>
            </a:pPr>
            <a:r>
              <a:rPr lang="en" sz="3300" b="1" i="0" u="none" strike="noStrike" cap="none" dirty="0">
                <a:latin typeface="Arial" panose="020B0604020202020204" pitchFamily="34" charset="0"/>
                <a:ea typeface="Space Grotesk"/>
                <a:cs typeface="Arial" panose="020B0604020202020204" pitchFamily="34" charset="0"/>
                <a:sym typeface="Space Grotesk"/>
              </a:rPr>
              <a:t>05</a:t>
            </a:r>
            <a:endParaRPr b="1" dirty="0">
              <a:latin typeface="Arial" panose="020B0604020202020204" pitchFamily="34" charset="0"/>
              <a:cs typeface="Arial" panose="020B0604020202020204" pitchFamily="34" charset="0"/>
            </a:endParaRPr>
          </a:p>
        </p:txBody>
      </p:sp>
      <p:sp>
        <p:nvSpPr>
          <p:cNvPr id="5" name="Google Shape;2245;p2">
            <a:extLst>
              <a:ext uri="{FF2B5EF4-FFF2-40B4-BE49-F238E27FC236}">
                <a16:creationId xmlns:a16="http://schemas.microsoft.com/office/drawing/2014/main" id="{2D8A348E-1C4A-ACC5-4359-9284D97F2377}"/>
              </a:ext>
            </a:extLst>
          </p:cNvPr>
          <p:cNvSpPr txBox="1"/>
          <p:nvPr/>
        </p:nvSpPr>
        <p:spPr>
          <a:xfrm>
            <a:off x="1570766" y="2918210"/>
            <a:ext cx="2520123" cy="547013"/>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lt1"/>
              </a:buClr>
              <a:buSzPts val="2400"/>
              <a:buFont typeface="Space Grotesk"/>
              <a:buNone/>
            </a:pPr>
            <a:r>
              <a:rPr lang="en" sz="1600" b="1" i="0" u="none" strike="noStrike" cap="none" dirty="0">
                <a:latin typeface="Arial" panose="020B0604020202020204" pitchFamily="34" charset="0"/>
                <a:ea typeface="Space Grotesk Medium"/>
                <a:cs typeface="Arial" panose="020B0604020202020204" pitchFamily="34" charset="0"/>
                <a:sym typeface="Space Grotesk Medium"/>
              </a:rPr>
              <a:t>Analyses du questionnaire</a:t>
            </a:r>
            <a:endParaRPr b="1" dirty="0">
              <a:latin typeface="Arial" panose="020B0604020202020204" pitchFamily="34" charset="0"/>
              <a:cs typeface="Arial" panose="020B0604020202020204" pitchFamily="34" charset="0"/>
            </a:endParaRPr>
          </a:p>
        </p:txBody>
      </p:sp>
      <p:sp>
        <p:nvSpPr>
          <p:cNvPr id="6" name="Google Shape;2245;p2">
            <a:extLst>
              <a:ext uri="{FF2B5EF4-FFF2-40B4-BE49-F238E27FC236}">
                <a16:creationId xmlns:a16="http://schemas.microsoft.com/office/drawing/2014/main" id="{BA3078C2-6717-C77F-3C8F-DBF1FB05652E}"/>
              </a:ext>
            </a:extLst>
          </p:cNvPr>
          <p:cNvSpPr txBox="1"/>
          <p:nvPr/>
        </p:nvSpPr>
        <p:spPr>
          <a:xfrm>
            <a:off x="5112526" y="3725601"/>
            <a:ext cx="2710674" cy="527701"/>
          </a:xfrm>
          <a:prstGeom prst="rect">
            <a:avLst/>
          </a:prstGeom>
          <a:noFill/>
          <a:ln>
            <a:noFill/>
          </a:ln>
        </p:spPr>
        <p:txBody>
          <a:bodyPr spcFirstLastPara="1" wrap="square" lIns="91425" tIns="91425" rIns="91425" bIns="91425" anchor="b" anchorCtr="0">
            <a:noAutofit/>
          </a:bodyPr>
          <a:lstStyle/>
          <a:p>
            <a:pPr lvl="0">
              <a:buClr>
                <a:schemeClr val="lt1"/>
              </a:buClr>
              <a:buSzPts val="2400"/>
            </a:pPr>
            <a:r>
              <a:rPr lang="en" sz="1600" b="1" i="0" u="none" strike="noStrike" cap="none" dirty="0">
                <a:latin typeface="Arial" panose="020B0604020202020204" pitchFamily="34" charset="0"/>
                <a:ea typeface="Space Grotesk Medium"/>
                <a:cs typeface="Arial" panose="020B0604020202020204" pitchFamily="34" charset="0"/>
                <a:sym typeface="Space Grotesk Medium"/>
              </a:rPr>
              <a:t>Analyse du segment</a:t>
            </a:r>
            <a:endParaRPr b="1" dirty="0">
              <a:latin typeface="Arial" panose="020B0604020202020204" pitchFamily="34" charset="0"/>
              <a:cs typeface="Arial" panose="020B0604020202020204" pitchFamily="34" charset="0"/>
            </a:endParaRPr>
          </a:p>
        </p:txBody>
      </p:sp>
      <p:sp>
        <p:nvSpPr>
          <p:cNvPr id="7" name="Google Shape;2248;p2">
            <a:extLst>
              <a:ext uri="{FF2B5EF4-FFF2-40B4-BE49-F238E27FC236}">
                <a16:creationId xmlns:a16="http://schemas.microsoft.com/office/drawing/2014/main" id="{6F9FE68F-FCE8-70BC-C0CD-50A7D913F84B}"/>
              </a:ext>
            </a:extLst>
          </p:cNvPr>
          <p:cNvSpPr txBox="1"/>
          <p:nvPr/>
        </p:nvSpPr>
        <p:spPr>
          <a:xfrm>
            <a:off x="4249618" y="3716561"/>
            <a:ext cx="7764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lt1"/>
              </a:buClr>
              <a:buSzPts val="3000"/>
              <a:buFont typeface="Space Grotesk"/>
              <a:buNone/>
            </a:pPr>
            <a:r>
              <a:rPr lang="en" sz="3300" b="1" i="0" u="none" strike="noStrike" cap="none" dirty="0">
                <a:latin typeface="Arial" panose="020B0604020202020204" pitchFamily="34" charset="0"/>
                <a:ea typeface="Space Grotesk"/>
                <a:cs typeface="Arial" panose="020B0604020202020204" pitchFamily="34" charset="0"/>
                <a:sym typeface="Space Grotesk"/>
              </a:rPr>
              <a:t>08</a:t>
            </a:r>
            <a:endParaRPr b="1" dirty="0">
              <a:latin typeface="Arial" panose="020B0604020202020204" pitchFamily="34" charset="0"/>
              <a:cs typeface="Arial" panose="020B0604020202020204" pitchFamily="34" charset="0"/>
            </a:endParaRPr>
          </a:p>
        </p:txBody>
      </p:sp>
      <p:sp>
        <p:nvSpPr>
          <p:cNvPr id="8" name="Google Shape;2248;p2">
            <a:extLst>
              <a:ext uri="{FF2B5EF4-FFF2-40B4-BE49-F238E27FC236}">
                <a16:creationId xmlns:a16="http://schemas.microsoft.com/office/drawing/2014/main" id="{A612923C-A41D-7EDC-D9FC-418E6096EB28}"/>
              </a:ext>
            </a:extLst>
          </p:cNvPr>
          <p:cNvSpPr txBox="1"/>
          <p:nvPr/>
        </p:nvSpPr>
        <p:spPr>
          <a:xfrm>
            <a:off x="2722231" y="4468247"/>
            <a:ext cx="7764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lt1"/>
              </a:buClr>
              <a:buSzPts val="3000"/>
              <a:buFont typeface="Space Grotesk"/>
              <a:buNone/>
            </a:pPr>
            <a:r>
              <a:rPr lang="en" sz="3300" b="1" i="0" u="none" strike="noStrike" cap="none" dirty="0">
                <a:latin typeface="Arial" panose="020B0604020202020204" pitchFamily="34" charset="0"/>
                <a:ea typeface="Space Grotesk"/>
                <a:cs typeface="Arial" panose="020B0604020202020204" pitchFamily="34" charset="0"/>
                <a:sym typeface="Space Grotesk"/>
              </a:rPr>
              <a:t>09</a:t>
            </a:r>
            <a:endParaRPr b="1" dirty="0">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58"/>
        <p:cNvGrpSpPr/>
        <p:nvPr/>
      </p:nvGrpSpPr>
      <p:grpSpPr>
        <a:xfrm>
          <a:off x="0" y="0"/>
          <a:ext cx="0" cy="0"/>
          <a:chOff x="0" y="0"/>
          <a:chExt cx="0" cy="0"/>
        </a:xfrm>
      </p:grpSpPr>
      <p:sp>
        <p:nvSpPr>
          <p:cNvPr id="2259" name="Google Shape;2259;p4"/>
          <p:cNvSpPr txBox="1">
            <a:spLocks noGrp="1"/>
          </p:cNvSpPr>
          <p:nvPr>
            <p:ph type="title"/>
          </p:nvPr>
        </p:nvSpPr>
        <p:spPr>
          <a:xfrm>
            <a:off x="4422987" y="1593575"/>
            <a:ext cx="4025238" cy="97817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200"/>
              <a:buNone/>
            </a:pPr>
            <a:r>
              <a:rPr lang="en" b="1" dirty="0">
                <a:latin typeface="Arial" panose="020B0604020202020204" pitchFamily="34" charset="0"/>
                <a:cs typeface="Arial" panose="020B0604020202020204" pitchFamily="34" charset="0"/>
              </a:rPr>
              <a:t>Le contexte</a:t>
            </a:r>
            <a:endParaRPr b="1" dirty="0">
              <a:latin typeface="Arial" panose="020B0604020202020204" pitchFamily="34" charset="0"/>
              <a:cs typeface="Arial" panose="020B0604020202020204" pitchFamily="34" charset="0"/>
            </a:endParaRPr>
          </a:p>
        </p:txBody>
      </p:sp>
      <p:sp>
        <p:nvSpPr>
          <p:cNvPr id="2260" name="Google Shape;2260;p4"/>
          <p:cNvSpPr txBox="1">
            <a:spLocks noGrp="1"/>
          </p:cNvSpPr>
          <p:nvPr>
            <p:ph type="title" idx="2"/>
          </p:nvPr>
        </p:nvSpPr>
        <p:spPr>
          <a:xfrm>
            <a:off x="3377826" y="1593575"/>
            <a:ext cx="984202" cy="978175"/>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2000"/>
              <a:buNone/>
            </a:pPr>
            <a:r>
              <a:rPr lang="en" sz="4800" dirty="0">
                <a:latin typeface="Arial" panose="020B0604020202020204" pitchFamily="34" charset="0"/>
                <a:cs typeface="Arial" panose="020B0604020202020204" pitchFamily="34" charset="0"/>
              </a:rPr>
              <a:t>01</a:t>
            </a:r>
            <a:endParaRPr sz="4800" dirty="0">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52"/>
        <p:cNvGrpSpPr/>
        <p:nvPr/>
      </p:nvGrpSpPr>
      <p:grpSpPr>
        <a:xfrm>
          <a:off x="0" y="0"/>
          <a:ext cx="0" cy="0"/>
          <a:chOff x="0" y="0"/>
          <a:chExt cx="0" cy="0"/>
        </a:xfrm>
      </p:grpSpPr>
      <p:sp>
        <p:nvSpPr>
          <p:cNvPr id="2254" name="Google Shape;2254;p3"/>
          <p:cNvSpPr txBox="1">
            <a:spLocks noGrp="1"/>
          </p:cNvSpPr>
          <p:nvPr>
            <p:ph type="title"/>
          </p:nvPr>
        </p:nvSpPr>
        <p:spPr>
          <a:xfrm>
            <a:off x="592666" y="812869"/>
            <a:ext cx="7958668" cy="3517762"/>
          </a:xfrm>
          <a:prstGeom prst="rect">
            <a:avLst/>
          </a:prstGeom>
          <a:noFill/>
          <a:ln>
            <a:noFill/>
          </a:ln>
        </p:spPr>
        <p:txBody>
          <a:bodyPr spcFirstLastPara="1" wrap="square" lIns="91425" tIns="91425" rIns="91425" bIns="91425" anchor="t" anchorCtr="0">
            <a:noAutofit/>
          </a:bodyPr>
          <a:lstStyle/>
          <a:p>
            <a:r>
              <a:rPr lang="fr-FR" sz="1600" b="1" dirty="0">
                <a:solidFill>
                  <a:schemeClr val="accent4"/>
                </a:solidFill>
                <a:latin typeface="Arial" panose="020B0604020202020204" pitchFamily="34" charset="0"/>
                <a:cs typeface="Arial" panose="020B0604020202020204" pitchFamily="34" charset="0"/>
              </a:rPr>
              <a:t>L'entreprise :</a:t>
            </a:r>
            <a:r>
              <a:rPr lang="fr-FR" sz="1600" dirty="0">
                <a:solidFill>
                  <a:schemeClr val="accent4"/>
                </a:solidFill>
                <a:latin typeface="Arial" panose="020B0604020202020204" pitchFamily="34" charset="0"/>
                <a:cs typeface="Arial" panose="020B0604020202020204" pitchFamily="34" charset="0"/>
              </a:rPr>
              <a:t> </a:t>
            </a:r>
            <a:r>
              <a:rPr lang="fr-FR" sz="1600" dirty="0">
                <a:latin typeface="Arial" panose="020B0604020202020204" pitchFamily="34" charset="0"/>
                <a:cs typeface="Arial" panose="020B0604020202020204" pitchFamily="34" charset="0"/>
              </a:rPr>
              <a:t>UOI Games est un acteur spécialisé dans l'industrie du jeu vidéo. Forte de son expertise, l'entreprise souhaite aujourd'hui franchir un cap stratégique majeur : le développement et le lancement de son premier </a:t>
            </a:r>
            <a:r>
              <a:rPr lang="fr-FR" sz="1600" b="1" dirty="0">
                <a:latin typeface="Arial" panose="020B0604020202020204" pitchFamily="34" charset="0"/>
                <a:cs typeface="Arial" panose="020B0604020202020204" pitchFamily="34" charset="0"/>
              </a:rPr>
              <a:t>jeu vidéo Triple A (AAA)</a:t>
            </a:r>
            <a:r>
              <a:rPr lang="fr-FR" sz="1600" dirty="0">
                <a:latin typeface="Arial" panose="020B0604020202020204" pitchFamily="34" charset="0"/>
                <a:cs typeface="Arial" panose="020B0604020202020204" pitchFamily="34" charset="0"/>
              </a:rPr>
              <a:t>.</a:t>
            </a:r>
            <a:br>
              <a:rPr lang="fr-FR" sz="1600" dirty="0">
                <a:latin typeface="Arial" panose="020B0604020202020204" pitchFamily="34" charset="0"/>
                <a:cs typeface="Arial" panose="020B0604020202020204" pitchFamily="34" charset="0"/>
              </a:rPr>
            </a:br>
            <a:br>
              <a:rPr lang="fr-FR" sz="1600" dirty="0">
                <a:latin typeface="Arial" panose="020B0604020202020204" pitchFamily="34" charset="0"/>
                <a:cs typeface="Arial" panose="020B0604020202020204" pitchFamily="34" charset="0"/>
              </a:rPr>
            </a:br>
            <a:r>
              <a:rPr lang="fr-FR" sz="1600" b="1" dirty="0">
                <a:solidFill>
                  <a:schemeClr val="accent4"/>
                </a:solidFill>
                <a:latin typeface="Arial" panose="020B0604020202020204" pitchFamily="34" charset="0"/>
                <a:cs typeface="Arial" panose="020B0604020202020204" pitchFamily="34" charset="0"/>
              </a:rPr>
              <a:t>L'enjeu du projet "Triple A" :</a:t>
            </a:r>
            <a:r>
              <a:rPr lang="fr-FR" sz="1600" dirty="0">
                <a:latin typeface="Arial" panose="020B0604020202020204" pitchFamily="34" charset="0"/>
                <a:cs typeface="Arial" panose="020B0604020202020204" pitchFamily="34" charset="0"/>
              </a:rPr>
              <a:t> Dans l'industrie, un projet Triple A représente le haut de gamme :</a:t>
            </a:r>
            <a:br>
              <a:rPr lang="fr-FR" sz="1600" dirty="0">
                <a:latin typeface="Arial" panose="020B0604020202020204" pitchFamily="34" charset="0"/>
                <a:cs typeface="Arial" panose="020B0604020202020204" pitchFamily="34" charset="0"/>
              </a:rPr>
            </a:br>
            <a:br>
              <a:rPr lang="fr-FR" sz="1600" dirty="0">
                <a:latin typeface="Arial" panose="020B0604020202020204" pitchFamily="34" charset="0"/>
                <a:cs typeface="Arial" panose="020B0604020202020204" pitchFamily="34" charset="0"/>
              </a:rPr>
            </a:br>
            <a:r>
              <a:rPr lang="fr-FR" sz="1600" b="1" dirty="0">
                <a:solidFill>
                  <a:schemeClr val="accent4"/>
                </a:solidFill>
                <a:latin typeface="Arial" panose="020B0604020202020204" pitchFamily="34" charset="0"/>
                <a:cs typeface="Arial" panose="020B0604020202020204" pitchFamily="34" charset="0"/>
              </a:rPr>
              <a:t>Investissements massifs :</a:t>
            </a:r>
            <a:r>
              <a:rPr lang="fr-FR" sz="1600" dirty="0">
                <a:solidFill>
                  <a:schemeClr val="accent4"/>
                </a:solidFill>
                <a:latin typeface="Arial" panose="020B0604020202020204" pitchFamily="34" charset="0"/>
                <a:cs typeface="Arial" panose="020B0604020202020204" pitchFamily="34" charset="0"/>
              </a:rPr>
              <a:t> </a:t>
            </a:r>
            <a:r>
              <a:rPr lang="fr-FR" sz="1600" dirty="0">
                <a:latin typeface="Arial" panose="020B0604020202020204" pitchFamily="34" charset="0"/>
                <a:cs typeface="Arial" panose="020B0604020202020204" pitchFamily="34" charset="0"/>
              </a:rPr>
              <a:t>Budgets de développement et de marketing s'élevant à plusieurs dizaines (voire centaines) de millions d'euros.</a:t>
            </a:r>
            <a:br>
              <a:rPr lang="fr-FR" sz="1600" dirty="0">
                <a:latin typeface="Arial" panose="020B0604020202020204" pitchFamily="34" charset="0"/>
                <a:cs typeface="Arial" panose="020B0604020202020204" pitchFamily="34" charset="0"/>
              </a:rPr>
            </a:br>
            <a:br>
              <a:rPr lang="fr-FR" sz="1600" dirty="0">
                <a:latin typeface="Arial" panose="020B0604020202020204" pitchFamily="34" charset="0"/>
                <a:cs typeface="Arial" panose="020B0604020202020204" pitchFamily="34" charset="0"/>
              </a:rPr>
            </a:br>
            <a:r>
              <a:rPr lang="fr-FR" sz="1600" b="1" dirty="0">
                <a:solidFill>
                  <a:schemeClr val="accent4"/>
                </a:solidFill>
                <a:latin typeface="Arial" panose="020B0604020202020204" pitchFamily="34" charset="0"/>
                <a:cs typeface="Arial" panose="020B0604020202020204" pitchFamily="34" charset="0"/>
              </a:rPr>
              <a:t>Équipes multidisciplinaires :</a:t>
            </a:r>
            <a:r>
              <a:rPr lang="fr-FR" sz="1600" dirty="0">
                <a:solidFill>
                  <a:schemeClr val="accent4"/>
                </a:solidFill>
                <a:latin typeface="Arial" panose="020B0604020202020204" pitchFamily="34" charset="0"/>
                <a:cs typeface="Arial" panose="020B0604020202020204" pitchFamily="34" charset="0"/>
              </a:rPr>
              <a:t> </a:t>
            </a:r>
            <a:r>
              <a:rPr lang="fr-FR" sz="1600" dirty="0">
                <a:latin typeface="Arial" panose="020B0604020202020204" pitchFamily="34" charset="0"/>
                <a:cs typeface="Arial" panose="020B0604020202020204" pitchFamily="34" charset="0"/>
              </a:rPr>
              <a:t>Intervention coordonnée de développeurs, designers, scénaristes, testeurs, et experts en communication.</a:t>
            </a:r>
            <a:br>
              <a:rPr lang="fr-FR" sz="1600" dirty="0">
                <a:latin typeface="Arial" panose="020B0604020202020204" pitchFamily="34" charset="0"/>
                <a:cs typeface="Arial" panose="020B0604020202020204" pitchFamily="34" charset="0"/>
              </a:rPr>
            </a:br>
            <a:br>
              <a:rPr lang="fr-FR" sz="1600" dirty="0">
                <a:latin typeface="Arial" panose="020B0604020202020204" pitchFamily="34" charset="0"/>
                <a:cs typeface="Arial" panose="020B0604020202020204" pitchFamily="34" charset="0"/>
              </a:rPr>
            </a:br>
            <a:r>
              <a:rPr lang="fr-FR" sz="1600" b="1" dirty="0">
                <a:solidFill>
                  <a:schemeClr val="accent4"/>
                </a:solidFill>
                <a:latin typeface="Arial" panose="020B0604020202020204" pitchFamily="34" charset="0"/>
                <a:cs typeface="Arial" panose="020B0604020202020204" pitchFamily="34" charset="0"/>
              </a:rPr>
              <a:t>Écosystème complexe :</a:t>
            </a:r>
            <a:r>
              <a:rPr lang="fr-FR" sz="1600" dirty="0">
                <a:solidFill>
                  <a:schemeClr val="accent4"/>
                </a:solidFill>
                <a:latin typeface="Arial" panose="020B0604020202020204" pitchFamily="34" charset="0"/>
                <a:cs typeface="Arial" panose="020B0604020202020204" pitchFamily="34" charset="0"/>
              </a:rPr>
              <a:t> </a:t>
            </a:r>
            <a:r>
              <a:rPr lang="fr-FR" sz="1600" dirty="0">
                <a:latin typeface="Arial" panose="020B0604020202020204" pitchFamily="34" charset="0"/>
                <a:cs typeface="Arial" panose="020B0604020202020204" pitchFamily="34" charset="0"/>
              </a:rPr>
              <a:t>Un jeu ne vit plus seul ; il s'accompagne de produits dérivés, de séries, d'influenceurs et de communautés actives.</a:t>
            </a:r>
          </a:p>
        </p:txBody>
      </p:sp>
    </p:spTree>
    <p:extLst>
      <p:ext uri="{BB962C8B-B14F-4D97-AF65-F5344CB8AC3E}">
        <p14:creationId xmlns:p14="http://schemas.microsoft.com/office/powerpoint/2010/main" val="1768160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70"/>
        <p:cNvGrpSpPr/>
        <p:nvPr/>
      </p:nvGrpSpPr>
      <p:grpSpPr>
        <a:xfrm>
          <a:off x="0" y="0"/>
          <a:ext cx="0" cy="0"/>
          <a:chOff x="0" y="0"/>
          <a:chExt cx="0" cy="0"/>
        </a:xfrm>
      </p:grpSpPr>
      <p:sp>
        <p:nvSpPr>
          <p:cNvPr id="2271" name="Google Shape;2271;p6"/>
          <p:cNvSpPr txBox="1">
            <a:spLocks noGrp="1"/>
          </p:cNvSpPr>
          <p:nvPr>
            <p:ph type="title"/>
          </p:nvPr>
        </p:nvSpPr>
        <p:spPr>
          <a:xfrm>
            <a:off x="4104640" y="1889759"/>
            <a:ext cx="3813387" cy="900853"/>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200"/>
              <a:buNone/>
            </a:pPr>
            <a:r>
              <a:rPr lang="en" sz="3400" b="1" dirty="0">
                <a:latin typeface="Arial" panose="020B0604020202020204" pitchFamily="34" charset="0"/>
                <a:cs typeface="Arial" panose="020B0604020202020204" pitchFamily="34" charset="0"/>
              </a:rPr>
              <a:t>La matrice SWOT/PESTEL</a:t>
            </a:r>
            <a:endParaRPr sz="3400" b="1" dirty="0">
              <a:latin typeface="Arial" panose="020B0604020202020204" pitchFamily="34" charset="0"/>
              <a:cs typeface="Arial" panose="020B0604020202020204" pitchFamily="34" charset="0"/>
            </a:endParaRPr>
          </a:p>
        </p:txBody>
      </p:sp>
      <p:sp>
        <p:nvSpPr>
          <p:cNvPr id="2272" name="Google Shape;2272;p6"/>
          <p:cNvSpPr txBox="1">
            <a:spLocks noGrp="1"/>
          </p:cNvSpPr>
          <p:nvPr>
            <p:ph type="title" idx="2"/>
          </p:nvPr>
        </p:nvSpPr>
        <p:spPr>
          <a:xfrm>
            <a:off x="3217333" y="1889760"/>
            <a:ext cx="887307" cy="900853"/>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2000"/>
              <a:buNone/>
            </a:pPr>
            <a:r>
              <a:rPr lang="en" sz="3600" dirty="0">
                <a:latin typeface="Arial" panose="020B0604020202020204" pitchFamily="34" charset="0"/>
                <a:cs typeface="Arial" panose="020B0604020202020204" pitchFamily="34" charset="0"/>
              </a:rPr>
              <a:t>02</a:t>
            </a:r>
            <a:endParaRPr sz="3600" dirty="0">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76"/>
        <p:cNvGrpSpPr/>
        <p:nvPr/>
      </p:nvGrpSpPr>
      <p:grpSpPr>
        <a:xfrm>
          <a:off x="0" y="0"/>
          <a:ext cx="0" cy="0"/>
          <a:chOff x="0" y="0"/>
          <a:chExt cx="0" cy="0"/>
        </a:xfrm>
      </p:grpSpPr>
      <p:sp>
        <p:nvSpPr>
          <p:cNvPr id="2278" name="Google Shape;2278;p7"/>
          <p:cNvSpPr/>
          <p:nvPr/>
        </p:nvSpPr>
        <p:spPr>
          <a:xfrm>
            <a:off x="223286" y="931689"/>
            <a:ext cx="4108851" cy="1737825"/>
          </a:xfrm>
          <a:prstGeom prst="roundRect">
            <a:avLst>
              <a:gd name="adj" fmla="val 16667"/>
            </a:avLst>
          </a:prstGeom>
          <a:solidFill>
            <a:schemeClr val="dk2"/>
          </a:solidFill>
          <a:ln w="9525"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chemeClr val="tx1"/>
              </a:buClr>
              <a:buFont typeface="Wingdings" panose="05000000000000000000" pitchFamily="2" charset="2"/>
              <a:buChar char="q"/>
            </a:pPr>
            <a:endParaRPr lang="en" sz="1200" b="0" i="0" u="none" strike="noStrike" cap="none" dirty="0">
              <a:latin typeface="Arial" panose="020B0604020202020204" pitchFamily="34" charset="0"/>
              <a:ea typeface="Arial"/>
              <a:cs typeface="Arial" panose="020B0604020202020204" pitchFamily="34" charset="0"/>
              <a:sym typeface="Arial"/>
            </a:endParaRPr>
          </a:p>
          <a:p>
            <a:pPr marR="0" lvl="0" algn="ctr" rtl="0">
              <a:lnSpc>
                <a:spcPct val="100000"/>
              </a:lnSpc>
              <a:spcBef>
                <a:spcPts val="0"/>
              </a:spcBef>
              <a:spcAft>
                <a:spcPts val="0"/>
              </a:spcAft>
              <a:buClr>
                <a:schemeClr val="tx1"/>
              </a:buClr>
            </a:pPr>
            <a:endParaRPr lang="en" sz="1600" b="1" i="0" u="none" strike="noStrike" cap="none" dirty="0">
              <a:latin typeface="Arial" panose="020B0604020202020204" pitchFamily="34" charset="0"/>
              <a:ea typeface="Arial"/>
              <a:cs typeface="Arial" panose="020B0604020202020204" pitchFamily="34" charset="0"/>
              <a:sym typeface="Arial"/>
            </a:endParaRPr>
          </a:p>
          <a:p>
            <a:pPr marR="0" lvl="0" algn="ctr" rtl="0">
              <a:lnSpc>
                <a:spcPct val="100000"/>
              </a:lnSpc>
              <a:spcBef>
                <a:spcPts val="0"/>
              </a:spcBef>
              <a:spcAft>
                <a:spcPts val="0"/>
              </a:spcAft>
              <a:buClr>
                <a:schemeClr val="tx1"/>
              </a:buClr>
            </a:pPr>
            <a:endParaRPr lang="en" sz="1600" b="1" dirty="0">
              <a:latin typeface="Arial" panose="020B0604020202020204" pitchFamily="34" charset="0"/>
              <a:ea typeface="Arial"/>
              <a:cs typeface="Arial" panose="020B0604020202020204" pitchFamily="34" charset="0"/>
              <a:sym typeface="Arial"/>
            </a:endParaRPr>
          </a:p>
          <a:p>
            <a:pPr marR="0" lvl="0" algn="ctr" rtl="0">
              <a:lnSpc>
                <a:spcPct val="100000"/>
              </a:lnSpc>
              <a:spcBef>
                <a:spcPts val="0"/>
              </a:spcBef>
              <a:spcAft>
                <a:spcPts val="0"/>
              </a:spcAft>
              <a:buClr>
                <a:schemeClr val="tx1"/>
              </a:buClr>
            </a:pPr>
            <a:r>
              <a:rPr lang="en" sz="1600" b="1" i="0" u="none" strike="noStrike" cap="none" dirty="0">
                <a:latin typeface="Arial" panose="020B0604020202020204" pitchFamily="34" charset="0"/>
                <a:ea typeface="Arial"/>
                <a:cs typeface="Arial" panose="020B0604020202020204" pitchFamily="34" charset="0"/>
                <a:sym typeface="Arial"/>
              </a:rPr>
              <a:t>Forces</a:t>
            </a:r>
            <a:endParaRPr lang="en" sz="1600" b="1" dirty="0">
              <a:latin typeface="Arial" panose="020B0604020202020204" pitchFamily="34" charset="0"/>
              <a:ea typeface="Arial"/>
              <a:cs typeface="Arial" panose="020B0604020202020204" pitchFamily="34" charset="0"/>
              <a:sym typeface="Arial"/>
            </a:endParaRPr>
          </a:p>
          <a:p>
            <a:pPr marR="0" lvl="0" algn="ctr" rtl="0">
              <a:lnSpc>
                <a:spcPct val="100000"/>
              </a:lnSpc>
              <a:spcBef>
                <a:spcPts val="0"/>
              </a:spcBef>
              <a:spcAft>
                <a:spcPts val="0"/>
              </a:spcAft>
              <a:buClr>
                <a:schemeClr val="tx1"/>
              </a:buClr>
            </a:pPr>
            <a:endParaRPr lang="en" sz="1600" b="1" i="0" u="none" strike="noStrike" cap="none" dirty="0">
              <a:latin typeface="Arial" panose="020B0604020202020204" pitchFamily="34" charset="0"/>
              <a:ea typeface="Arial"/>
              <a:cs typeface="Arial" panose="020B0604020202020204" pitchFamily="34" charset="0"/>
              <a:sym typeface="Arial"/>
            </a:endParaRPr>
          </a:p>
          <a:p>
            <a:pPr marL="285750" marR="0" lvl="0" indent="-285750" defTabSz="914400" rtl="0" eaLnBrk="1" fontAlgn="auto" latinLnBrk="0" hangingPunct="1">
              <a:lnSpc>
                <a:spcPct val="100000"/>
              </a:lnSpc>
              <a:spcBef>
                <a:spcPts val="0"/>
              </a:spcBef>
              <a:spcAft>
                <a:spcPts val="0"/>
              </a:spcAft>
              <a:buClr>
                <a:schemeClr val="tx1"/>
              </a:buClr>
              <a:buSzTx/>
              <a:buFont typeface="Wingdings" panose="05000000000000000000" pitchFamily="2" charset="2"/>
              <a:buChar char="q"/>
              <a:tabLst/>
              <a:defRPr/>
            </a:pPr>
            <a:r>
              <a:rPr kumimoji="0" lang="fr-FR" sz="1200" b="0" i="0" u="none" strike="noStrike" kern="0" cap="none" spc="0" normalizeH="0" baseline="0" noProof="0" dirty="0">
                <a:ln>
                  <a:noFill/>
                </a:ln>
                <a:effectLst/>
                <a:uLnTx/>
                <a:uFillTx/>
                <a:latin typeface="Arial" panose="020B0604020202020204" pitchFamily="34" charset="0"/>
                <a:cs typeface="Arial" panose="020B0604020202020204" pitchFamily="34" charset="0"/>
                <a:sym typeface="Arial"/>
              </a:rPr>
              <a:t>Expertise sectorielle déjà acquise.</a:t>
            </a:r>
          </a:p>
          <a:p>
            <a:pPr marL="285750" marR="0" lvl="0" indent="-285750" defTabSz="914400" rtl="0" eaLnBrk="1" fontAlgn="auto" latinLnBrk="0" hangingPunct="1">
              <a:lnSpc>
                <a:spcPct val="100000"/>
              </a:lnSpc>
              <a:spcBef>
                <a:spcPts val="0"/>
              </a:spcBef>
              <a:spcAft>
                <a:spcPts val="0"/>
              </a:spcAft>
              <a:buClr>
                <a:schemeClr val="tx1"/>
              </a:buClr>
              <a:buSzTx/>
              <a:buFont typeface="Wingdings" panose="05000000000000000000" pitchFamily="2" charset="2"/>
              <a:buChar char="q"/>
              <a:tabLst/>
              <a:defRPr/>
            </a:pPr>
            <a:endParaRPr kumimoji="0" lang="fr-FR" sz="1200" b="0" i="0" u="none" strike="noStrike" kern="0" cap="none" spc="0" normalizeH="0" baseline="0" noProof="0" dirty="0">
              <a:ln>
                <a:noFill/>
              </a:ln>
              <a:effectLst/>
              <a:uLnTx/>
              <a:uFillTx/>
              <a:latin typeface="Arial" panose="020B0604020202020204" pitchFamily="34" charset="0"/>
              <a:cs typeface="Arial" panose="020B0604020202020204" pitchFamily="34" charset="0"/>
              <a:sym typeface="Arial"/>
            </a:endParaRPr>
          </a:p>
          <a:p>
            <a:pPr marL="285750" marR="0" lvl="0" indent="-285750" defTabSz="914400" rtl="0" eaLnBrk="1" fontAlgn="auto" latinLnBrk="0" hangingPunct="1">
              <a:lnSpc>
                <a:spcPct val="100000"/>
              </a:lnSpc>
              <a:spcBef>
                <a:spcPts val="0"/>
              </a:spcBef>
              <a:spcAft>
                <a:spcPts val="0"/>
              </a:spcAft>
              <a:buClr>
                <a:schemeClr val="tx1"/>
              </a:buClr>
              <a:buSzTx/>
              <a:buFont typeface="Wingdings" panose="05000000000000000000" pitchFamily="2" charset="2"/>
              <a:buChar char="q"/>
              <a:tabLst/>
              <a:defRPr/>
            </a:pPr>
            <a:r>
              <a:rPr kumimoji="0" lang="fr-FR" sz="1200" b="0" i="0" u="none" strike="noStrike" kern="0" cap="none" spc="0" normalizeH="0" baseline="0" noProof="0" dirty="0">
                <a:ln>
                  <a:noFill/>
                </a:ln>
                <a:effectLst/>
                <a:uLnTx/>
                <a:uFillTx/>
                <a:latin typeface="Arial" panose="020B0604020202020204" pitchFamily="34" charset="0"/>
                <a:cs typeface="Arial" panose="020B0604020202020204" pitchFamily="34" charset="0"/>
                <a:sym typeface="Arial"/>
              </a:rPr>
              <a:t>Nouvelle structure donc grande agilité de décision.</a:t>
            </a:r>
          </a:p>
          <a:p>
            <a:pPr marL="285750" marR="0" lvl="0" indent="-285750" defTabSz="914400" rtl="0" eaLnBrk="1" fontAlgn="auto" latinLnBrk="0" hangingPunct="1">
              <a:lnSpc>
                <a:spcPct val="100000"/>
              </a:lnSpc>
              <a:spcBef>
                <a:spcPts val="0"/>
              </a:spcBef>
              <a:spcAft>
                <a:spcPts val="0"/>
              </a:spcAft>
              <a:buClr>
                <a:schemeClr val="tx1"/>
              </a:buClr>
              <a:buSzTx/>
              <a:buFont typeface="Wingdings" panose="05000000000000000000" pitchFamily="2" charset="2"/>
              <a:buChar char="q"/>
              <a:tabLst/>
              <a:defRPr/>
            </a:pPr>
            <a:endParaRPr kumimoji="0" lang="fr-FR" sz="1200" b="0" i="0" u="none" strike="noStrike" kern="0" cap="none" spc="0" normalizeH="0" baseline="0" noProof="0" dirty="0">
              <a:ln>
                <a:noFill/>
              </a:ln>
              <a:effectLst/>
              <a:uLnTx/>
              <a:uFillTx/>
              <a:latin typeface="Arial" panose="020B0604020202020204" pitchFamily="34" charset="0"/>
              <a:cs typeface="Arial" panose="020B0604020202020204" pitchFamily="34" charset="0"/>
              <a:sym typeface="Arial"/>
            </a:endParaRPr>
          </a:p>
          <a:p>
            <a:pPr marL="285750" marR="0" lvl="0" indent="-285750" defTabSz="914400" rtl="0" eaLnBrk="1" fontAlgn="auto" latinLnBrk="0" hangingPunct="1">
              <a:lnSpc>
                <a:spcPct val="100000"/>
              </a:lnSpc>
              <a:spcBef>
                <a:spcPts val="0"/>
              </a:spcBef>
              <a:spcAft>
                <a:spcPts val="0"/>
              </a:spcAft>
              <a:buClr>
                <a:schemeClr val="tx1"/>
              </a:buClr>
              <a:buSzTx/>
              <a:buFont typeface="Wingdings" panose="05000000000000000000" pitchFamily="2" charset="2"/>
              <a:buChar char="q"/>
              <a:tabLst/>
              <a:defRPr/>
            </a:pPr>
            <a:r>
              <a:rPr kumimoji="0" lang="fr-FR" sz="1200" b="0" i="0" u="none" strike="noStrike" kern="0" cap="none" spc="0" normalizeH="0" baseline="0" noProof="0" dirty="0">
                <a:ln>
                  <a:noFill/>
                </a:ln>
                <a:effectLst/>
                <a:uLnTx/>
                <a:uFillTx/>
                <a:latin typeface="Arial" panose="020B0604020202020204" pitchFamily="34" charset="0"/>
                <a:cs typeface="Arial" panose="020B0604020202020204" pitchFamily="34" charset="0"/>
                <a:sym typeface="Arial"/>
              </a:rPr>
              <a:t>Pas de "</a:t>
            </a:r>
            <a:r>
              <a:rPr kumimoji="0" lang="fr-FR" sz="1200" b="0" i="0" u="none" strike="noStrike" kern="0" cap="none" spc="0" normalizeH="0" baseline="0" noProof="0" dirty="0" err="1">
                <a:ln>
                  <a:noFill/>
                </a:ln>
                <a:effectLst/>
                <a:uLnTx/>
                <a:uFillTx/>
                <a:latin typeface="Arial" panose="020B0604020202020204" pitchFamily="34" charset="0"/>
                <a:cs typeface="Arial" panose="020B0604020202020204" pitchFamily="34" charset="0"/>
                <a:sym typeface="Arial"/>
              </a:rPr>
              <a:t>bad</a:t>
            </a:r>
            <a:r>
              <a:rPr kumimoji="0" lang="fr-FR" sz="1200" b="0" i="0" u="none" strike="noStrike" kern="0" cap="none" spc="0" normalizeH="0" baseline="0" noProof="0" dirty="0">
                <a:ln>
                  <a:noFill/>
                </a:ln>
                <a:effectLst/>
                <a:uLnTx/>
                <a:uFillTx/>
                <a:latin typeface="Arial" panose="020B0604020202020204" pitchFamily="34" charset="0"/>
                <a:cs typeface="Arial" panose="020B0604020202020204" pitchFamily="34" charset="0"/>
                <a:sym typeface="Arial"/>
              </a:rPr>
              <a:t> buzz" passé ou de licences vieillissantes à traîner.</a:t>
            </a:r>
            <a:endParaRPr sz="1200" b="0" i="0" u="none" strike="noStrike" cap="none" dirty="0">
              <a:latin typeface="Arial" panose="020B0604020202020204" pitchFamily="34" charset="0"/>
              <a:ea typeface="Arial"/>
              <a:cs typeface="Arial" panose="020B0604020202020204" pitchFamily="34" charset="0"/>
              <a:sym typeface="Arial"/>
            </a:endParaRPr>
          </a:p>
          <a:p>
            <a:pPr marL="285750" marR="0" lvl="0" indent="-285750" rtl="0">
              <a:lnSpc>
                <a:spcPct val="100000"/>
              </a:lnSpc>
              <a:spcBef>
                <a:spcPts val="0"/>
              </a:spcBef>
              <a:spcAft>
                <a:spcPts val="0"/>
              </a:spcAft>
              <a:buClr>
                <a:schemeClr val="tx1"/>
              </a:buClr>
              <a:buFont typeface="Wingdings" panose="05000000000000000000" pitchFamily="2" charset="2"/>
              <a:buChar char="q"/>
            </a:pPr>
            <a:endParaRPr sz="1200" dirty="0">
              <a:latin typeface="Arial" panose="020B0604020202020204" pitchFamily="34" charset="0"/>
              <a:cs typeface="Arial" panose="020B0604020202020204" pitchFamily="34" charset="0"/>
            </a:endParaRPr>
          </a:p>
          <a:p>
            <a:pPr marL="285750" marR="0" lvl="0" indent="-285750" rtl="0">
              <a:lnSpc>
                <a:spcPct val="100000"/>
              </a:lnSpc>
              <a:spcBef>
                <a:spcPts val="0"/>
              </a:spcBef>
              <a:spcAft>
                <a:spcPts val="0"/>
              </a:spcAft>
              <a:buClr>
                <a:schemeClr val="tx1"/>
              </a:buClr>
              <a:buFont typeface="Wingdings" panose="05000000000000000000" pitchFamily="2" charset="2"/>
              <a:buChar char="q"/>
            </a:pPr>
            <a:endParaRPr sz="1200" b="0" i="0" u="none" strike="noStrike" cap="none" dirty="0">
              <a:latin typeface="Arial" panose="020B0604020202020204" pitchFamily="34" charset="0"/>
              <a:ea typeface="Arial"/>
              <a:cs typeface="Arial" panose="020B0604020202020204" pitchFamily="34" charset="0"/>
              <a:sym typeface="Arial"/>
            </a:endParaRPr>
          </a:p>
          <a:p>
            <a:pPr marL="285750" marR="0" lvl="0" indent="-285750" rtl="0">
              <a:lnSpc>
                <a:spcPct val="100000"/>
              </a:lnSpc>
              <a:spcBef>
                <a:spcPts val="0"/>
              </a:spcBef>
              <a:spcAft>
                <a:spcPts val="0"/>
              </a:spcAft>
              <a:buClr>
                <a:schemeClr val="tx1"/>
              </a:buClr>
              <a:buFont typeface="Wingdings" panose="05000000000000000000" pitchFamily="2" charset="2"/>
              <a:buChar char="q"/>
            </a:pPr>
            <a:endParaRPr sz="1200" b="0" i="0" u="none" strike="noStrike" cap="none" dirty="0">
              <a:latin typeface="Arial" panose="020B0604020202020204" pitchFamily="34" charset="0"/>
              <a:ea typeface="Arial"/>
              <a:cs typeface="Arial" panose="020B0604020202020204" pitchFamily="34" charset="0"/>
              <a:sym typeface="Arial"/>
            </a:endParaRPr>
          </a:p>
        </p:txBody>
      </p:sp>
      <p:sp>
        <p:nvSpPr>
          <p:cNvPr id="2279" name="Google Shape;2279;p7"/>
          <p:cNvSpPr/>
          <p:nvPr/>
        </p:nvSpPr>
        <p:spPr>
          <a:xfrm>
            <a:off x="4650117" y="931689"/>
            <a:ext cx="4295717" cy="1731720"/>
          </a:xfrm>
          <a:prstGeom prst="roundRect">
            <a:avLst>
              <a:gd name="adj" fmla="val 16667"/>
            </a:avLst>
          </a:prstGeom>
          <a:solidFill>
            <a:schemeClr val="dk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rtl="0">
              <a:lnSpc>
                <a:spcPct val="100000"/>
              </a:lnSpc>
              <a:spcBef>
                <a:spcPts val="0"/>
              </a:spcBef>
              <a:spcAft>
                <a:spcPts val="0"/>
              </a:spcAft>
              <a:buNone/>
            </a:pPr>
            <a:endParaRPr lang="en" sz="1200" b="0" i="0" u="none" strike="noStrike" cap="none" dirty="0">
              <a:latin typeface="Arial" panose="020B0604020202020204" pitchFamily="34" charset="0"/>
              <a:ea typeface="Arial"/>
              <a:cs typeface="Arial" panose="020B0604020202020204" pitchFamily="34" charset="0"/>
              <a:sym typeface="Arial"/>
            </a:endParaRPr>
          </a:p>
          <a:p>
            <a:pPr marL="0" marR="0" lvl="0" indent="0" rtl="0">
              <a:lnSpc>
                <a:spcPct val="100000"/>
              </a:lnSpc>
              <a:spcBef>
                <a:spcPts val="0"/>
              </a:spcBef>
              <a:spcAft>
                <a:spcPts val="0"/>
              </a:spcAft>
              <a:buNone/>
            </a:pPr>
            <a:endParaRPr lang="en" sz="1200" dirty="0">
              <a:latin typeface="Arial" panose="020B0604020202020204" pitchFamily="34" charset="0"/>
              <a:cs typeface="Arial" panose="020B0604020202020204" pitchFamily="34" charset="0"/>
            </a:endParaRPr>
          </a:p>
          <a:p>
            <a:pPr marL="0" marR="0" lvl="0" indent="0" rtl="0">
              <a:lnSpc>
                <a:spcPct val="100000"/>
              </a:lnSpc>
              <a:spcBef>
                <a:spcPts val="0"/>
              </a:spcBef>
              <a:spcAft>
                <a:spcPts val="0"/>
              </a:spcAft>
              <a:buNone/>
            </a:pPr>
            <a:endParaRPr lang="en" sz="1200" b="0" i="0" u="none" strike="noStrike" cap="none" dirty="0">
              <a:latin typeface="Arial" panose="020B0604020202020204" pitchFamily="34" charset="0"/>
              <a:ea typeface="Arial"/>
              <a:cs typeface="Arial" panose="020B0604020202020204" pitchFamily="34" charset="0"/>
              <a:sym typeface="Arial"/>
            </a:endParaRPr>
          </a:p>
          <a:p>
            <a:pPr marL="0" marR="0" lvl="0" indent="0" rtl="0">
              <a:lnSpc>
                <a:spcPct val="100000"/>
              </a:lnSpc>
              <a:spcBef>
                <a:spcPts val="0"/>
              </a:spcBef>
              <a:spcAft>
                <a:spcPts val="0"/>
              </a:spcAft>
              <a:buNone/>
            </a:pPr>
            <a:endParaRPr lang="en" sz="1200" dirty="0">
              <a:latin typeface="Arial" panose="020B0604020202020204" pitchFamily="34" charset="0"/>
              <a:cs typeface="Arial" panose="020B0604020202020204" pitchFamily="34" charset="0"/>
            </a:endParaRPr>
          </a:p>
          <a:p>
            <a:pPr marL="0" marR="0" lvl="0" indent="0" algn="ctr" rtl="0">
              <a:lnSpc>
                <a:spcPct val="100000"/>
              </a:lnSpc>
              <a:spcBef>
                <a:spcPts val="0"/>
              </a:spcBef>
              <a:spcAft>
                <a:spcPts val="0"/>
              </a:spcAft>
              <a:buNone/>
            </a:pPr>
            <a:r>
              <a:rPr lang="en" sz="1600" b="1" i="0" u="none" strike="noStrike" cap="none" dirty="0">
                <a:latin typeface="Arial" panose="020B0604020202020204" pitchFamily="34" charset="0"/>
                <a:ea typeface="Arial"/>
                <a:cs typeface="Arial" panose="020B0604020202020204" pitchFamily="34" charset="0"/>
                <a:sym typeface="Arial"/>
              </a:rPr>
              <a:t>Faiblesses</a:t>
            </a:r>
          </a:p>
          <a:p>
            <a:pPr marL="171450" indent="-171450">
              <a:buClr>
                <a:schemeClr val="tx1"/>
              </a:buClr>
              <a:buFont typeface="Wingdings" panose="05000000000000000000" pitchFamily="2" charset="2"/>
              <a:buChar char="q"/>
            </a:pPr>
            <a:r>
              <a:rPr lang="fr-FR" sz="1200" dirty="0">
                <a:latin typeface="Arial" panose="020B0604020202020204" pitchFamily="34" charset="0"/>
                <a:cs typeface="Arial" panose="020B0604020202020204" pitchFamily="34" charset="0"/>
              </a:rPr>
              <a:t>C'est un premier Triple A : manque d'expérience sur des projets de cette envergure.</a:t>
            </a:r>
          </a:p>
          <a:p>
            <a:pPr marL="171450" indent="-171450">
              <a:buClr>
                <a:schemeClr val="tx1"/>
              </a:buClr>
              <a:buFont typeface="Wingdings" panose="05000000000000000000" pitchFamily="2" charset="2"/>
              <a:buChar char="q"/>
            </a:pPr>
            <a:endParaRPr lang="fr-FR" sz="1200" dirty="0">
              <a:latin typeface="Arial" panose="020B0604020202020204" pitchFamily="34" charset="0"/>
              <a:cs typeface="Arial" panose="020B0604020202020204" pitchFamily="34" charset="0"/>
            </a:endParaRPr>
          </a:p>
          <a:p>
            <a:pPr marL="171450" indent="-171450">
              <a:buClr>
                <a:schemeClr val="tx1"/>
              </a:buClr>
              <a:buFont typeface="Wingdings" panose="05000000000000000000" pitchFamily="2" charset="2"/>
              <a:buChar char="q"/>
            </a:pPr>
            <a:r>
              <a:rPr lang="fr-FR" sz="1200" dirty="0">
                <a:latin typeface="Arial" panose="020B0604020202020204" pitchFamily="34" charset="0"/>
                <a:cs typeface="Arial" panose="020B0604020202020204" pitchFamily="34" charset="0"/>
              </a:rPr>
              <a:t>Notoriété de marque encore faible face à des géants comme Ubisoft ou Sony.</a:t>
            </a:r>
          </a:p>
          <a:p>
            <a:pPr>
              <a:buClr>
                <a:schemeClr val="tx1"/>
              </a:buClr>
            </a:pPr>
            <a:endParaRPr lang="fr-FR" sz="1200" dirty="0">
              <a:latin typeface="Arial" panose="020B0604020202020204" pitchFamily="34" charset="0"/>
              <a:cs typeface="Arial" panose="020B0604020202020204" pitchFamily="34" charset="0"/>
            </a:endParaRPr>
          </a:p>
          <a:p>
            <a:pPr marL="171450" indent="-171450" algn="ctr">
              <a:buClr>
                <a:schemeClr val="tx1"/>
              </a:buClr>
              <a:buFont typeface="Wingdings" panose="05000000000000000000" pitchFamily="2" charset="2"/>
              <a:buChar char="q"/>
            </a:pPr>
            <a:r>
              <a:rPr lang="fr-FR" sz="1200" dirty="0">
                <a:latin typeface="Arial" panose="020B0604020202020204" pitchFamily="34" charset="0"/>
                <a:cs typeface="Arial" panose="020B0604020202020204" pitchFamily="34" charset="0"/>
              </a:rPr>
              <a:t>Budget limité comparé aux blockbusters américains.</a:t>
            </a:r>
            <a:endParaRPr sz="1200" b="0" i="0" u="none" strike="noStrike" cap="none" dirty="0">
              <a:latin typeface="Arial" panose="020B0604020202020204" pitchFamily="34" charset="0"/>
              <a:ea typeface="Arial"/>
              <a:cs typeface="Arial" panose="020B0604020202020204" pitchFamily="34" charset="0"/>
              <a:sym typeface="Arial"/>
            </a:endParaRPr>
          </a:p>
          <a:p>
            <a:pPr marL="0" marR="0" lvl="0" indent="0" rtl="0">
              <a:lnSpc>
                <a:spcPct val="100000"/>
              </a:lnSpc>
              <a:spcBef>
                <a:spcPts val="0"/>
              </a:spcBef>
              <a:spcAft>
                <a:spcPts val="0"/>
              </a:spcAft>
              <a:buNone/>
            </a:pPr>
            <a:endParaRPr sz="1200" b="0" i="0" u="none" strike="noStrike" cap="none" dirty="0">
              <a:latin typeface="Arial" panose="020B0604020202020204" pitchFamily="34" charset="0"/>
              <a:ea typeface="Arial"/>
              <a:cs typeface="Arial" panose="020B0604020202020204" pitchFamily="34" charset="0"/>
              <a:sym typeface="Arial"/>
            </a:endParaRPr>
          </a:p>
          <a:p>
            <a:pPr marL="0" marR="0" lvl="0" indent="0" rtl="0">
              <a:lnSpc>
                <a:spcPct val="100000"/>
              </a:lnSpc>
              <a:spcBef>
                <a:spcPts val="0"/>
              </a:spcBef>
              <a:spcAft>
                <a:spcPts val="0"/>
              </a:spcAft>
              <a:buNone/>
            </a:pPr>
            <a:endParaRPr sz="1200" b="0" i="0" u="none" strike="noStrike" cap="none" dirty="0">
              <a:latin typeface="Arial" panose="020B0604020202020204" pitchFamily="34" charset="0"/>
              <a:ea typeface="Arial"/>
              <a:cs typeface="Arial" panose="020B0604020202020204" pitchFamily="34" charset="0"/>
              <a:sym typeface="Arial"/>
            </a:endParaRPr>
          </a:p>
          <a:p>
            <a:pPr marL="0" marR="0" lvl="0" indent="0" rtl="0">
              <a:lnSpc>
                <a:spcPct val="100000"/>
              </a:lnSpc>
              <a:spcBef>
                <a:spcPts val="0"/>
              </a:spcBef>
              <a:spcAft>
                <a:spcPts val="0"/>
              </a:spcAft>
              <a:buNone/>
            </a:pPr>
            <a:endParaRPr sz="1200" b="0" i="0" u="none" strike="noStrike" cap="none" dirty="0">
              <a:latin typeface="Arial" panose="020B0604020202020204" pitchFamily="34" charset="0"/>
              <a:ea typeface="Arial"/>
              <a:cs typeface="Arial" panose="020B0604020202020204" pitchFamily="34" charset="0"/>
              <a:sym typeface="Arial"/>
            </a:endParaRPr>
          </a:p>
          <a:p>
            <a:pPr marL="0" marR="0" lvl="0" indent="0" rtl="0">
              <a:lnSpc>
                <a:spcPct val="100000"/>
              </a:lnSpc>
              <a:spcBef>
                <a:spcPts val="0"/>
              </a:spcBef>
              <a:spcAft>
                <a:spcPts val="0"/>
              </a:spcAft>
              <a:buNone/>
            </a:pPr>
            <a:endParaRPr sz="1200" b="0" i="0" u="none" strike="noStrike" cap="none" dirty="0">
              <a:latin typeface="Arial" panose="020B0604020202020204" pitchFamily="34" charset="0"/>
              <a:ea typeface="Arial"/>
              <a:cs typeface="Arial" panose="020B0604020202020204" pitchFamily="34" charset="0"/>
              <a:sym typeface="Arial"/>
            </a:endParaRPr>
          </a:p>
        </p:txBody>
      </p:sp>
      <p:sp>
        <p:nvSpPr>
          <p:cNvPr id="2280" name="Google Shape;2280;p7"/>
          <p:cNvSpPr/>
          <p:nvPr/>
        </p:nvSpPr>
        <p:spPr>
          <a:xfrm>
            <a:off x="168323" y="2843919"/>
            <a:ext cx="4105811" cy="2092418"/>
          </a:xfrm>
          <a:prstGeom prst="roundRect">
            <a:avLst>
              <a:gd name="adj" fmla="val 16667"/>
            </a:avLst>
          </a:prstGeom>
          <a:solidFill>
            <a:srgbClr val="A288E2"/>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R="0" lvl="0" algn="l" rtl="0">
              <a:lnSpc>
                <a:spcPct val="100000"/>
              </a:lnSpc>
              <a:spcBef>
                <a:spcPts val="0"/>
              </a:spcBef>
              <a:spcAft>
                <a:spcPts val="0"/>
              </a:spcAft>
              <a:buClr>
                <a:schemeClr val="tx1"/>
              </a:buClr>
            </a:pPr>
            <a:endParaRPr lang="en" sz="1200" dirty="0">
              <a:latin typeface="Arial" panose="020B0604020202020204" pitchFamily="34" charset="0"/>
              <a:cs typeface="Arial" panose="020B0604020202020204" pitchFamily="34" charset="0"/>
            </a:endParaRPr>
          </a:p>
          <a:p>
            <a:pPr marR="0" lvl="0" algn="l" rtl="0">
              <a:lnSpc>
                <a:spcPct val="100000"/>
              </a:lnSpc>
              <a:spcBef>
                <a:spcPts val="0"/>
              </a:spcBef>
              <a:spcAft>
                <a:spcPts val="0"/>
              </a:spcAft>
              <a:buClr>
                <a:schemeClr val="tx1"/>
              </a:buClr>
            </a:pPr>
            <a:endParaRPr lang="en" sz="1200" dirty="0">
              <a:latin typeface="Arial" panose="020B0604020202020204" pitchFamily="34" charset="0"/>
              <a:cs typeface="Arial" panose="020B0604020202020204" pitchFamily="34" charset="0"/>
            </a:endParaRPr>
          </a:p>
          <a:p>
            <a:pPr marR="0" lvl="0" algn="ctr" rtl="0">
              <a:lnSpc>
                <a:spcPct val="100000"/>
              </a:lnSpc>
              <a:spcBef>
                <a:spcPts val="0"/>
              </a:spcBef>
              <a:spcAft>
                <a:spcPts val="0"/>
              </a:spcAft>
              <a:buClr>
                <a:schemeClr val="tx1"/>
              </a:buClr>
            </a:pPr>
            <a:r>
              <a:rPr lang="en" sz="1600" b="1" i="0" u="none" strike="noStrike" cap="none" dirty="0">
                <a:latin typeface="Arial" panose="020B0604020202020204" pitchFamily="34" charset="0"/>
                <a:ea typeface="Arial"/>
                <a:cs typeface="Arial" panose="020B0604020202020204" pitchFamily="34" charset="0"/>
                <a:sym typeface="Arial"/>
              </a:rPr>
              <a:t>Opportunités</a:t>
            </a:r>
          </a:p>
          <a:p>
            <a:pPr marR="0" lvl="0" algn="ctr" rtl="0">
              <a:lnSpc>
                <a:spcPct val="100000"/>
              </a:lnSpc>
              <a:spcBef>
                <a:spcPts val="0"/>
              </a:spcBef>
              <a:spcAft>
                <a:spcPts val="0"/>
              </a:spcAft>
              <a:buClr>
                <a:schemeClr val="tx1"/>
              </a:buClr>
            </a:pPr>
            <a:endParaRPr sz="1600" b="1" i="0" u="none" strike="noStrike" cap="none" dirty="0">
              <a:latin typeface="Arial" panose="020B0604020202020204" pitchFamily="34" charset="0"/>
              <a:ea typeface="Arial"/>
              <a:cs typeface="Arial" panose="020B0604020202020204" pitchFamily="34" charset="0"/>
              <a:sym typeface="Arial"/>
            </a:endParaRPr>
          </a:p>
          <a:p>
            <a:pPr marL="285750" marR="0" lvl="0" indent="-285750" algn="l" rtl="0">
              <a:lnSpc>
                <a:spcPct val="100000"/>
              </a:lnSpc>
              <a:spcBef>
                <a:spcPts val="0"/>
              </a:spcBef>
              <a:spcAft>
                <a:spcPts val="0"/>
              </a:spcAft>
              <a:buClr>
                <a:schemeClr val="tx1"/>
              </a:buClr>
              <a:buFont typeface="Wingdings" panose="05000000000000000000" pitchFamily="2" charset="2"/>
              <a:buChar char="q"/>
            </a:pPr>
            <a:r>
              <a:rPr lang="fr-FR" sz="1200" b="0" i="0" u="none" strike="noStrike" cap="none" dirty="0">
                <a:latin typeface="Arial" panose="020B0604020202020204" pitchFamily="34" charset="0"/>
                <a:ea typeface="Arial"/>
                <a:cs typeface="Arial" panose="020B0604020202020204" pitchFamily="34" charset="0"/>
                <a:sym typeface="Arial"/>
              </a:rPr>
              <a:t>Forte demande pour de nouvelles licences (New IP) car les joueurs se lassent des suites</a:t>
            </a:r>
          </a:p>
          <a:p>
            <a:pPr marL="285750" marR="0" lvl="0" indent="-285750" algn="l" rtl="0">
              <a:lnSpc>
                <a:spcPct val="100000"/>
              </a:lnSpc>
              <a:spcBef>
                <a:spcPts val="0"/>
              </a:spcBef>
              <a:spcAft>
                <a:spcPts val="0"/>
              </a:spcAft>
              <a:buClr>
                <a:schemeClr val="tx1"/>
              </a:buClr>
              <a:buFont typeface="Wingdings" panose="05000000000000000000" pitchFamily="2" charset="2"/>
              <a:buChar char="q"/>
            </a:pPr>
            <a:r>
              <a:rPr lang="fr-FR" sz="1200" b="0" i="0" u="none" strike="noStrike" cap="none" dirty="0">
                <a:latin typeface="Arial" panose="020B0604020202020204" pitchFamily="34" charset="0"/>
                <a:ea typeface="Arial"/>
                <a:cs typeface="Arial" panose="020B0604020202020204" pitchFamily="34" charset="0"/>
                <a:sym typeface="Arial"/>
              </a:rPr>
              <a:t>Le marché des consoles PS5/Xbox </a:t>
            </a:r>
            <a:r>
              <a:rPr lang="fr-FR" sz="1200" b="0" i="0" u="none" strike="noStrike" cap="none" dirty="0" err="1">
                <a:latin typeface="Arial" panose="020B0604020202020204" pitchFamily="34" charset="0"/>
                <a:ea typeface="Arial"/>
                <a:cs typeface="Arial" panose="020B0604020202020204" pitchFamily="34" charset="0"/>
                <a:sym typeface="Arial"/>
              </a:rPr>
              <a:t>Series</a:t>
            </a:r>
            <a:r>
              <a:rPr lang="fr-FR" sz="1200" b="0" i="0" u="none" strike="noStrike" cap="none" dirty="0">
                <a:latin typeface="Arial" panose="020B0604020202020204" pitchFamily="34" charset="0"/>
                <a:ea typeface="Arial"/>
                <a:cs typeface="Arial" panose="020B0604020202020204" pitchFamily="34" charset="0"/>
                <a:sym typeface="Arial"/>
              </a:rPr>
              <a:t> arrive à maturité.</a:t>
            </a:r>
          </a:p>
          <a:p>
            <a:pPr marL="285750" marR="0" lvl="0" indent="-285750" algn="l" rtl="0">
              <a:lnSpc>
                <a:spcPct val="100000"/>
              </a:lnSpc>
              <a:spcBef>
                <a:spcPts val="0"/>
              </a:spcBef>
              <a:spcAft>
                <a:spcPts val="0"/>
              </a:spcAft>
              <a:buClr>
                <a:schemeClr val="tx1"/>
              </a:buClr>
              <a:buFont typeface="Wingdings" panose="05000000000000000000" pitchFamily="2" charset="2"/>
              <a:buChar char="q"/>
            </a:pPr>
            <a:r>
              <a:rPr lang="fr-FR" sz="1200" b="0" i="0" u="none" strike="noStrike" cap="none" dirty="0">
                <a:latin typeface="Arial" panose="020B0604020202020204" pitchFamily="34" charset="0"/>
                <a:ea typeface="Arial"/>
                <a:cs typeface="Arial" panose="020B0604020202020204" pitchFamily="34" charset="0"/>
                <a:sym typeface="Arial"/>
              </a:rPr>
              <a:t>Possibilité de partenariats (Netflix, Amazon Prime).</a:t>
            </a:r>
            <a:endParaRPr sz="1200" b="0" i="0" u="none" strike="noStrike" cap="none" dirty="0">
              <a:latin typeface="Arial" panose="020B0604020202020204" pitchFamily="34" charset="0"/>
              <a:ea typeface="Arial"/>
              <a:cs typeface="Arial" panose="020B0604020202020204" pitchFamily="34" charset="0"/>
              <a:sym typeface="Arial"/>
            </a:endParaRPr>
          </a:p>
          <a:p>
            <a:pPr marR="0" lvl="0" algn="l" rtl="0">
              <a:lnSpc>
                <a:spcPct val="100000"/>
              </a:lnSpc>
              <a:spcBef>
                <a:spcPts val="0"/>
              </a:spcBef>
              <a:spcAft>
                <a:spcPts val="0"/>
              </a:spcAft>
              <a:buClr>
                <a:schemeClr val="tx1"/>
              </a:buClr>
            </a:pPr>
            <a:endParaRPr sz="1200" b="0" i="0" u="none" strike="noStrike" cap="none" dirty="0">
              <a:latin typeface="Arial" panose="020B0604020202020204" pitchFamily="34" charset="0"/>
              <a:ea typeface="Arial"/>
              <a:cs typeface="Arial" panose="020B0604020202020204" pitchFamily="34" charset="0"/>
              <a:sym typeface="Arial"/>
            </a:endParaRPr>
          </a:p>
          <a:p>
            <a:pPr marL="285750" marR="0" lvl="0" indent="-285750" algn="l" rtl="0">
              <a:lnSpc>
                <a:spcPct val="100000"/>
              </a:lnSpc>
              <a:spcBef>
                <a:spcPts val="0"/>
              </a:spcBef>
              <a:spcAft>
                <a:spcPts val="0"/>
              </a:spcAft>
              <a:buClr>
                <a:schemeClr val="tx1"/>
              </a:buClr>
              <a:buFont typeface="Wingdings" panose="05000000000000000000" pitchFamily="2" charset="2"/>
              <a:buChar char="q"/>
            </a:pPr>
            <a:endParaRPr sz="1200" b="0" i="0" u="none" strike="noStrike" cap="none" dirty="0">
              <a:latin typeface="Arial" panose="020B0604020202020204" pitchFamily="34" charset="0"/>
              <a:ea typeface="Arial"/>
              <a:cs typeface="Arial" panose="020B0604020202020204" pitchFamily="34" charset="0"/>
              <a:sym typeface="Arial"/>
            </a:endParaRPr>
          </a:p>
        </p:txBody>
      </p:sp>
      <p:sp>
        <p:nvSpPr>
          <p:cNvPr id="2281" name="Google Shape;2281;p7"/>
          <p:cNvSpPr/>
          <p:nvPr/>
        </p:nvSpPr>
        <p:spPr>
          <a:xfrm>
            <a:off x="4620808" y="2843920"/>
            <a:ext cx="4325026" cy="2074444"/>
          </a:xfrm>
          <a:prstGeom prst="roundRect">
            <a:avLst>
              <a:gd name="adj" fmla="val 16667"/>
            </a:avLst>
          </a:prstGeom>
          <a:solidFill>
            <a:srgbClr val="C1B6DC"/>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lang="en" sz="1200" dirty="0">
              <a:latin typeface="Arial" panose="020B0604020202020204" pitchFamily="34" charset="0"/>
              <a:cs typeface="Arial" panose="020B0604020202020204" pitchFamily="34" charset="0"/>
            </a:endParaRPr>
          </a:p>
          <a:p>
            <a:pPr marL="0" marR="0" lvl="0" indent="0" algn="ctr" rtl="0">
              <a:lnSpc>
                <a:spcPct val="100000"/>
              </a:lnSpc>
              <a:spcBef>
                <a:spcPts val="0"/>
              </a:spcBef>
              <a:spcAft>
                <a:spcPts val="0"/>
              </a:spcAft>
              <a:buNone/>
            </a:pPr>
            <a:endParaRPr lang="en" sz="1200" b="1" dirty="0">
              <a:latin typeface="Arial" panose="020B0604020202020204" pitchFamily="34" charset="0"/>
              <a:cs typeface="Arial" panose="020B0604020202020204" pitchFamily="34" charset="0"/>
            </a:endParaRPr>
          </a:p>
          <a:p>
            <a:pPr marL="0" marR="0" lvl="0" indent="0" algn="ctr" rtl="0">
              <a:lnSpc>
                <a:spcPct val="100000"/>
              </a:lnSpc>
              <a:spcBef>
                <a:spcPts val="0"/>
              </a:spcBef>
              <a:spcAft>
                <a:spcPts val="0"/>
              </a:spcAft>
              <a:buNone/>
            </a:pPr>
            <a:endParaRPr lang="en" sz="1200" b="1" dirty="0">
              <a:latin typeface="Arial" panose="020B0604020202020204" pitchFamily="34" charset="0"/>
              <a:cs typeface="Arial" panose="020B0604020202020204" pitchFamily="34" charset="0"/>
            </a:endParaRPr>
          </a:p>
          <a:p>
            <a:pPr marL="0" marR="0" lvl="0" indent="0" algn="ctr" rtl="0">
              <a:lnSpc>
                <a:spcPct val="100000"/>
              </a:lnSpc>
              <a:spcBef>
                <a:spcPts val="0"/>
              </a:spcBef>
              <a:spcAft>
                <a:spcPts val="0"/>
              </a:spcAft>
              <a:buNone/>
            </a:pPr>
            <a:endParaRPr lang="en" sz="1200" b="1" dirty="0">
              <a:latin typeface="Arial" panose="020B0604020202020204" pitchFamily="34" charset="0"/>
              <a:cs typeface="Arial" panose="020B0604020202020204" pitchFamily="34" charset="0"/>
            </a:endParaRPr>
          </a:p>
          <a:p>
            <a:pPr marL="0" marR="0" lvl="0" indent="0" algn="ctr" rtl="0">
              <a:lnSpc>
                <a:spcPct val="100000"/>
              </a:lnSpc>
              <a:spcBef>
                <a:spcPts val="0"/>
              </a:spcBef>
              <a:spcAft>
                <a:spcPts val="0"/>
              </a:spcAft>
              <a:buNone/>
            </a:pPr>
            <a:endParaRPr lang="en" sz="1200" b="1" i="0" u="none" strike="noStrike" cap="none" dirty="0">
              <a:latin typeface="Arial" panose="020B0604020202020204" pitchFamily="34" charset="0"/>
              <a:ea typeface="Arial"/>
              <a:cs typeface="Arial" panose="020B0604020202020204" pitchFamily="34" charset="0"/>
              <a:sym typeface="Arial"/>
            </a:endParaRPr>
          </a:p>
          <a:p>
            <a:pPr marL="0" marR="0" lvl="0" indent="0" algn="ctr" rtl="0">
              <a:lnSpc>
                <a:spcPct val="100000"/>
              </a:lnSpc>
              <a:spcBef>
                <a:spcPts val="0"/>
              </a:spcBef>
              <a:spcAft>
                <a:spcPts val="0"/>
              </a:spcAft>
              <a:buNone/>
            </a:pPr>
            <a:endParaRPr lang="en" sz="1200" b="1" i="0" u="none" strike="noStrike" cap="none" dirty="0">
              <a:latin typeface="Arial" panose="020B0604020202020204" pitchFamily="34" charset="0"/>
              <a:ea typeface="Arial"/>
              <a:cs typeface="Arial" panose="020B0604020202020204" pitchFamily="34" charset="0"/>
              <a:sym typeface="Arial"/>
            </a:endParaRPr>
          </a:p>
          <a:p>
            <a:pPr marL="0" marR="0" lvl="0" indent="0" algn="ctr" rtl="0">
              <a:lnSpc>
                <a:spcPct val="100000"/>
              </a:lnSpc>
              <a:spcBef>
                <a:spcPts val="0"/>
              </a:spcBef>
              <a:spcAft>
                <a:spcPts val="0"/>
              </a:spcAft>
              <a:buNone/>
            </a:pPr>
            <a:r>
              <a:rPr lang="en" sz="1600" b="1" i="0" u="none" strike="noStrike" cap="none" dirty="0">
                <a:latin typeface="Arial" panose="020B0604020202020204" pitchFamily="34" charset="0"/>
                <a:ea typeface="Arial"/>
                <a:cs typeface="Arial" panose="020B0604020202020204" pitchFamily="34" charset="0"/>
                <a:sym typeface="Arial"/>
              </a:rPr>
              <a:t>Menaces</a:t>
            </a:r>
          </a:p>
          <a:p>
            <a:pPr marL="285750" indent="-285750">
              <a:buClr>
                <a:srgbClr val="FFFFFF"/>
              </a:buClr>
              <a:buFont typeface="Wingdings" panose="05000000000000000000" pitchFamily="2" charset="2"/>
              <a:buChar char="q"/>
            </a:pPr>
            <a:r>
              <a:rPr lang="fr-FR" sz="1200" dirty="0">
                <a:latin typeface="Arial" panose="020B0604020202020204" pitchFamily="34" charset="0"/>
                <a:cs typeface="Arial" panose="020B0604020202020204" pitchFamily="34" charset="0"/>
              </a:rPr>
              <a:t>Concurrence féroce des studios indépendants "AA" qui font des jeux de haute qualité pour moins cher.</a:t>
            </a:r>
          </a:p>
          <a:p>
            <a:pPr marL="285750" indent="-285750">
              <a:buClr>
                <a:srgbClr val="FFFFFF"/>
              </a:buClr>
              <a:buFont typeface="Wingdings" panose="05000000000000000000" pitchFamily="2" charset="2"/>
              <a:buChar char="q"/>
            </a:pPr>
            <a:endParaRPr lang="fr-FR" sz="1200" dirty="0">
              <a:latin typeface="Arial" panose="020B0604020202020204" pitchFamily="34" charset="0"/>
              <a:cs typeface="Arial" panose="020B0604020202020204" pitchFamily="34" charset="0"/>
            </a:endParaRPr>
          </a:p>
          <a:p>
            <a:pPr marL="285750" indent="-285750">
              <a:buClr>
                <a:srgbClr val="FFFFFF"/>
              </a:buClr>
              <a:buFont typeface="Wingdings" panose="05000000000000000000" pitchFamily="2" charset="2"/>
              <a:buChar char="q"/>
            </a:pPr>
            <a:r>
              <a:rPr lang="fr-FR" sz="1200" dirty="0">
                <a:latin typeface="Arial" panose="020B0604020202020204" pitchFamily="34" charset="0"/>
                <a:cs typeface="Arial" panose="020B0604020202020204" pitchFamily="34" charset="0"/>
              </a:rPr>
              <a:t>Risque de "Crunch" (surmener les équipes) qui peut détruire la réputation de l'entreprise.</a:t>
            </a:r>
          </a:p>
          <a:p>
            <a:pPr marL="285750" indent="-285750">
              <a:buClr>
                <a:srgbClr val="FFFFFF"/>
              </a:buClr>
              <a:buFont typeface="Wingdings" panose="05000000000000000000" pitchFamily="2" charset="2"/>
              <a:buChar char="q"/>
            </a:pPr>
            <a:endParaRPr lang="fr-FR" sz="1200" dirty="0">
              <a:latin typeface="Arial" panose="020B0604020202020204" pitchFamily="34" charset="0"/>
              <a:cs typeface="Arial" panose="020B0604020202020204" pitchFamily="34" charset="0"/>
            </a:endParaRPr>
          </a:p>
          <a:p>
            <a:pPr marL="285750" indent="-285750">
              <a:buClr>
                <a:srgbClr val="FFFFFF"/>
              </a:buClr>
              <a:buFont typeface="Wingdings" panose="05000000000000000000" pitchFamily="2" charset="2"/>
              <a:buChar char="q"/>
            </a:pPr>
            <a:r>
              <a:rPr lang="fr-FR" sz="1200" dirty="0">
                <a:latin typeface="Arial" panose="020B0604020202020204" pitchFamily="34" charset="0"/>
                <a:cs typeface="Arial" panose="020B0604020202020204" pitchFamily="34" charset="0"/>
              </a:rPr>
              <a:t>Saturation du temps de jeu des utilisateurs (trop de sorties en même temps).</a:t>
            </a:r>
          </a:p>
          <a:p>
            <a:pPr marL="0" marR="0" lvl="0" indent="0" rtl="0">
              <a:lnSpc>
                <a:spcPct val="100000"/>
              </a:lnSpc>
              <a:spcBef>
                <a:spcPts val="0"/>
              </a:spcBef>
              <a:spcAft>
                <a:spcPts val="0"/>
              </a:spcAft>
              <a:buNone/>
            </a:pPr>
            <a:endParaRPr lang="en" sz="1200" b="0" i="0" u="none" strike="noStrike" cap="none" dirty="0">
              <a:latin typeface="Arial" panose="020B0604020202020204" pitchFamily="34" charset="0"/>
              <a:ea typeface="Arial"/>
              <a:cs typeface="Arial" panose="020B0604020202020204" pitchFamily="34" charset="0"/>
              <a:sym typeface="Arial"/>
            </a:endParaRPr>
          </a:p>
          <a:p>
            <a:pPr marL="0" marR="0" lvl="0" indent="0" algn="r" rtl="0">
              <a:lnSpc>
                <a:spcPct val="100000"/>
              </a:lnSpc>
              <a:spcBef>
                <a:spcPts val="0"/>
              </a:spcBef>
              <a:spcAft>
                <a:spcPts val="0"/>
              </a:spcAft>
              <a:buNone/>
            </a:pPr>
            <a:endParaRPr sz="1200" dirty="0">
              <a:latin typeface="Arial" panose="020B0604020202020204" pitchFamily="34" charset="0"/>
              <a:cs typeface="Arial" panose="020B0604020202020204" pitchFamily="34" charset="0"/>
            </a:endParaRPr>
          </a:p>
          <a:p>
            <a:pPr marL="0" marR="0" lvl="0" indent="0" algn="r" rtl="0">
              <a:lnSpc>
                <a:spcPct val="100000"/>
              </a:lnSpc>
              <a:spcBef>
                <a:spcPts val="0"/>
              </a:spcBef>
              <a:spcAft>
                <a:spcPts val="0"/>
              </a:spcAft>
              <a:buNone/>
            </a:pPr>
            <a:endParaRPr sz="1200" b="0" i="0" u="none" strike="noStrike" cap="none" dirty="0">
              <a:latin typeface="Arial" panose="020B0604020202020204" pitchFamily="34" charset="0"/>
              <a:ea typeface="Arial"/>
              <a:cs typeface="Arial" panose="020B0604020202020204" pitchFamily="34" charset="0"/>
              <a:sym typeface="Arial"/>
            </a:endParaRPr>
          </a:p>
          <a:p>
            <a:pPr marL="0" marR="0" lvl="0" indent="0" algn="r" rtl="0">
              <a:lnSpc>
                <a:spcPct val="100000"/>
              </a:lnSpc>
              <a:spcBef>
                <a:spcPts val="0"/>
              </a:spcBef>
              <a:spcAft>
                <a:spcPts val="0"/>
              </a:spcAft>
              <a:buNone/>
            </a:pPr>
            <a:endParaRPr sz="1200" b="0" i="0" u="none" strike="noStrike" cap="none" dirty="0">
              <a:latin typeface="Arial" panose="020B0604020202020204" pitchFamily="34" charset="0"/>
              <a:ea typeface="Arial"/>
              <a:cs typeface="Arial" panose="020B0604020202020204" pitchFamily="34" charset="0"/>
              <a:sym typeface="Arial"/>
            </a:endParaRPr>
          </a:p>
          <a:p>
            <a:pPr marL="0" marR="0" lvl="0" indent="0" algn="r" rtl="0">
              <a:lnSpc>
                <a:spcPct val="100000"/>
              </a:lnSpc>
              <a:spcBef>
                <a:spcPts val="0"/>
              </a:spcBef>
              <a:spcAft>
                <a:spcPts val="0"/>
              </a:spcAft>
              <a:buNone/>
            </a:pPr>
            <a:endParaRPr sz="1200" b="0" i="0" u="none" strike="noStrike" cap="none" dirty="0">
              <a:latin typeface="Arial" panose="020B0604020202020204" pitchFamily="34" charset="0"/>
              <a:ea typeface="Arial"/>
              <a:cs typeface="Arial" panose="020B0604020202020204" pitchFamily="34" charset="0"/>
              <a:sym typeface="Arial"/>
            </a:endParaRPr>
          </a:p>
          <a:p>
            <a:pPr marL="0" marR="0" lvl="0" indent="0" algn="r" rtl="0">
              <a:lnSpc>
                <a:spcPct val="100000"/>
              </a:lnSpc>
              <a:spcBef>
                <a:spcPts val="0"/>
              </a:spcBef>
              <a:spcAft>
                <a:spcPts val="0"/>
              </a:spcAft>
              <a:buNone/>
            </a:pPr>
            <a:endParaRPr sz="1200" b="0" i="0" u="none" strike="noStrike" cap="none" dirty="0">
              <a:latin typeface="Arial" panose="020B0604020202020204" pitchFamily="34" charset="0"/>
              <a:ea typeface="Arial"/>
              <a:cs typeface="Arial" panose="020B0604020202020204" pitchFamily="34" charset="0"/>
              <a:sym typeface="Arial"/>
            </a:endParaRPr>
          </a:p>
          <a:p>
            <a:pPr marL="0" marR="0" lvl="0" indent="0" algn="r" rtl="0">
              <a:lnSpc>
                <a:spcPct val="100000"/>
              </a:lnSpc>
              <a:spcBef>
                <a:spcPts val="0"/>
              </a:spcBef>
              <a:spcAft>
                <a:spcPts val="0"/>
              </a:spcAft>
              <a:buNone/>
            </a:pPr>
            <a:endParaRPr sz="1200" b="0" i="0" u="none" strike="noStrike" cap="none" dirty="0">
              <a:latin typeface="Arial" panose="020B0604020202020204" pitchFamily="34" charset="0"/>
              <a:ea typeface="Arial"/>
              <a:cs typeface="Arial" panose="020B0604020202020204" pitchFamily="34" charset="0"/>
              <a:sym typeface="Arial"/>
            </a:endParaRPr>
          </a:p>
        </p:txBody>
      </p:sp>
      <p:sp>
        <p:nvSpPr>
          <p:cNvPr id="2282" name="Google Shape;2282;p7"/>
          <p:cNvSpPr/>
          <p:nvPr/>
        </p:nvSpPr>
        <p:spPr>
          <a:xfrm>
            <a:off x="3976255" y="2278799"/>
            <a:ext cx="1006477" cy="1099805"/>
          </a:xfrm>
          <a:prstGeom prst="ellipse">
            <a:avLst/>
          </a:prstGeom>
          <a:solidFill>
            <a:srgbClr val="271457"/>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dirty="0">
              <a:latin typeface="Arial" panose="020B0604020202020204" pitchFamily="34" charset="0"/>
              <a:ea typeface="Arial"/>
              <a:cs typeface="Arial" panose="020B0604020202020204" pitchFamily="34" charset="0"/>
              <a:sym typeface="Arial"/>
            </a:endParaRPr>
          </a:p>
        </p:txBody>
      </p:sp>
      <p:sp>
        <p:nvSpPr>
          <p:cNvPr id="2283" name="Google Shape;2283;p7"/>
          <p:cNvSpPr/>
          <p:nvPr/>
        </p:nvSpPr>
        <p:spPr>
          <a:xfrm>
            <a:off x="4322928" y="2663409"/>
            <a:ext cx="361102" cy="361022"/>
          </a:xfrm>
          <a:prstGeom prst="ellipse">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dirty="0">
              <a:latin typeface="Arial" panose="020B0604020202020204" pitchFamily="34" charset="0"/>
              <a:ea typeface="Arial"/>
              <a:cs typeface="Arial" panose="020B0604020202020204" pitchFamily="34" charset="0"/>
              <a:sym typeface="Arial"/>
            </a:endParaRPr>
          </a:p>
        </p:txBody>
      </p:sp>
      <p:sp>
        <p:nvSpPr>
          <p:cNvPr id="2284" name="Google Shape;2284;p7"/>
          <p:cNvSpPr txBox="1"/>
          <p:nvPr/>
        </p:nvSpPr>
        <p:spPr>
          <a:xfrm>
            <a:off x="4083534" y="2353555"/>
            <a:ext cx="51778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2000" b="0" i="0" u="none" strike="noStrike" cap="none">
                <a:latin typeface="Arial" panose="020B0604020202020204" pitchFamily="34" charset="0"/>
                <a:ea typeface="Arial"/>
                <a:cs typeface="Arial" panose="020B0604020202020204" pitchFamily="34" charset="0"/>
                <a:sym typeface="Arial"/>
              </a:rPr>
              <a:t>S</a:t>
            </a:r>
            <a:endParaRPr dirty="0">
              <a:latin typeface="Arial" panose="020B0604020202020204" pitchFamily="34" charset="0"/>
              <a:cs typeface="Arial" panose="020B0604020202020204" pitchFamily="34" charset="0"/>
            </a:endParaRPr>
          </a:p>
        </p:txBody>
      </p:sp>
      <p:sp>
        <p:nvSpPr>
          <p:cNvPr id="2285" name="Google Shape;2285;p7"/>
          <p:cNvSpPr txBox="1"/>
          <p:nvPr/>
        </p:nvSpPr>
        <p:spPr>
          <a:xfrm>
            <a:off x="4536563" y="2371695"/>
            <a:ext cx="453097"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2000" b="0" i="0" u="none" strike="noStrike" cap="none" dirty="0">
                <a:latin typeface="Arial" panose="020B0604020202020204" pitchFamily="34" charset="0"/>
                <a:ea typeface="Arial"/>
                <a:cs typeface="Arial" panose="020B0604020202020204" pitchFamily="34" charset="0"/>
                <a:sym typeface="Arial"/>
              </a:rPr>
              <a:t>W</a:t>
            </a:r>
            <a:endParaRPr dirty="0">
              <a:latin typeface="Arial" panose="020B0604020202020204" pitchFamily="34" charset="0"/>
              <a:cs typeface="Arial" panose="020B0604020202020204" pitchFamily="34" charset="0"/>
            </a:endParaRPr>
          </a:p>
        </p:txBody>
      </p:sp>
      <p:sp>
        <p:nvSpPr>
          <p:cNvPr id="2286" name="Google Shape;2286;p7"/>
          <p:cNvSpPr txBox="1"/>
          <p:nvPr/>
        </p:nvSpPr>
        <p:spPr>
          <a:xfrm>
            <a:off x="4074813" y="2910718"/>
            <a:ext cx="51778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2000" b="0" i="0" u="none" strike="noStrike" cap="none">
                <a:latin typeface="Arial" panose="020B0604020202020204" pitchFamily="34" charset="0"/>
                <a:ea typeface="Arial"/>
                <a:cs typeface="Arial" panose="020B0604020202020204" pitchFamily="34" charset="0"/>
                <a:sym typeface="Arial"/>
              </a:rPr>
              <a:t>O</a:t>
            </a:r>
            <a:endParaRPr dirty="0">
              <a:latin typeface="Arial" panose="020B0604020202020204" pitchFamily="34" charset="0"/>
              <a:cs typeface="Arial" panose="020B0604020202020204" pitchFamily="34" charset="0"/>
            </a:endParaRPr>
          </a:p>
        </p:txBody>
      </p:sp>
      <p:sp>
        <p:nvSpPr>
          <p:cNvPr id="2287" name="Google Shape;2287;p7"/>
          <p:cNvSpPr txBox="1"/>
          <p:nvPr/>
        </p:nvSpPr>
        <p:spPr>
          <a:xfrm>
            <a:off x="4592602" y="2910718"/>
            <a:ext cx="51778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2000" b="0" i="0" u="none" strike="noStrike" cap="none">
                <a:latin typeface="Arial" panose="020B0604020202020204" pitchFamily="34" charset="0"/>
                <a:ea typeface="Arial"/>
                <a:cs typeface="Arial" panose="020B0604020202020204" pitchFamily="34" charset="0"/>
                <a:sym typeface="Arial"/>
              </a:rPr>
              <a:t>T</a:t>
            </a:r>
            <a:endParaRPr dirty="0">
              <a:latin typeface="Arial" panose="020B0604020202020204" pitchFamily="34" charset="0"/>
              <a:cs typeface="Arial" panose="020B0604020202020204" pitchFamily="34" charset="0"/>
            </a:endParaRPr>
          </a:p>
        </p:txBody>
      </p:sp>
      <p:cxnSp>
        <p:nvCxnSpPr>
          <p:cNvPr id="2288" name="Google Shape;2288;p7"/>
          <p:cNvCxnSpPr>
            <a:cxnSpLocks/>
            <a:stCxn id="2282" idx="2"/>
            <a:endCxn id="2282" idx="6"/>
          </p:cNvCxnSpPr>
          <p:nvPr/>
        </p:nvCxnSpPr>
        <p:spPr>
          <a:xfrm>
            <a:off x="3976255" y="2828702"/>
            <a:ext cx="1006477" cy="0"/>
          </a:xfrm>
          <a:prstGeom prst="straightConnector1">
            <a:avLst/>
          </a:prstGeom>
          <a:noFill/>
          <a:ln w="19050" cap="flat" cmpd="sng">
            <a:solidFill>
              <a:schemeClr val="lt1"/>
            </a:solidFill>
            <a:prstDash val="solid"/>
            <a:round/>
            <a:headEnd type="none" w="sm" len="sm"/>
            <a:tailEnd type="none" w="sm" len="sm"/>
          </a:ln>
        </p:spPr>
      </p:cxnSp>
      <p:cxnSp>
        <p:nvCxnSpPr>
          <p:cNvPr id="2289" name="Google Shape;2289;p7"/>
          <p:cNvCxnSpPr>
            <a:cxnSpLocks/>
            <a:stCxn id="2282" idx="4"/>
            <a:endCxn id="2282" idx="0"/>
          </p:cNvCxnSpPr>
          <p:nvPr/>
        </p:nvCxnSpPr>
        <p:spPr>
          <a:xfrm flipV="1">
            <a:off x="4479494" y="2278799"/>
            <a:ext cx="0" cy="1099805"/>
          </a:xfrm>
          <a:prstGeom prst="straightConnector1">
            <a:avLst/>
          </a:prstGeom>
          <a:noFill/>
          <a:ln w="19050" cap="flat" cmpd="sng">
            <a:solidFill>
              <a:schemeClr val="lt1"/>
            </a:solidFill>
            <a:prstDash val="solid"/>
            <a:round/>
            <a:headEnd type="none" w="sm" len="sm"/>
            <a:tailEnd type="none" w="sm" len="sm"/>
          </a:ln>
        </p:spPr>
      </p:cxnSp>
      <p:sp>
        <p:nvSpPr>
          <p:cNvPr id="21" name="ZoneTexte 20">
            <a:extLst>
              <a:ext uri="{FF2B5EF4-FFF2-40B4-BE49-F238E27FC236}">
                <a16:creationId xmlns:a16="http://schemas.microsoft.com/office/drawing/2014/main" id="{DA929171-179D-6DEC-3257-81849896C92F}"/>
              </a:ext>
            </a:extLst>
          </p:cNvPr>
          <p:cNvSpPr txBox="1"/>
          <p:nvPr/>
        </p:nvSpPr>
        <p:spPr>
          <a:xfrm>
            <a:off x="2289982" y="207163"/>
            <a:ext cx="3838681" cy="584775"/>
          </a:xfrm>
          <a:prstGeom prst="rect">
            <a:avLst/>
          </a:prstGeom>
          <a:noFill/>
        </p:spPr>
        <p:txBody>
          <a:bodyPr wrap="square">
            <a:spAutoFit/>
          </a:bodyPr>
          <a:lstStyle/>
          <a:p>
            <a:pPr algn="ctr"/>
            <a:r>
              <a:rPr lang="fr-FR" sz="3200" b="1" dirty="0">
                <a:latin typeface="Arial" panose="020B0604020202020204" pitchFamily="34" charset="0"/>
                <a:cs typeface="Arial" panose="020B0604020202020204" pitchFamily="34" charset="0"/>
              </a:rPr>
              <a:t>Matrice SWOT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93"/>
        <p:cNvGrpSpPr/>
        <p:nvPr/>
      </p:nvGrpSpPr>
      <p:grpSpPr>
        <a:xfrm>
          <a:off x="0" y="0"/>
          <a:ext cx="0" cy="0"/>
          <a:chOff x="0" y="0"/>
          <a:chExt cx="0" cy="0"/>
        </a:xfrm>
      </p:grpSpPr>
      <p:sp>
        <p:nvSpPr>
          <p:cNvPr id="2294" name="Google Shape;2294;p8"/>
          <p:cNvSpPr/>
          <p:nvPr/>
        </p:nvSpPr>
        <p:spPr>
          <a:xfrm>
            <a:off x="3681308" y="843759"/>
            <a:ext cx="1802361" cy="3429829"/>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latin typeface="Arial" panose="020B0604020202020204" pitchFamily="34" charset="0"/>
              <a:ea typeface="Arial"/>
              <a:cs typeface="Arial" panose="020B0604020202020204" pitchFamily="34" charset="0"/>
              <a:sym typeface="Arial"/>
            </a:endParaRPr>
          </a:p>
        </p:txBody>
      </p:sp>
      <p:sp>
        <p:nvSpPr>
          <p:cNvPr id="2300" name="Google Shape;2300;p8"/>
          <p:cNvSpPr txBox="1">
            <a:spLocks noGrp="1"/>
          </p:cNvSpPr>
          <p:nvPr>
            <p:ph type="title"/>
          </p:nvPr>
        </p:nvSpPr>
        <p:spPr>
          <a:xfrm>
            <a:off x="161666" y="120238"/>
            <a:ext cx="3156833" cy="1471106"/>
          </a:xfrm>
          <a:prstGeom prst="rect">
            <a:avLst/>
          </a:prstGeom>
          <a:noFill/>
          <a:ln>
            <a:noFill/>
          </a:ln>
        </p:spPr>
        <p:txBody>
          <a:bodyPr spcFirstLastPara="1" wrap="square" lIns="91425" tIns="91425" rIns="91425" bIns="91425" anchor="b" anchorCtr="0">
            <a:noAutofit/>
          </a:bodyPr>
          <a:lstStyle/>
          <a:p>
            <a:pPr lvl="0" algn="just"/>
            <a:r>
              <a:rPr lang="en" sz="1600" b="1" dirty="0">
                <a:solidFill>
                  <a:schemeClr val="tx1"/>
                </a:solidFill>
                <a:latin typeface="Arial" panose="020B0604020202020204" pitchFamily="34" charset="0"/>
                <a:cs typeface="Arial" panose="020B0604020202020204" pitchFamily="34" charset="0"/>
              </a:rPr>
              <a:t>Politique</a:t>
            </a:r>
            <a:br>
              <a:rPr lang="en" sz="1000" dirty="0">
                <a:solidFill>
                  <a:schemeClr val="tx1"/>
                </a:solidFill>
                <a:latin typeface="Arial" panose="020B0604020202020204" pitchFamily="34" charset="0"/>
                <a:cs typeface="Arial" panose="020B0604020202020204" pitchFamily="34" charset="0"/>
              </a:rPr>
            </a:br>
            <a:r>
              <a:rPr lang="fr-FR" sz="1200" dirty="0">
                <a:solidFill>
                  <a:schemeClr val="tx1"/>
                </a:solidFill>
                <a:latin typeface="Arial" panose="020B0604020202020204" pitchFamily="34" charset="0"/>
                <a:cs typeface="Arial" panose="020B0604020202020204" pitchFamily="34" charset="0"/>
              </a:rPr>
              <a:t>Soutien des gouvernements au secteur (ex: Crédit d'Impôt Jeu Vidéo en France). Régulations sur la protection des mineurs et les "</a:t>
            </a:r>
            <a:r>
              <a:rPr lang="fr-FR" sz="1200" dirty="0" err="1">
                <a:solidFill>
                  <a:schemeClr val="tx1"/>
                </a:solidFill>
                <a:latin typeface="Arial" panose="020B0604020202020204" pitchFamily="34" charset="0"/>
                <a:cs typeface="Arial" panose="020B0604020202020204" pitchFamily="34" charset="0"/>
              </a:rPr>
              <a:t>loot</a:t>
            </a:r>
            <a:r>
              <a:rPr lang="fr-FR" sz="1200" dirty="0">
                <a:solidFill>
                  <a:schemeClr val="tx1"/>
                </a:solidFill>
                <a:latin typeface="Arial" panose="020B0604020202020204" pitchFamily="34" charset="0"/>
                <a:cs typeface="Arial" panose="020B0604020202020204" pitchFamily="34" charset="0"/>
              </a:rPr>
              <a:t> boxes" (achats intégrés) qui sont surveillées par l'Union Européenne.</a:t>
            </a:r>
            <a:endParaRPr sz="1200" dirty="0">
              <a:solidFill>
                <a:schemeClr val="tx1"/>
              </a:solidFill>
              <a:latin typeface="Arial" panose="020B0604020202020204" pitchFamily="34" charset="0"/>
              <a:cs typeface="Arial" panose="020B0604020202020204" pitchFamily="34" charset="0"/>
            </a:endParaRPr>
          </a:p>
        </p:txBody>
      </p:sp>
      <p:sp>
        <p:nvSpPr>
          <p:cNvPr id="2297" name="Google Shape;2297;p8"/>
          <p:cNvSpPr txBox="1">
            <a:spLocks noGrp="1"/>
          </p:cNvSpPr>
          <p:nvPr>
            <p:ph type="title" idx="2"/>
          </p:nvPr>
        </p:nvSpPr>
        <p:spPr>
          <a:xfrm>
            <a:off x="161666" y="1647094"/>
            <a:ext cx="3086901" cy="1596948"/>
          </a:xfrm>
          <a:prstGeom prst="rect">
            <a:avLst/>
          </a:prstGeom>
          <a:noFill/>
          <a:ln>
            <a:noFill/>
          </a:ln>
        </p:spPr>
        <p:txBody>
          <a:bodyPr spcFirstLastPara="1" wrap="square" lIns="91425" tIns="91425" rIns="91425" bIns="91425" anchor="b" anchorCtr="0">
            <a:noAutofit/>
          </a:bodyPr>
          <a:lstStyle/>
          <a:p>
            <a:pPr lvl="0" algn="just"/>
            <a:r>
              <a:rPr lang="en" sz="1600" b="1" dirty="0">
                <a:solidFill>
                  <a:schemeClr val="tx1"/>
                </a:solidFill>
                <a:latin typeface="Arial" panose="020B0604020202020204" pitchFamily="34" charset="0"/>
                <a:cs typeface="Arial" panose="020B0604020202020204" pitchFamily="34" charset="0"/>
              </a:rPr>
              <a:t>Social</a:t>
            </a:r>
            <a:br>
              <a:rPr lang="en" sz="1200" dirty="0">
                <a:solidFill>
                  <a:schemeClr val="tx1"/>
                </a:solidFill>
                <a:latin typeface="Arial" panose="020B0604020202020204" pitchFamily="34" charset="0"/>
                <a:cs typeface="Arial" panose="020B0604020202020204" pitchFamily="34" charset="0"/>
              </a:rPr>
            </a:br>
            <a:r>
              <a:rPr lang="fr-FR" sz="1200" dirty="0">
                <a:solidFill>
                  <a:schemeClr val="tx1"/>
                </a:solidFill>
                <a:latin typeface="Arial" panose="020B0604020202020204" pitchFamily="34" charset="0"/>
                <a:cs typeface="Arial" panose="020B0604020202020204" pitchFamily="34" charset="0"/>
              </a:rPr>
              <a:t>Le jeu vidéo est devenu un outil de socialisation (Twitch, Discord). On observe une demande croissante pour plus de diversité dans les personnages et des scénarios profonds. Le "gaming" n'est plus réservé aux adolescents : la moyenne d'âge est de 39 ans.</a:t>
            </a:r>
            <a:endParaRPr sz="1200" dirty="0">
              <a:solidFill>
                <a:schemeClr val="tx1"/>
              </a:solidFill>
              <a:latin typeface="Arial" panose="020B0604020202020204" pitchFamily="34" charset="0"/>
              <a:cs typeface="Arial" panose="020B0604020202020204" pitchFamily="34" charset="0"/>
            </a:endParaRPr>
          </a:p>
        </p:txBody>
      </p:sp>
      <p:sp>
        <p:nvSpPr>
          <p:cNvPr id="2296" name="Google Shape;2296;p8"/>
          <p:cNvSpPr txBox="1">
            <a:spLocks noGrp="1"/>
          </p:cNvSpPr>
          <p:nvPr>
            <p:ph type="title" idx="4"/>
          </p:nvPr>
        </p:nvSpPr>
        <p:spPr>
          <a:xfrm>
            <a:off x="112436" y="3322824"/>
            <a:ext cx="3255292" cy="1272325"/>
          </a:xfrm>
          <a:prstGeom prst="rect">
            <a:avLst/>
          </a:prstGeom>
          <a:noFill/>
          <a:ln>
            <a:noFill/>
          </a:ln>
        </p:spPr>
        <p:txBody>
          <a:bodyPr spcFirstLastPara="1" wrap="square" lIns="91425" tIns="91425" rIns="91425" bIns="91425" anchor="b" anchorCtr="0">
            <a:noAutofit/>
          </a:bodyPr>
          <a:lstStyle/>
          <a:p>
            <a:pPr lvl="0" algn="ctr"/>
            <a:r>
              <a:rPr lang="en" sz="1600" b="1" dirty="0">
                <a:solidFill>
                  <a:schemeClr val="tx1"/>
                </a:solidFill>
                <a:latin typeface="Arial" panose="020B0604020202020204" pitchFamily="34" charset="0"/>
                <a:cs typeface="Arial" panose="020B0604020202020204" pitchFamily="34" charset="0"/>
              </a:rPr>
              <a:t>Environmental</a:t>
            </a:r>
            <a:br>
              <a:rPr lang="en" sz="1200" dirty="0">
                <a:solidFill>
                  <a:schemeClr val="tx1"/>
                </a:solidFill>
                <a:latin typeface="Arial" panose="020B0604020202020204" pitchFamily="34" charset="0"/>
                <a:cs typeface="Arial" panose="020B0604020202020204" pitchFamily="34" charset="0"/>
              </a:rPr>
            </a:br>
            <a:r>
              <a:rPr lang="fr-FR" sz="1200" dirty="0">
                <a:solidFill>
                  <a:schemeClr val="tx1"/>
                </a:solidFill>
                <a:latin typeface="Arial" panose="020B0604020202020204" pitchFamily="34" charset="0"/>
                <a:cs typeface="Arial" panose="020B0604020202020204" pitchFamily="34" charset="0"/>
              </a:rPr>
              <a:t>Pression sur les constructeurs pour créer des consoles moins énergivores et réduire l'empreinte carbone liée au téléchargement de données massives (jeux de plus de 100 Go).</a:t>
            </a:r>
            <a:endParaRPr sz="1200" dirty="0">
              <a:solidFill>
                <a:schemeClr val="tx1"/>
              </a:solidFill>
              <a:latin typeface="Arial" panose="020B0604020202020204" pitchFamily="34" charset="0"/>
              <a:cs typeface="Arial" panose="020B0604020202020204" pitchFamily="34" charset="0"/>
            </a:endParaRPr>
          </a:p>
        </p:txBody>
      </p:sp>
      <p:sp>
        <p:nvSpPr>
          <p:cNvPr id="2310" name="Google Shape;2310;p8"/>
          <p:cNvSpPr txBox="1">
            <a:spLocks noGrp="1"/>
          </p:cNvSpPr>
          <p:nvPr>
            <p:ph type="title" idx="6"/>
          </p:nvPr>
        </p:nvSpPr>
        <p:spPr>
          <a:xfrm>
            <a:off x="5794877" y="1933488"/>
            <a:ext cx="2961407" cy="1348680"/>
          </a:xfrm>
          <a:prstGeom prst="rect">
            <a:avLst/>
          </a:prstGeom>
          <a:noFill/>
          <a:ln>
            <a:noFill/>
          </a:ln>
        </p:spPr>
        <p:txBody>
          <a:bodyPr spcFirstLastPara="1" wrap="square" lIns="91425" tIns="91425" rIns="91425" bIns="91425" anchor="b" anchorCtr="0">
            <a:noAutofit/>
          </a:bodyPr>
          <a:lstStyle/>
          <a:p>
            <a:pPr lvl="0" algn="just"/>
            <a:r>
              <a:rPr lang="en" sz="1600" b="1" dirty="0">
                <a:solidFill>
                  <a:schemeClr val="tx1"/>
                </a:solidFill>
                <a:latin typeface="Arial" panose="020B0604020202020204" pitchFamily="34" charset="0"/>
                <a:cs typeface="Arial" panose="020B0604020202020204" pitchFamily="34" charset="0"/>
              </a:rPr>
              <a:t>Technologique</a:t>
            </a:r>
            <a:br>
              <a:rPr lang="en" sz="1200" dirty="0">
                <a:solidFill>
                  <a:schemeClr val="tx1"/>
                </a:solidFill>
                <a:latin typeface="Arial" panose="020B0604020202020204" pitchFamily="34" charset="0"/>
                <a:cs typeface="Arial" panose="020B0604020202020204" pitchFamily="34" charset="0"/>
              </a:rPr>
            </a:br>
            <a:r>
              <a:rPr lang="fr-FR" sz="1200" dirty="0">
                <a:solidFill>
                  <a:schemeClr val="tx1"/>
                </a:solidFill>
                <a:latin typeface="Arial" panose="020B0604020202020204" pitchFamily="34" charset="0"/>
                <a:cs typeface="Arial" panose="020B0604020202020204" pitchFamily="34" charset="0"/>
              </a:rPr>
              <a:t>Arrivée de l'IA générative pour accélérer le développement. Puissance des consoles "Next-</a:t>
            </a:r>
            <a:r>
              <a:rPr lang="fr-FR" sz="1200" dirty="0" err="1">
                <a:solidFill>
                  <a:schemeClr val="tx1"/>
                </a:solidFill>
                <a:latin typeface="Arial" panose="020B0604020202020204" pitchFamily="34" charset="0"/>
                <a:cs typeface="Arial" panose="020B0604020202020204" pitchFamily="34" charset="0"/>
              </a:rPr>
              <a:t>Gen</a:t>
            </a:r>
            <a:r>
              <a:rPr lang="fr-FR" sz="1200" dirty="0">
                <a:solidFill>
                  <a:schemeClr val="tx1"/>
                </a:solidFill>
                <a:latin typeface="Arial" panose="020B0604020202020204" pitchFamily="34" charset="0"/>
                <a:cs typeface="Arial" panose="020B0604020202020204" pitchFamily="34" charset="0"/>
              </a:rPr>
              <a:t>" (PS5, Xbox </a:t>
            </a:r>
            <a:r>
              <a:rPr lang="fr-FR" sz="1200" dirty="0" err="1">
                <a:solidFill>
                  <a:schemeClr val="tx1"/>
                </a:solidFill>
                <a:latin typeface="Arial" panose="020B0604020202020204" pitchFamily="34" charset="0"/>
                <a:cs typeface="Arial" panose="020B0604020202020204" pitchFamily="34" charset="0"/>
              </a:rPr>
              <a:t>Series</a:t>
            </a:r>
            <a:r>
              <a:rPr lang="fr-FR" sz="1200" dirty="0">
                <a:solidFill>
                  <a:schemeClr val="tx1"/>
                </a:solidFill>
                <a:latin typeface="Arial" panose="020B0604020202020204" pitchFamily="34" charset="0"/>
                <a:cs typeface="Arial" panose="020B0604020202020204" pitchFamily="34" charset="0"/>
              </a:rPr>
              <a:t>) permettant le Ray Tracing (graphismes réalistes). </a:t>
            </a:r>
            <a:endParaRPr sz="1200" dirty="0">
              <a:solidFill>
                <a:schemeClr val="tx1"/>
              </a:solidFill>
              <a:latin typeface="Arial" panose="020B0604020202020204" pitchFamily="34" charset="0"/>
              <a:cs typeface="Arial" panose="020B0604020202020204" pitchFamily="34" charset="0"/>
            </a:endParaRPr>
          </a:p>
        </p:txBody>
      </p:sp>
      <p:sp>
        <p:nvSpPr>
          <p:cNvPr id="2312" name="Google Shape;2312;p8"/>
          <p:cNvSpPr txBox="1">
            <a:spLocks noGrp="1"/>
          </p:cNvSpPr>
          <p:nvPr>
            <p:ph type="title" idx="7"/>
          </p:nvPr>
        </p:nvSpPr>
        <p:spPr>
          <a:xfrm>
            <a:off x="5916410" y="3402779"/>
            <a:ext cx="2696504" cy="1107459"/>
          </a:xfrm>
          <a:prstGeom prst="rect">
            <a:avLst/>
          </a:prstGeom>
          <a:noFill/>
          <a:ln>
            <a:noFill/>
          </a:ln>
        </p:spPr>
        <p:txBody>
          <a:bodyPr spcFirstLastPara="1" wrap="square" lIns="91425" tIns="91425" rIns="91425" bIns="91425" anchor="b" anchorCtr="0">
            <a:noAutofit/>
          </a:bodyPr>
          <a:lstStyle/>
          <a:p>
            <a:pPr lvl="0" algn="just"/>
            <a:r>
              <a:rPr lang="en" sz="1600" b="1" dirty="0">
                <a:solidFill>
                  <a:schemeClr val="tx1"/>
                </a:solidFill>
                <a:latin typeface="Arial" panose="020B0604020202020204" pitchFamily="34" charset="0"/>
                <a:cs typeface="Arial" panose="020B0604020202020204" pitchFamily="34" charset="0"/>
              </a:rPr>
              <a:t>Legal</a:t>
            </a:r>
            <a:br>
              <a:rPr lang="en" sz="1200" dirty="0">
                <a:solidFill>
                  <a:schemeClr val="tx1"/>
                </a:solidFill>
                <a:latin typeface="Arial" panose="020B0604020202020204" pitchFamily="34" charset="0"/>
                <a:cs typeface="Arial" panose="020B0604020202020204" pitchFamily="34" charset="0"/>
              </a:rPr>
            </a:br>
            <a:r>
              <a:rPr lang="fr-FR" sz="1200" dirty="0">
                <a:solidFill>
                  <a:schemeClr val="tx1"/>
                </a:solidFill>
                <a:latin typeface="Arial" panose="020B0604020202020204" pitchFamily="34" charset="0"/>
                <a:cs typeface="Arial" panose="020B0604020202020204" pitchFamily="34" charset="0"/>
              </a:rPr>
              <a:t>Respect du RGPD pour les données des joueurs en ligne. Lois sur la propriété intellectuelle et les droits d'auteur très strictes.</a:t>
            </a:r>
            <a:endParaRPr sz="1200" dirty="0">
              <a:solidFill>
                <a:schemeClr val="tx1"/>
              </a:solidFill>
              <a:latin typeface="Arial" panose="020B0604020202020204" pitchFamily="34" charset="0"/>
              <a:cs typeface="Arial" panose="020B0604020202020204" pitchFamily="34" charset="0"/>
            </a:endParaRPr>
          </a:p>
        </p:txBody>
      </p:sp>
      <p:sp>
        <p:nvSpPr>
          <p:cNvPr id="2302" name="Google Shape;2302;p8"/>
          <p:cNvSpPr txBox="1"/>
          <p:nvPr/>
        </p:nvSpPr>
        <p:spPr>
          <a:xfrm>
            <a:off x="3452378" y="465845"/>
            <a:ext cx="4875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300"/>
              <a:buFont typeface="Arial"/>
              <a:buNone/>
            </a:pPr>
            <a:r>
              <a:rPr lang="en" sz="3300" b="0" i="0" u="none" strike="noStrike" cap="none" dirty="0">
                <a:latin typeface="Arial" panose="020B0604020202020204" pitchFamily="34" charset="0"/>
                <a:ea typeface="Space Grotesk Medium"/>
                <a:cs typeface="Arial" panose="020B0604020202020204" pitchFamily="34" charset="0"/>
                <a:sym typeface="Space Grotesk Medium"/>
              </a:rPr>
              <a:t>P</a:t>
            </a:r>
            <a:endParaRPr sz="3300" b="0" i="0" u="none" strike="noStrike" cap="none" dirty="0">
              <a:latin typeface="Arial" panose="020B0604020202020204" pitchFamily="34" charset="0"/>
              <a:ea typeface="Space Grotesk Medium"/>
              <a:cs typeface="Arial" panose="020B0604020202020204" pitchFamily="34" charset="0"/>
              <a:sym typeface="Space Grotesk Medium"/>
            </a:endParaRPr>
          </a:p>
        </p:txBody>
      </p:sp>
      <p:sp>
        <p:nvSpPr>
          <p:cNvPr id="2303" name="Google Shape;2303;p8"/>
          <p:cNvSpPr txBox="1"/>
          <p:nvPr/>
        </p:nvSpPr>
        <p:spPr>
          <a:xfrm>
            <a:off x="5264568" y="492550"/>
            <a:ext cx="4875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300"/>
              <a:buFont typeface="Arial"/>
              <a:buNone/>
            </a:pPr>
            <a:r>
              <a:rPr lang="en" sz="3300" b="0" i="0" u="none" strike="noStrike" cap="none" dirty="0">
                <a:latin typeface="Arial" panose="020B0604020202020204" pitchFamily="34" charset="0"/>
                <a:ea typeface="Space Grotesk Medium"/>
                <a:cs typeface="Arial" panose="020B0604020202020204" pitchFamily="34" charset="0"/>
                <a:sym typeface="Space Grotesk Medium"/>
              </a:rPr>
              <a:t>E</a:t>
            </a:r>
            <a:endParaRPr sz="3300" b="0" i="0" u="none" strike="noStrike" cap="none" dirty="0">
              <a:latin typeface="Arial" panose="020B0604020202020204" pitchFamily="34" charset="0"/>
              <a:ea typeface="Space Grotesk Medium"/>
              <a:cs typeface="Arial" panose="020B0604020202020204" pitchFamily="34" charset="0"/>
              <a:sym typeface="Space Grotesk Medium"/>
            </a:endParaRPr>
          </a:p>
        </p:txBody>
      </p:sp>
      <p:sp>
        <p:nvSpPr>
          <p:cNvPr id="2304" name="Google Shape;2304;p8"/>
          <p:cNvSpPr txBox="1"/>
          <p:nvPr/>
        </p:nvSpPr>
        <p:spPr>
          <a:xfrm>
            <a:off x="3422607" y="2294822"/>
            <a:ext cx="4875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300"/>
              <a:buFont typeface="Arial"/>
              <a:buNone/>
            </a:pPr>
            <a:r>
              <a:rPr lang="en" sz="3300" b="0" i="0" u="none" strike="noStrike" cap="none" dirty="0">
                <a:latin typeface="Arial" panose="020B0604020202020204" pitchFamily="34" charset="0"/>
                <a:ea typeface="Space Grotesk Medium"/>
                <a:cs typeface="Arial" panose="020B0604020202020204" pitchFamily="34" charset="0"/>
                <a:sym typeface="Space Grotesk Medium"/>
              </a:rPr>
              <a:t>S</a:t>
            </a:r>
            <a:endParaRPr sz="3300" b="0" i="0" u="none" strike="noStrike" cap="none" dirty="0">
              <a:latin typeface="Arial" panose="020B0604020202020204" pitchFamily="34" charset="0"/>
              <a:ea typeface="Space Grotesk Medium"/>
              <a:cs typeface="Arial" panose="020B0604020202020204" pitchFamily="34" charset="0"/>
              <a:sym typeface="Space Grotesk Medium"/>
            </a:endParaRPr>
          </a:p>
        </p:txBody>
      </p:sp>
      <p:sp>
        <p:nvSpPr>
          <p:cNvPr id="2305" name="Google Shape;2305;p8"/>
          <p:cNvSpPr txBox="1"/>
          <p:nvPr/>
        </p:nvSpPr>
        <p:spPr>
          <a:xfrm>
            <a:off x="5225099" y="2307900"/>
            <a:ext cx="4875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300"/>
              <a:buFont typeface="Arial"/>
              <a:buNone/>
            </a:pPr>
            <a:r>
              <a:rPr lang="en" sz="3300" b="0" i="0" u="none" strike="noStrike" cap="none" dirty="0">
                <a:latin typeface="Arial" panose="020B0604020202020204" pitchFamily="34" charset="0"/>
                <a:ea typeface="Space Grotesk Medium"/>
                <a:cs typeface="Arial" panose="020B0604020202020204" pitchFamily="34" charset="0"/>
                <a:sym typeface="Space Grotesk Medium"/>
              </a:rPr>
              <a:t>T</a:t>
            </a:r>
            <a:endParaRPr sz="3300" b="0" i="0" u="none" strike="noStrike" cap="none" dirty="0">
              <a:latin typeface="Arial" panose="020B0604020202020204" pitchFamily="34" charset="0"/>
              <a:ea typeface="Space Grotesk Medium"/>
              <a:cs typeface="Arial" panose="020B0604020202020204" pitchFamily="34" charset="0"/>
              <a:sym typeface="Space Grotesk Medium"/>
            </a:endParaRPr>
          </a:p>
        </p:txBody>
      </p:sp>
      <p:sp>
        <p:nvSpPr>
          <p:cNvPr id="2306" name="Google Shape;2306;p8"/>
          <p:cNvSpPr txBox="1"/>
          <p:nvPr/>
        </p:nvSpPr>
        <p:spPr>
          <a:xfrm>
            <a:off x="3452378" y="3999188"/>
            <a:ext cx="4875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300"/>
              <a:buFont typeface="Arial"/>
              <a:buNone/>
            </a:pPr>
            <a:r>
              <a:rPr lang="en" sz="3300" b="0" i="0" u="none" strike="noStrike" cap="none" dirty="0">
                <a:latin typeface="Arial" panose="020B0604020202020204" pitchFamily="34" charset="0"/>
                <a:ea typeface="Space Grotesk Medium"/>
                <a:cs typeface="Arial" panose="020B0604020202020204" pitchFamily="34" charset="0"/>
                <a:sym typeface="Space Grotesk Medium"/>
              </a:rPr>
              <a:t>E</a:t>
            </a:r>
            <a:endParaRPr sz="3300" b="0" i="0" u="none" strike="noStrike" cap="none" dirty="0">
              <a:latin typeface="Arial" panose="020B0604020202020204" pitchFamily="34" charset="0"/>
              <a:ea typeface="Space Grotesk Medium"/>
              <a:cs typeface="Arial" panose="020B0604020202020204" pitchFamily="34" charset="0"/>
              <a:sym typeface="Space Grotesk Medium"/>
            </a:endParaRPr>
          </a:p>
        </p:txBody>
      </p:sp>
      <p:sp>
        <p:nvSpPr>
          <p:cNvPr id="2307" name="Google Shape;2307;p8"/>
          <p:cNvSpPr txBox="1"/>
          <p:nvPr/>
        </p:nvSpPr>
        <p:spPr>
          <a:xfrm>
            <a:off x="5310025" y="3992029"/>
            <a:ext cx="4875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300"/>
              <a:buFont typeface="Arial"/>
              <a:buNone/>
            </a:pPr>
            <a:r>
              <a:rPr lang="en" sz="3300" b="0" i="0" u="none" strike="noStrike" cap="none" dirty="0">
                <a:latin typeface="Arial" panose="020B0604020202020204" pitchFamily="34" charset="0"/>
                <a:ea typeface="Space Grotesk Medium"/>
                <a:cs typeface="Arial" panose="020B0604020202020204" pitchFamily="34" charset="0"/>
                <a:sym typeface="Space Grotesk Medium"/>
              </a:rPr>
              <a:t>L</a:t>
            </a:r>
            <a:endParaRPr sz="3300" b="0" i="0" u="none" strike="noStrike" cap="none" dirty="0">
              <a:latin typeface="Arial" panose="020B0604020202020204" pitchFamily="34" charset="0"/>
              <a:ea typeface="Space Grotesk Medium"/>
              <a:cs typeface="Arial" panose="020B0604020202020204" pitchFamily="34" charset="0"/>
              <a:sym typeface="Space Grotesk Medium"/>
            </a:endParaRPr>
          </a:p>
        </p:txBody>
      </p:sp>
      <p:sp>
        <p:nvSpPr>
          <p:cNvPr id="2314" name="Google Shape;2314;p8"/>
          <p:cNvSpPr txBox="1"/>
          <p:nvPr/>
        </p:nvSpPr>
        <p:spPr>
          <a:xfrm>
            <a:off x="3990617" y="2294822"/>
            <a:ext cx="1145884" cy="527699"/>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dirty="0">
                <a:latin typeface="Arial" panose="020B0604020202020204" pitchFamily="34" charset="0"/>
                <a:ea typeface="Space Grotesk Medium"/>
                <a:cs typeface="Arial" panose="020B0604020202020204" pitchFamily="34" charset="0"/>
                <a:sym typeface="Space Grotesk Medium"/>
              </a:rPr>
              <a:t>PESTEL</a:t>
            </a:r>
            <a:endParaRPr sz="1800" b="1" i="0" u="none" strike="noStrike" cap="none" dirty="0">
              <a:latin typeface="Arial" panose="020B0604020202020204" pitchFamily="34" charset="0"/>
              <a:ea typeface="Space Grotesk Medium"/>
              <a:cs typeface="Arial" panose="020B0604020202020204" pitchFamily="34" charset="0"/>
              <a:sym typeface="Space Grotesk Medium"/>
            </a:endParaRPr>
          </a:p>
        </p:txBody>
      </p:sp>
      <p:sp>
        <p:nvSpPr>
          <p:cNvPr id="17" name="ZoneTexte 16">
            <a:extLst>
              <a:ext uri="{FF2B5EF4-FFF2-40B4-BE49-F238E27FC236}">
                <a16:creationId xmlns:a16="http://schemas.microsoft.com/office/drawing/2014/main" id="{4F92EF27-F173-2E24-D003-0FE4FD5FA7D3}"/>
              </a:ext>
            </a:extLst>
          </p:cNvPr>
          <p:cNvSpPr txBox="1"/>
          <p:nvPr/>
        </p:nvSpPr>
        <p:spPr>
          <a:xfrm>
            <a:off x="5794877" y="270270"/>
            <a:ext cx="3078189" cy="1446550"/>
          </a:xfrm>
          <a:prstGeom prst="rect">
            <a:avLst/>
          </a:prstGeom>
          <a:noFill/>
        </p:spPr>
        <p:txBody>
          <a:bodyPr wrap="square">
            <a:spAutoFit/>
          </a:bodyPr>
          <a:lstStyle/>
          <a:p>
            <a:pPr algn="ctr"/>
            <a:r>
              <a:rPr lang="fr-FR" sz="1600" b="1" dirty="0">
                <a:latin typeface="Arial" panose="020B0604020202020204" pitchFamily="34" charset="0"/>
                <a:cs typeface="Arial" panose="020B0604020202020204" pitchFamily="34" charset="0"/>
              </a:rPr>
              <a:t>Economique</a:t>
            </a:r>
          </a:p>
          <a:p>
            <a:r>
              <a:rPr lang="fr-FR" sz="1200" dirty="0">
                <a:latin typeface="Arial" panose="020B0604020202020204" pitchFamily="34" charset="0"/>
                <a:cs typeface="Arial" panose="020B0604020202020204" pitchFamily="34" charset="0"/>
              </a:rPr>
              <a:t>Marché mondial en croissance (estimé à plus de 200 milliards $). Cependant, l'inflation réduit le budget "loisirs" des ménages, rendant le prix des jeux Triple A (souvent 70€-80€) plus difficile à accepter sans une qualité irréprochable.</a:t>
            </a:r>
          </a:p>
        </p:txBody>
      </p:sp>
      <p:sp>
        <p:nvSpPr>
          <p:cNvPr id="27" name="ZoneTexte 26">
            <a:extLst>
              <a:ext uri="{FF2B5EF4-FFF2-40B4-BE49-F238E27FC236}">
                <a16:creationId xmlns:a16="http://schemas.microsoft.com/office/drawing/2014/main" id="{0FC30551-DB2B-3415-4169-98337B17DA8F}"/>
              </a:ext>
            </a:extLst>
          </p:cNvPr>
          <p:cNvSpPr txBox="1"/>
          <p:nvPr/>
        </p:nvSpPr>
        <p:spPr>
          <a:xfrm>
            <a:off x="2367935" y="4590192"/>
            <a:ext cx="5296747" cy="523220"/>
          </a:xfrm>
          <a:prstGeom prst="rect">
            <a:avLst/>
          </a:prstGeom>
          <a:noFill/>
        </p:spPr>
        <p:txBody>
          <a:bodyPr wrap="square">
            <a:spAutoFit/>
          </a:bodyPr>
          <a:lstStyle/>
          <a:p>
            <a:pPr marL="628650" lvl="1" indent="-171450" algn="just">
              <a:buFont typeface="Wingdings" panose="05000000000000000000" pitchFamily="2" charset="2"/>
              <a:buChar char="Ø"/>
            </a:pPr>
            <a:r>
              <a:rPr lang="fr-FR" sz="700" b="1" dirty="0">
                <a:latin typeface="Arial" panose="020B0604020202020204" pitchFamily="34" charset="0"/>
                <a:cs typeface="Arial" panose="020B0604020202020204" pitchFamily="34" charset="0"/>
              </a:rPr>
              <a:t>SELL (Syndicat des Éditeurs de Logiciels de Loisirs) : </a:t>
            </a:r>
            <a:r>
              <a:rPr lang="fr-FR" sz="700" dirty="0">
                <a:latin typeface="Arial" panose="020B0604020202020204" pitchFamily="34" charset="0"/>
                <a:cs typeface="Arial" panose="020B0604020202020204" pitchFamily="34" charset="0"/>
              </a:rPr>
              <a:t>Pour les chiffres du marché français.</a:t>
            </a:r>
          </a:p>
          <a:p>
            <a:pPr marL="628650" lvl="1" indent="-171450" algn="just">
              <a:buFont typeface="Wingdings" panose="05000000000000000000" pitchFamily="2" charset="2"/>
              <a:buChar char="Ø"/>
            </a:pPr>
            <a:r>
              <a:rPr lang="fr-FR" sz="700" b="1" dirty="0" err="1">
                <a:latin typeface="Arial" panose="020B0604020202020204" pitchFamily="34" charset="0"/>
                <a:cs typeface="Arial" panose="020B0604020202020204" pitchFamily="34" charset="0"/>
              </a:rPr>
              <a:t>Newzoo</a:t>
            </a:r>
            <a:r>
              <a:rPr lang="fr-FR" sz="700" b="1" dirty="0">
                <a:latin typeface="Arial" panose="020B0604020202020204" pitchFamily="34" charset="0"/>
                <a:cs typeface="Arial" panose="020B0604020202020204" pitchFamily="34" charset="0"/>
              </a:rPr>
              <a:t> / </a:t>
            </a:r>
            <a:r>
              <a:rPr lang="fr-FR" sz="700" b="1" dirty="0" err="1">
                <a:latin typeface="Arial" panose="020B0604020202020204" pitchFamily="34" charset="0"/>
                <a:cs typeface="Arial" panose="020B0604020202020204" pitchFamily="34" charset="0"/>
              </a:rPr>
              <a:t>Statista</a:t>
            </a:r>
            <a:r>
              <a:rPr lang="fr-FR" sz="700" b="1" dirty="0">
                <a:latin typeface="Arial" panose="020B0604020202020204" pitchFamily="34" charset="0"/>
                <a:cs typeface="Arial" panose="020B0604020202020204" pitchFamily="34" charset="0"/>
              </a:rPr>
              <a:t> : </a:t>
            </a:r>
            <a:r>
              <a:rPr lang="fr-FR" sz="700" dirty="0">
                <a:latin typeface="Arial" panose="020B0604020202020204" pitchFamily="34" charset="0"/>
                <a:cs typeface="Arial" panose="020B0604020202020204" pitchFamily="34" charset="0"/>
              </a:rPr>
              <a:t>Leaders mondiaux des statistiques sur le jeu vidéo et l'</a:t>
            </a:r>
            <a:r>
              <a:rPr lang="fr-FR" sz="700" dirty="0" err="1">
                <a:latin typeface="Arial" panose="020B0604020202020204" pitchFamily="34" charset="0"/>
                <a:cs typeface="Arial" panose="020B0604020202020204" pitchFamily="34" charset="0"/>
              </a:rPr>
              <a:t>e-sport</a:t>
            </a:r>
            <a:r>
              <a:rPr lang="fr-FR" sz="700" dirty="0">
                <a:latin typeface="Arial" panose="020B0604020202020204" pitchFamily="34" charset="0"/>
                <a:cs typeface="Arial" panose="020B0604020202020204" pitchFamily="34" charset="0"/>
              </a:rPr>
              <a:t>.</a:t>
            </a:r>
          </a:p>
          <a:p>
            <a:pPr marL="628650" lvl="1" indent="-171450" algn="just">
              <a:buFont typeface="Wingdings" panose="05000000000000000000" pitchFamily="2" charset="2"/>
              <a:buChar char="Ø"/>
            </a:pPr>
            <a:r>
              <a:rPr lang="fr-FR" sz="700" b="1" dirty="0">
                <a:latin typeface="Arial" panose="020B0604020202020204" pitchFamily="34" charset="0"/>
                <a:cs typeface="Arial" panose="020B0604020202020204" pitchFamily="34" charset="0"/>
              </a:rPr>
              <a:t>GameIndustry.biz / AFJV : </a:t>
            </a:r>
            <a:r>
              <a:rPr lang="fr-FR" sz="700" dirty="0">
                <a:latin typeface="Arial" panose="020B0604020202020204" pitchFamily="34" charset="0"/>
                <a:cs typeface="Arial" panose="020B0604020202020204" pitchFamily="34" charset="0"/>
              </a:rPr>
              <a:t>Pour l'actualité économique et légale du secteur.</a:t>
            </a:r>
          </a:p>
          <a:p>
            <a:pPr marL="628650" lvl="1" indent="-171450" algn="just">
              <a:buFont typeface="Wingdings" panose="05000000000000000000" pitchFamily="2" charset="2"/>
              <a:buChar char="Ø"/>
            </a:pPr>
            <a:r>
              <a:rPr lang="fr-FR" sz="700" b="1" dirty="0">
                <a:latin typeface="Arial" panose="020B0604020202020204" pitchFamily="34" charset="0"/>
                <a:cs typeface="Arial" panose="020B0604020202020204" pitchFamily="34" charset="0"/>
              </a:rPr>
              <a:t>Metacritic : </a:t>
            </a:r>
            <a:r>
              <a:rPr lang="fr-FR" sz="700" dirty="0">
                <a:latin typeface="Arial" panose="020B0604020202020204" pitchFamily="34" charset="0"/>
                <a:cs typeface="Arial" panose="020B0604020202020204" pitchFamily="34" charset="0"/>
              </a:rPr>
              <a:t>Pour compléter l'analyse des notes de la presse spécialisée.</a:t>
            </a:r>
          </a:p>
        </p:txBody>
      </p:sp>
      <p:sp>
        <p:nvSpPr>
          <p:cNvPr id="29" name="ZoneTexte 28">
            <a:extLst>
              <a:ext uri="{FF2B5EF4-FFF2-40B4-BE49-F238E27FC236}">
                <a16:creationId xmlns:a16="http://schemas.microsoft.com/office/drawing/2014/main" id="{B6CC4DD9-F6EE-E4B7-3459-1B030FC855B6}"/>
              </a:ext>
            </a:extLst>
          </p:cNvPr>
          <p:cNvSpPr txBox="1"/>
          <p:nvPr/>
        </p:nvSpPr>
        <p:spPr>
          <a:xfrm>
            <a:off x="1414039" y="4673931"/>
            <a:ext cx="1164579" cy="338554"/>
          </a:xfrm>
          <a:prstGeom prst="rect">
            <a:avLst/>
          </a:prstGeom>
          <a:noFill/>
        </p:spPr>
        <p:txBody>
          <a:bodyPr wrap="square">
            <a:spAutoFit/>
          </a:bodyPr>
          <a:lstStyle/>
          <a:p>
            <a:r>
              <a:rPr lang="fr-FR" sz="1600" b="1" dirty="0">
                <a:latin typeface="Arial" panose="020B0604020202020204" pitchFamily="34" charset="0"/>
                <a:cs typeface="Arial" panose="020B0604020202020204" pitchFamily="34" charset="0"/>
              </a:rPr>
              <a:t>Sources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19"/>
        <p:cNvGrpSpPr/>
        <p:nvPr/>
      </p:nvGrpSpPr>
      <p:grpSpPr>
        <a:xfrm>
          <a:off x="0" y="0"/>
          <a:ext cx="0" cy="0"/>
          <a:chOff x="0" y="0"/>
          <a:chExt cx="0" cy="0"/>
        </a:xfrm>
      </p:grpSpPr>
      <p:sp>
        <p:nvSpPr>
          <p:cNvPr id="2320" name="Google Shape;2320;p9"/>
          <p:cNvSpPr txBox="1">
            <a:spLocks noGrp="1"/>
          </p:cNvSpPr>
          <p:nvPr>
            <p:ph type="title"/>
          </p:nvPr>
        </p:nvSpPr>
        <p:spPr>
          <a:xfrm>
            <a:off x="3867573" y="1952561"/>
            <a:ext cx="4580652" cy="86514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200"/>
              <a:buNone/>
            </a:pPr>
            <a:r>
              <a:rPr lang="en" sz="3200" b="1" dirty="0">
                <a:latin typeface="Arial" panose="020B0604020202020204" pitchFamily="34" charset="0"/>
                <a:cs typeface="Arial" panose="020B0604020202020204" pitchFamily="34" charset="0"/>
              </a:rPr>
              <a:t>Analyses des tendances actuelles</a:t>
            </a:r>
            <a:endParaRPr b="1" dirty="0">
              <a:latin typeface="Arial" panose="020B0604020202020204" pitchFamily="34" charset="0"/>
              <a:cs typeface="Arial" panose="020B0604020202020204" pitchFamily="34" charset="0"/>
            </a:endParaRPr>
          </a:p>
        </p:txBody>
      </p:sp>
      <p:sp>
        <p:nvSpPr>
          <p:cNvPr id="2321" name="Google Shape;2321;p9"/>
          <p:cNvSpPr txBox="1">
            <a:spLocks noGrp="1"/>
          </p:cNvSpPr>
          <p:nvPr>
            <p:ph type="title" idx="2"/>
          </p:nvPr>
        </p:nvSpPr>
        <p:spPr>
          <a:xfrm>
            <a:off x="2808866" y="1952562"/>
            <a:ext cx="963882" cy="865145"/>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2000"/>
              <a:buNone/>
            </a:pPr>
            <a:r>
              <a:rPr lang="en" sz="5400" dirty="0">
                <a:latin typeface="Arial" panose="020B0604020202020204" pitchFamily="34" charset="0"/>
                <a:cs typeface="Arial" panose="020B0604020202020204" pitchFamily="34" charset="0"/>
              </a:rPr>
              <a:t>03</a:t>
            </a:r>
            <a:endParaRPr sz="5400" dirty="0">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8F9934C1-8A82-3039-3A78-36E0140236E7}"/>
              </a:ext>
            </a:extLst>
          </p:cNvPr>
          <p:cNvPicPr>
            <a:picLocks noChangeAspect="1"/>
          </p:cNvPicPr>
          <p:nvPr/>
        </p:nvPicPr>
        <p:blipFill>
          <a:blip r:embed="rId2"/>
          <a:stretch>
            <a:fillRect/>
          </a:stretch>
        </p:blipFill>
        <p:spPr>
          <a:xfrm>
            <a:off x="190788" y="250613"/>
            <a:ext cx="4069637" cy="2322697"/>
          </a:xfrm>
          <a:prstGeom prst="rect">
            <a:avLst/>
          </a:prstGeom>
        </p:spPr>
      </p:pic>
      <p:pic>
        <p:nvPicPr>
          <p:cNvPr id="9" name="Image 8">
            <a:extLst>
              <a:ext uri="{FF2B5EF4-FFF2-40B4-BE49-F238E27FC236}">
                <a16:creationId xmlns:a16="http://schemas.microsoft.com/office/drawing/2014/main" id="{2F399DDE-9203-E54A-6D1D-3B294301277F}"/>
              </a:ext>
            </a:extLst>
          </p:cNvPr>
          <p:cNvPicPr>
            <a:picLocks noChangeAspect="1"/>
          </p:cNvPicPr>
          <p:nvPr/>
        </p:nvPicPr>
        <p:blipFill>
          <a:blip r:embed="rId3"/>
          <a:stretch>
            <a:fillRect/>
          </a:stretch>
        </p:blipFill>
        <p:spPr>
          <a:xfrm>
            <a:off x="4890629" y="250613"/>
            <a:ext cx="3998012" cy="2322697"/>
          </a:xfrm>
          <a:prstGeom prst="rect">
            <a:avLst/>
          </a:prstGeom>
        </p:spPr>
      </p:pic>
      <p:sp>
        <p:nvSpPr>
          <p:cNvPr id="10" name="Rectangle 1">
            <a:extLst>
              <a:ext uri="{FF2B5EF4-FFF2-40B4-BE49-F238E27FC236}">
                <a16:creationId xmlns:a16="http://schemas.microsoft.com/office/drawing/2014/main" id="{9639966A-19E4-1D89-9937-9B52D09A6F55}"/>
              </a:ext>
            </a:extLst>
          </p:cNvPr>
          <p:cNvSpPr>
            <a:spLocks noChangeArrowheads="1"/>
          </p:cNvSpPr>
          <p:nvPr/>
        </p:nvSpPr>
        <p:spPr bwMode="auto">
          <a:xfrm>
            <a:off x="4854816" y="2806397"/>
            <a:ext cx="4069637"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fr-FR" altLang="fr-FR" sz="1100" b="1" i="0" u="none" strike="noStrike" cap="none" normalizeH="0" baseline="0" dirty="0">
                <a:ln>
                  <a:noFill/>
                </a:ln>
                <a:effectLst/>
                <a:latin typeface="Arial" panose="020B0604020202020204" pitchFamily="34" charset="0"/>
              </a:rPr>
              <a:t>Amérique du Nord (NA) :</a:t>
            </a:r>
            <a:r>
              <a:rPr kumimoji="0" lang="fr-FR" altLang="fr-FR" sz="1100" b="0" i="0" u="none" strike="noStrike" cap="none" normalizeH="0" baseline="0" dirty="0">
                <a:ln>
                  <a:noFill/>
                </a:ln>
                <a:effectLst/>
                <a:latin typeface="Arial" panose="020B0604020202020204" pitchFamily="34" charset="0"/>
              </a:rPr>
              <a:t> C'est le premier marché mondial. Les ventes y sont presque le double de celles de l'Europe.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fr-FR" altLang="fr-FR" sz="1100" b="0" i="0" u="none" strike="noStrike" cap="none" normalizeH="0" baseline="0" dirty="0">
              <a:ln>
                <a:noFill/>
              </a:ln>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fr-FR" altLang="fr-FR" sz="1100" b="1" i="0" u="none" strike="noStrike" cap="none" normalizeH="0" baseline="0" dirty="0">
                <a:ln>
                  <a:noFill/>
                </a:ln>
                <a:effectLst/>
                <a:latin typeface="Arial" panose="020B0604020202020204" pitchFamily="34" charset="0"/>
              </a:rPr>
              <a:t>Europe (EU) :</a:t>
            </a:r>
            <a:r>
              <a:rPr kumimoji="0" lang="fr-FR" altLang="fr-FR" sz="1100" b="0" i="0" u="none" strike="noStrike" cap="none" normalizeH="0" baseline="0" dirty="0">
                <a:ln>
                  <a:noFill/>
                </a:ln>
                <a:effectLst/>
                <a:latin typeface="Arial" panose="020B0604020202020204" pitchFamily="34" charset="0"/>
              </a:rPr>
              <a:t> Elle représente le deuxième marché, montrant une adoption massive des jeux vidéo.</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fr-FR" altLang="fr-FR" sz="1100" b="0" i="0" u="none" strike="noStrike" cap="none" normalizeH="0" baseline="0" dirty="0">
              <a:ln>
                <a:noFill/>
              </a:ln>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fr-FR" altLang="fr-FR" sz="1100" b="1" i="0" u="none" strike="noStrike" cap="none" normalizeH="0" baseline="0" dirty="0">
                <a:ln>
                  <a:noFill/>
                </a:ln>
                <a:effectLst/>
                <a:latin typeface="Arial" panose="020B0604020202020204" pitchFamily="34" charset="0"/>
              </a:rPr>
              <a:t>Japon (JP) :</a:t>
            </a:r>
            <a:r>
              <a:rPr kumimoji="0" lang="fr-FR" altLang="fr-FR" sz="1100" b="0" i="0" u="none" strike="noStrike" cap="none" normalizeH="0" baseline="0" dirty="0">
                <a:ln>
                  <a:noFill/>
                </a:ln>
                <a:effectLst/>
                <a:latin typeface="Arial" panose="020B0604020202020204" pitchFamily="34" charset="0"/>
              </a:rPr>
              <a:t> Bien qu'il soit le berceau de Nintendo et Sony, le marché japonais est plus petit en volume total, ce qui s'explique par une population moins nombreuse que les blocs NA et EU.</a:t>
            </a:r>
          </a:p>
        </p:txBody>
      </p:sp>
      <p:sp>
        <p:nvSpPr>
          <p:cNvPr id="11" name="Rectangle 2">
            <a:extLst>
              <a:ext uri="{FF2B5EF4-FFF2-40B4-BE49-F238E27FC236}">
                <a16:creationId xmlns:a16="http://schemas.microsoft.com/office/drawing/2014/main" id="{D9B60A83-2E07-00D0-54AF-22B4A21DACCE}"/>
              </a:ext>
            </a:extLst>
          </p:cNvPr>
          <p:cNvSpPr>
            <a:spLocks noChangeArrowheads="1"/>
          </p:cNvSpPr>
          <p:nvPr/>
        </p:nvSpPr>
        <p:spPr bwMode="auto">
          <a:xfrm>
            <a:off x="94827" y="2687948"/>
            <a:ext cx="4258469"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fr-FR" altLang="fr-FR" sz="1100" b="1" i="0" u="none" strike="noStrike" cap="none" normalizeH="0" baseline="0" dirty="0">
                <a:ln>
                  <a:noFill/>
                </a:ln>
                <a:effectLst/>
                <a:latin typeface="Arial" panose="020B0604020202020204" pitchFamily="34" charset="0"/>
              </a:rPr>
              <a:t>Action :</a:t>
            </a:r>
            <a:r>
              <a:rPr kumimoji="0" lang="fr-FR" altLang="fr-FR" sz="1100" b="0" i="0" u="none" strike="noStrike" cap="none" normalizeH="0" baseline="0" dirty="0">
                <a:ln>
                  <a:noFill/>
                </a:ln>
                <a:effectLst/>
                <a:latin typeface="Arial" panose="020B0604020202020204" pitchFamily="34" charset="0"/>
              </a:rPr>
              <a:t> C'est le genre dominant par excellence. Sa polyvalence attire le public le plus large.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fr-FR" altLang="fr-FR" sz="1100" b="0" i="0" u="none" strike="noStrike" cap="none" normalizeH="0" baseline="0" dirty="0">
              <a:ln>
                <a:noFill/>
              </a:ln>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fr-FR" altLang="fr-FR" sz="1100" b="1" i="0" u="none" strike="noStrike" cap="none" normalizeH="0" baseline="0" dirty="0">
                <a:ln>
                  <a:noFill/>
                </a:ln>
                <a:effectLst/>
                <a:latin typeface="Arial" panose="020B0604020202020204" pitchFamily="34" charset="0"/>
              </a:rPr>
              <a:t>Sports :</a:t>
            </a:r>
            <a:r>
              <a:rPr kumimoji="0" lang="fr-FR" altLang="fr-FR" sz="1100" b="0" i="0" u="none" strike="noStrike" cap="none" normalizeH="0" baseline="0" dirty="0">
                <a:ln>
                  <a:noFill/>
                </a:ln>
                <a:effectLst/>
                <a:latin typeface="Arial" panose="020B0604020202020204" pitchFamily="34" charset="0"/>
              </a:rPr>
              <a:t> Deuxième genre le plus populaire, porté par des franchises annuelles fortes (type FIFA/Madden).</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fr-FR" altLang="fr-FR" sz="1100" b="0" i="0" u="none" strike="noStrike" cap="none" normalizeH="0" baseline="0" dirty="0">
              <a:ln>
                <a:noFill/>
              </a:ln>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fr-FR" altLang="fr-FR" sz="1100" b="1" i="0" u="none" strike="noStrike" cap="none" normalizeH="0" baseline="0" dirty="0">
                <a:ln>
                  <a:noFill/>
                </a:ln>
                <a:effectLst/>
                <a:latin typeface="Arial" panose="020B0604020202020204" pitchFamily="34" charset="0"/>
              </a:rPr>
              <a:t>Shooter &amp; </a:t>
            </a:r>
            <a:r>
              <a:rPr kumimoji="0" lang="fr-FR" altLang="fr-FR" sz="1100" b="1" i="0" u="none" strike="noStrike" cap="none" normalizeH="0" baseline="0" dirty="0" err="1">
                <a:ln>
                  <a:noFill/>
                </a:ln>
                <a:effectLst/>
                <a:latin typeface="Arial" panose="020B0604020202020204" pitchFamily="34" charset="0"/>
              </a:rPr>
              <a:t>Role-Playing</a:t>
            </a:r>
            <a:r>
              <a:rPr kumimoji="0" lang="fr-FR" altLang="fr-FR" sz="1100" b="1" i="0" u="none" strike="noStrike" cap="none" normalizeH="0" baseline="0" dirty="0">
                <a:ln>
                  <a:noFill/>
                </a:ln>
                <a:effectLst/>
                <a:latin typeface="Arial" panose="020B0604020202020204" pitchFamily="34" charset="0"/>
              </a:rPr>
              <a:t> :</a:t>
            </a:r>
            <a:r>
              <a:rPr kumimoji="0" lang="fr-FR" altLang="fr-FR" sz="1100" b="0" i="0" u="none" strike="noStrike" cap="none" normalizeH="0" baseline="0" dirty="0">
                <a:ln>
                  <a:noFill/>
                </a:ln>
                <a:effectLst/>
                <a:latin typeface="Arial" panose="020B0604020202020204" pitchFamily="34" charset="0"/>
              </a:rPr>
              <a:t> Ces genres complètent le haut du classement, confirmant l'attrait pour les expériences immersives et compétitives.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fr-FR" altLang="fr-FR" sz="1100" b="0" i="0" u="none" strike="noStrike" cap="none" normalizeH="0" baseline="0" dirty="0">
              <a:ln>
                <a:noFill/>
              </a:ln>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fr-FR" altLang="fr-FR" sz="1100" b="1" i="0" u="none" strike="noStrike" cap="none" normalizeH="0" baseline="0" dirty="0">
                <a:ln>
                  <a:noFill/>
                </a:ln>
                <a:effectLst/>
                <a:latin typeface="Arial" panose="020B0604020202020204" pitchFamily="34" charset="0"/>
              </a:rPr>
              <a:t>Genres de niche :</a:t>
            </a:r>
            <a:r>
              <a:rPr kumimoji="0" lang="fr-FR" altLang="fr-FR" sz="1100" b="0" i="0" u="none" strike="noStrike" cap="none" normalizeH="0" baseline="0" dirty="0">
                <a:ln>
                  <a:noFill/>
                </a:ln>
                <a:effectLst/>
                <a:latin typeface="Arial" panose="020B0604020202020204" pitchFamily="34" charset="0"/>
              </a:rPr>
              <a:t> La stratégie et les puzzles ferment la marche, étant souvent plus populaires sur PC ou mobile que sur les consoles de salon classiques qui composent majoritairement ces données.</a:t>
            </a:r>
          </a:p>
        </p:txBody>
      </p:sp>
    </p:spTree>
    <p:extLst>
      <p:ext uri="{BB962C8B-B14F-4D97-AF65-F5344CB8AC3E}">
        <p14:creationId xmlns:p14="http://schemas.microsoft.com/office/powerpoint/2010/main" val="10786293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BD715D30-6684-A0BA-1AF8-48F6C28B4728}"/>
              </a:ext>
            </a:extLst>
          </p:cNvPr>
          <p:cNvPicPr>
            <a:picLocks noChangeAspect="1"/>
          </p:cNvPicPr>
          <p:nvPr/>
        </p:nvPicPr>
        <p:blipFill>
          <a:blip r:embed="rId2"/>
          <a:stretch>
            <a:fillRect/>
          </a:stretch>
        </p:blipFill>
        <p:spPr>
          <a:xfrm>
            <a:off x="113923" y="123708"/>
            <a:ext cx="4207464" cy="2676416"/>
          </a:xfrm>
          <a:prstGeom prst="rect">
            <a:avLst/>
          </a:prstGeom>
        </p:spPr>
      </p:pic>
      <p:pic>
        <p:nvPicPr>
          <p:cNvPr id="8" name="Image 7">
            <a:extLst>
              <a:ext uri="{FF2B5EF4-FFF2-40B4-BE49-F238E27FC236}">
                <a16:creationId xmlns:a16="http://schemas.microsoft.com/office/drawing/2014/main" id="{EC82F785-6F0E-C6A4-C7E9-2520CE7F96B2}"/>
              </a:ext>
            </a:extLst>
          </p:cNvPr>
          <p:cNvPicPr>
            <a:picLocks noChangeAspect="1"/>
          </p:cNvPicPr>
          <p:nvPr/>
        </p:nvPicPr>
        <p:blipFill>
          <a:blip r:embed="rId3"/>
          <a:stretch>
            <a:fillRect/>
          </a:stretch>
        </p:blipFill>
        <p:spPr>
          <a:xfrm>
            <a:off x="4722343" y="151796"/>
            <a:ext cx="4207464" cy="2648327"/>
          </a:xfrm>
          <a:prstGeom prst="rect">
            <a:avLst/>
          </a:prstGeom>
        </p:spPr>
      </p:pic>
      <p:sp>
        <p:nvSpPr>
          <p:cNvPr id="9" name="Rectangle 1">
            <a:extLst>
              <a:ext uri="{FF2B5EF4-FFF2-40B4-BE49-F238E27FC236}">
                <a16:creationId xmlns:a16="http://schemas.microsoft.com/office/drawing/2014/main" id="{1BD338A2-2CC8-EEA7-170D-95C40501E0D0}"/>
              </a:ext>
            </a:extLst>
          </p:cNvPr>
          <p:cNvSpPr>
            <a:spLocks noChangeArrowheads="1"/>
          </p:cNvSpPr>
          <p:nvPr/>
        </p:nvSpPr>
        <p:spPr bwMode="auto">
          <a:xfrm>
            <a:off x="4722342" y="3026534"/>
            <a:ext cx="4207465"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fr-FR" altLang="fr-FR" sz="1100" b="1" i="0" u="none" strike="noStrike" cap="none" normalizeH="0" baseline="0" dirty="0">
                <a:ln>
                  <a:noFill/>
                </a:ln>
                <a:effectLst/>
                <a:latin typeface="Arial" panose="020B0604020202020204" pitchFamily="34" charset="0"/>
              </a:rPr>
              <a:t>Sony</a:t>
            </a:r>
            <a:r>
              <a:rPr kumimoji="0" lang="fr-FR" altLang="fr-FR" sz="1100" b="0" i="0" u="none" strike="noStrike" cap="none" normalizeH="0" baseline="0" dirty="0">
                <a:ln>
                  <a:noFill/>
                </a:ln>
                <a:effectLst/>
                <a:latin typeface="Arial" panose="020B0604020202020204" pitchFamily="34" charset="0"/>
              </a:rPr>
              <a:t> et </a:t>
            </a:r>
            <a:r>
              <a:rPr kumimoji="0" lang="fr-FR" altLang="fr-FR" sz="1100" b="1" i="0" u="none" strike="noStrike" cap="none" normalizeH="0" baseline="0" dirty="0">
                <a:ln>
                  <a:noFill/>
                </a:ln>
                <a:effectLst/>
                <a:latin typeface="Arial" panose="020B0604020202020204" pitchFamily="34" charset="0"/>
              </a:rPr>
              <a:t>Nintendo</a:t>
            </a:r>
            <a:r>
              <a:rPr kumimoji="0" lang="fr-FR" altLang="fr-FR" sz="1100" b="0" i="0" u="none" strike="noStrike" cap="none" normalizeH="0" baseline="0" dirty="0">
                <a:ln>
                  <a:noFill/>
                </a:ln>
                <a:effectLst/>
                <a:latin typeface="Arial" panose="020B0604020202020204" pitchFamily="34" charset="0"/>
              </a:rPr>
              <a:t> dominent le marché avec des ventes dépassant les 3 500 millions.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fr-FR" altLang="fr-FR" sz="1100" b="0" i="0" u="none" strike="noStrike" cap="none" normalizeH="0" baseline="0" dirty="0">
              <a:ln>
                <a:noFill/>
              </a:ln>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fr-FR" altLang="fr-FR" sz="1100" b="1" i="0" u="none" strike="noStrike" cap="none" normalizeH="0" baseline="0" dirty="0">
                <a:ln>
                  <a:noFill/>
                </a:ln>
                <a:effectLst/>
                <a:latin typeface="Arial" panose="020B0604020202020204" pitchFamily="34" charset="0"/>
              </a:rPr>
              <a:t>Microsoft :</a:t>
            </a:r>
            <a:r>
              <a:rPr kumimoji="0" lang="fr-FR" altLang="fr-FR" sz="1100" b="0" i="0" u="none" strike="noStrike" cap="none" normalizeH="0" baseline="0" dirty="0">
                <a:ln>
                  <a:noFill/>
                </a:ln>
                <a:effectLst/>
                <a:latin typeface="Arial" panose="020B0604020202020204" pitchFamily="34" charset="0"/>
              </a:rPr>
              <a:t> Arrivé plus tardivement avec la Xbox, il occupe une solide troisième place, mais reste loin derrière les deux constructeurs japonais en termes de volume historique.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fr-FR" altLang="fr-FR" sz="1100" b="0" i="0" u="none" strike="noStrike" cap="none" normalizeH="0" baseline="0" dirty="0">
              <a:ln>
                <a:noFill/>
              </a:ln>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fr-FR" altLang="fr-FR" sz="1100" b="1" i="0" u="none" strike="noStrike" cap="none" normalizeH="0" baseline="0" dirty="0">
                <a:ln>
                  <a:noFill/>
                </a:ln>
                <a:effectLst/>
                <a:latin typeface="Arial" panose="020B0604020202020204" pitchFamily="34" charset="0"/>
              </a:rPr>
              <a:t>Les acteurs mineurs/anciens :</a:t>
            </a:r>
            <a:r>
              <a:rPr kumimoji="0" lang="fr-FR" altLang="fr-FR" sz="1100" b="0" i="0" u="none" strike="noStrike" cap="none" normalizeH="0" baseline="0" dirty="0">
                <a:ln>
                  <a:noFill/>
                </a:ln>
                <a:effectLst/>
                <a:latin typeface="Arial" panose="020B0604020202020204" pitchFamily="34" charset="0"/>
              </a:rPr>
              <a:t> Atari, Sega ou la 3DO n'apparaissent que de façon marginale à l'échelle de l'histoire complète,</a:t>
            </a:r>
          </a:p>
        </p:txBody>
      </p:sp>
      <p:sp>
        <p:nvSpPr>
          <p:cNvPr id="10" name="Rectangle 2">
            <a:extLst>
              <a:ext uri="{FF2B5EF4-FFF2-40B4-BE49-F238E27FC236}">
                <a16:creationId xmlns:a16="http://schemas.microsoft.com/office/drawing/2014/main" id="{8F839A93-4116-9638-63D8-D5E7D3DB9157}"/>
              </a:ext>
            </a:extLst>
          </p:cNvPr>
          <p:cNvSpPr>
            <a:spLocks noChangeArrowheads="1"/>
          </p:cNvSpPr>
          <p:nvPr/>
        </p:nvSpPr>
        <p:spPr bwMode="auto">
          <a:xfrm>
            <a:off x="113922" y="3111172"/>
            <a:ext cx="4207465" cy="1615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fr-FR" altLang="fr-FR" sz="1100" b="0" i="0" u="none" strike="noStrike" cap="none" normalizeH="0" baseline="0" dirty="0">
                <a:ln>
                  <a:noFill/>
                </a:ln>
                <a:effectLst/>
                <a:latin typeface="Arial" panose="020B0604020202020204" pitchFamily="34" charset="0"/>
              </a:rPr>
              <a:t>La </a:t>
            </a:r>
            <a:r>
              <a:rPr kumimoji="0" lang="fr-FR" altLang="fr-FR" sz="1100" b="1" i="0" u="none" strike="noStrike" cap="none" normalizeH="0" baseline="0" dirty="0">
                <a:ln>
                  <a:noFill/>
                </a:ln>
                <a:effectLst/>
                <a:latin typeface="Arial" panose="020B0604020202020204" pitchFamily="34" charset="0"/>
              </a:rPr>
              <a:t>PS2</a:t>
            </a:r>
            <a:r>
              <a:rPr kumimoji="0" lang="fr-FR" altLang="fr-FR" sz="1100" b="0" i="0" u="none" strike="noStrike" cap="none" normalizeH="0" baseline="0" dirty="0">
                <a:ln>
                  <a:noFill/>
                </a:ln>
                <a:effectLst/>
                <a:latin typeface="Arial" panose="020B0604020202020204" pitchFamily="34" charset="0"/>
              </a:rPr>
              <a:t> se distingue nettement comme la plateforme la plus vendue de l'histoire (dépassant les 1 200 millions d'unités).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fr-FR" altLang="fr-FR" sz="1100" b="0" i="0" u="none" strike="noStrike" cap="none" normalizeH="0" baseline="0" dirty="0">
              <a:ln>
                <a:noFill/>
              </a:ln>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fr-FR" altLang="fr-FR" sz="1100" b="1" i="0" u="none" strike="noStrike" cap="none" normalizeH="0" baseline="0" dirty="0">
                <a:ln>
                  <a:noFill/>
                </a:ln>
                <a:effectLst/>
                <a:latin typeface="Arial" panose="020B0604020202020204" pitchFamily="34" charset="0"/>
              </a:rPr>
              <a:t>Succès notables :</a:t>
            </a:r>
            <a:r>
              <a:rPr kumimoji="0" lang="fr-FR" altLang="fr-FR" sz="1100" b="0" i="0" u="none" strike="noStrike" cap="none" normalizeH="0" baseline="0" dirty="0">
                <a:ln>
                  <a:noFill/>
                </a:ln>
                <a:effectLst/>
                <a:latin typeface="Arial" panose="020B0604020202020204" pitchFamily="34" charset="0"/>
              </a:rPr>
              <a:t> On remarque les performances exceptionnelles de la </a:t>
            </a:r>
            <a:r>
              <a:rPr kumimoji="0" lang="fr-FR" altLang="fr-FR" sz="1100" b="1" i="0" u="none" strike="noStrike" cap="none" normalizeH="0" baseline="0" dirty="0">
                <a:ln>
                  <a:noFill/>
                </a:ln>
                <a:effectLst/>
                <a:latin typeface="Arial" panose="020B0604020202020204" pitchFamily="34" charset="0"/>
              </a:rPr>
              <a:t>DS</a:t>
            </a:r>
            <a:r>
              <a:rPr kumimoji="0" lang="fr-FR" altLang="fr-FR" sz="1100" b="0" i="0" u="none" strike="noStrike" cap="none" normalizeH="0" baseline="0" dirty="0">
                <a:ln>
                  <a:noFill/>
                </a:ln>
                <a:effectLst/>
                <a:latin typeface="Arial" panose="020B0604020202020204" pitchFamily="34" charset="0"/>
              </a:rPr>
              <a:t>, </a:t>
            </a:r>
            <a:r>
              <a:rPr kumimoji="0" lang="fr-FR" altLang="fr-FR" sz="1100" b="1" i="0" u="none" strike="noStrike" cap="none" normalizeH="0" baseline="0" dirty="0">
                <a:ln>
                  <a:noFill/>
                </a:ln>
                <a:effectLst/>
                <a:latin typeface="Arial" panose="020B0604020202020204" pitchFamily="34" charset="0"/>
              </a:rPr>
              <a:t>PS3</a:t>
            </a:r>
            <a:r>
              <a:rPr kumimoji="0" lang="fr-FR" altLang="fr-FR" sz="1100" b="0" i="0" u="none" strike="noStrike" cap="none" normalizeH="0" baseline="0" dirty="0">
                <a:ln>
                  <a:noFill/>
                </a:ln>
                <a:effectLst/>
                <a:latin typeface="Arial" panose="020B0604020202020204" pitchFamily="34" charset="0"/>
              </a:rPr>
              <a:t>, </a:t>
            </a:r>
            <a:r>
              <a:rPr kumimoji="0" lang="fr-FR" altLang="fr-FR" sz="1100" b="1" i="0" u="none" strike="noStrike" cap="none" normalizeH="0" baseline="0" dirty="0">
                <a:ln>
                  <a:noFill/>
                </a:ln>
                <a:effectLst/>
                <a:latin typeface="Arial" panose="020B0604020202020204" pitchFamily="34" charset="0"/>
              </a:rPr>
              <a:t>Wii</a:t>
            </a:r>
            <a:r>
              <a:rPr kumimoji="0" lang="fr-FR" altLang="fr-FR" sz="1100" b="0" i="0" u="none" strike="noStrike" cap="none" normalizeH="0" baseline="0" dirty="0">
                <a:ln>
                  <a:noFill/>
                </a:ln>
                <a:effectLst/>
                <a:latin typeface="Arial" panose="020B0604020202020204" pitchFamily="34" charset="0"/>
              </a:rPr>
              <a:t> et </a:t>
            </a:r>
            <a:r>
              <a:rPr kumimoji="0" lang="fr-FR" altLang="fr-FR" sz="1100" b="1" i="0" u="none" strike="noStrike" cap="none" normalizeH="0" baseline="0" dirty="0">
                <a:ln>
                  <a:noFill/>
                </a:ln>
                <a:effectLst/>
                <a:latin typeface="Arial" panose="020B0604020202020204" pitchFamily="34" charset="0"/>
              </a:rPr>
              <a:t>Xbox 360</a:t>
            </a:r>
            <a:r>
              <a:rPr kumimoji="0" lang="fr-FR" altLang="fr-FR" sz="1100" b="0" i="0" u="none" strike="noStrike" cap="none" normalizeH="0" baseline="0" dirty="0">
                <a:ln>
                  <a:noFill/>
                </a:ln>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fr-FR" altLang="fr-FR" sz="1100" b="0" i="0" u="none" strike="noStrike" cap="none" normalizeH="0" baseline="0" dirty="0">
              <a:ln>
                <a:noFill/>
              </a:ln>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fr-FR" altLang="fr-FR" sz="1100" b="1" i="0" u="none" strike="noStrike" cap="none" normalizeH="0" baseline="0" dirty="0">
                <a:ln>
                  <a:noFill/>
                </a:ln>
                <a:effectLst/>
                <a:latin typeface="Arial" panose="020B0604020202020204" pitchFamily="34" charset="0"/>
              </a:rPr>
              <a:t>Échecs ou niches :</a:t>
            </a:r>
            <a:r>
              <a:rPr kumimoji="0" lang="fr-FR" altLang="fr-FR" sz="1100" b="0" i="0" u="none" strike="noStrike" cap="none" normalizeH="0" baseline="0" dirty="0">
                <a:ln>
                  <a:noFill/>
                </a:ln>
                <a:effectLst/>
                <a:latin typeface="Arial" panose="020B0604020202020204" pitchFamily="34" charset="0"/>
              </a:rPr>
              <a:t> Des consoles comme la Wii U, la PS Vita ou la Saturn apparaissent très faibles en comparaison des leaders.</a:t>
            </a:r>
          </a:p>
        </p:txBody>
      </p:sp>
    </p:spTree>
    <p:extLst>
      <p:ext uri="{BB962C8B-B14F-4D97-AF65-F5344CB8AC3E}">
        <p14:creationId xmlns:p14="http://schemas.microsoft.com/office/powerpoint/2010/main" val="25604867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3AF4D3B6-B03A-5EEF-EBC0-2AD5B0A50543}"/>
              </a:ext>
            </a:extLst>
          </p:cNvPr>
          <p:cNvPicPr>
            <a:picLocks noChangeAspect="1"/>
          </p:cNvPicPr>
          <p:nvPr/>
        </p:nvPicPr>
        <p:blipFill>
          <a:blip r:embed="rId2"/>
          <a:stretch>
            <a:fillRect/>
          </a:stretch>
        </p:blipFill>
        <p:spPr>
          <a:xfrm>
            <a:off x="692929" y="335905"/>
            <a:ext cx="7419475" cy="2755631"/>
          </a:xfrm>
          <a:prstGeom prst="rect">
            <a:avLst/>
          </a:prstGeom>
        </p:spPr>
      </p:pic>
      <p:sp>
        <p:nvSpPr>
          <p:cNvPr id="7" name="Rectangle 1">
            <a:extLst>
              <a:ext uri="{FF2B5EF4-FFF2-40B4-BE49-F238E27FC236}">
                <a16:creationId xmlns:a16="http://schemas.microsoft.com/office/drawing/2014/main" id="{B052846F-CE39-EF7A-BFAA-0F4629B67898}"/>
              </a:ext>
            </a:extLst>
          </p:cNvPr>
          <p:cNvSpPr>
            <a:spLocks noChangeArrowheads="1"/>
          </p:cNvSpPr>
          <p:nvPr/>
        </p:nvSpPr>
        <p:spPr bwMode="auto">
          <a:xfrm>
            <a:off x="237067" y="3361046"/>
            <a:ext cx="8595360"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fr-FR" altLang="fr-FR" sz="1100" b="1" i="0" u="none" strike="noStrike" cap="none" normalizeH="0" baseline="0" dirty="0">
                <a:ln>
                  <a:noFill/>
                </a:ln>
                <a:effectLst/>
                <a:latin typeface="Arial" panose="020B0604020202020204" pitchFamily="34" charset="0"/>
              </a:rPr>
              <a:t>Croissance lente (1980-1995) :</a:t>
            </a:r>
            <a:r>
              <a:rPr kumimoji="0" lang="fr-FR" altLang="fr-FR" sz="1100" b="0" i="0" u="none" strike="noStrike" cap="none" normalizeH="0" baseline="0" dirty="0">
                <a:ln>
                  <a:noFill/>
                </a:ln>
                <a:effectLst/>
                <a:latin typeface="Arial" panose="020B0604020202020204" pitchFamily="34" charset="0"/>
              </a:rPr>
              <a:t> Le marché est encore une niche, malgré quelques pics correspondant aux premières consoles de salon.</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fr-FR" altLang="fr-FR" sz="1100" b="0" i="0" u="none" strike="noStrike" cap="none" normalizeH="0" baseline="0" dirty="0">
              <a:ln>
                <a:noFill/>
              </a:ln>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fr-FR" altLang="fr-FR" sz="1100" b="1" i="0" u="none" strike="noStrike" cap="none" normalizeH="0" baseline="0" dirty="0">
                <a:ln>
                  <a:noFill/>
                </a:ln>
                <a:effectLst/>
                <a:latin typeface="Arial" panose="020B0604020202020204" pitchFamily="34" charset="0"/>
              </a:rPr>
              <a:t>L'explosion (1995-2008) :</a:t>
            </a:r>
            <a:r>
              <a:rPr kumimoji="0" lang="fr-FR" altLang="fr-FR" sz="1100" b="0" i="0" u="none" strike="noStrike" cap="none" normalizeH="0" baseline="0" dirty="0">
                <a:ln>
                  <a:noFill/>
                </a:ln>
                <a:effectLst/>
                <a:latin typeface="Arial" panose="020B0604020202020204" pitchFamily="34" charset="0"/>
              </a:rPr>
              <a:t> On observe une montée en flèche massive. C'est l'âge d'or des consoles de 5e, 6e et 7e générations (PlayStation, PS2, Wii). Le pic historique se situe vers </a:t>
            </a:r>
            <a:r>
              <a:rPr kumimoji="0" lang="fr-FR" altLang="fr-FR" sz="1100" b="1" i="0" u="none" strike="noStrike" cap="none" normalizeH="0" baseline="0" dirty="0">
                <a:ln>
                  <a:noFill/>
                </a:ln>
                <a:effectLst/>
                <a:latin typeface="Arial" panose="020B0604020202020204" pitchFamily="34" charset="0"/>
              </a:rPr>
              <a:t>2008-2009</a:t>
            </a:r>
            <a:r>
              <a:rPr kumimoji="0" lang="fr-FR" altLang="fr-FR" sz="1100" b="0" i="0" u="none" strike="noStrike" cap="none" normalizeH="0" baseline="0" dirty="0">
                <a:ln>
                  <a:noFill/>
                </a:ln>
                <a:effectLst/>
                <a:latin typeface="Arial" panose="020B0604020202020204" pitchFamily="34" charset="0"/>
              </a:rPr>
              <a:t>, dépassant les 600 millions d'unités vendues.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fr-FR" altLang="fr-FR" sz="1100" b="0" i="0" u="none" strike="noStrike" cap="none" normalizeH="0" baseline="0" dirty="0">
              <a:ln>
                <a:noFill/>
              </a:ln>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fr-FR" altLang="fr-FR" sz="1100" b="1" i="0" u="none" strike="noStrike" cap="none" normalizeH="0" baseline="0" dirty="0">
                <a:ln>
                  <a:noFill/>
                </a:ln>
                <a:effectLst/>
                <a:latin typeface="Arial" panose="020B0604020202020204" pitchFamily="34" charset="0"/>
              </a:rPr>
              <a:t>Le déclin post-2010 :</a:t>
            </a:r>
            <a:r>
              <a:rPr kumimoji="0" lang="fr-FR" altLang="fr-FR" sz="1100" b="0" i="0" u="none" strike="noStrike" cap="none" normalizeH="0" baseline="0" dirty="0">
                <a:ln>
                  <a:noFill/>
                </a:ln>
                <a:effectLst/>
                <a:latin typeface="Arial" panose="020B0604020202020204" pitchFamily="34" charset="0"/>
              </a:rPr>
              <a:t> On remarque une chute brutale après 2010. Cela peut s'expliquer par la transition vers le </a:t>
            </a:r>
            <a:r>
              <a:rPr kumimoji="0" lang="fr-FR" altLang="fr-FR" sz="1100" b="1" i="0" u="none" strike="noStrike" cap="none" normalizeH="0" baseline="0" dirty="0">
                <a:ln>
                  <a:noFill/>
                </a:ln>
                <a:effectLst/>
                <a:latin typeface="Arial" panose="020B0604020202020204" pitchFamily="34" charset="0"/>
              </a:rPr>
              <a:t>numérique</a:t>
            </a:r>
            <a:r>
              <a:rPr kumimoji="0" lang="fr-FR" altLang="fr-FR" sz="1100" b="0" i="0" u="none" strike="noStrike" cap="none" normalizeH="0" baseline="0" dirty="0">
                <a:ln>
                  <a:noFill/>
                </a:ln>
                <a:effectLst/>
                <a:latin typeface="Arial" panose="020B0604020202020204" pitchFamily="34" charset="0"/>
              </a:rPr>
              <a:t> et l'essor des jeux sur </a:t>
            </a:r>
            <a:r>
              <a:rPr kumimoji="0" lang="fr-FR" altLang="fr-FR" sz="1100" b="1" i="0" u="none" strike="noStrike" cap="none" normalizeH="0" baseline="0" dirty="0">
                <a:ln>
                  <a:noFill/>
                </a:ln>
                <a:effectLst/>
                <a:latin typeface="Arial" panose="020B0604020202020204" pitchFamily="34" charset="0"/>
              </a:rPr>
              <a:t>mobile</a:t>
            </a:r>
            <a:r>
              <a:rPr kumimoji="0" lang="fr-FR" altLang="fr-FR" sz="1100" b="0" i="0" u="none" strike="noStrike" cap="none" normalizeH="0" baseline="0" dirty="0">
                <a:ln>
                  <a:noFill/>
                </a:ln>
                <a:effectLst/>
                <a:latin typeface="Arial" panose="020B0604020202020204" pitchFamily="34" charset="0"/>
              </a:rPr>
              <a:t>.</a:t>
            </a:r>
          </a:p>
        </p:txBody>
      </p:sp>
    </p:spTree>
    <p:extLst>
      <p:ext uri="{BB962C8B-B14F-4D97-AF65-F5344CB8AC3E}">
        <p14:creationId xmlns:p14="http://schemas.microsoft.com/office/powerpoint/2010/main" val="3214399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43">
          <a:extLst>
            <a:ext uri="{FF2B5EF4-FFF2-40B4-BE49-F238E27FC236}">
              <a16:creationId xmlns:a16="http://schemas.microsoft.com/office/drawing/2014/main" id="{A656F04C-8632-614C-F5EA-58DD1A941DEB}"/>
            </a:ext>
          </a:extLst>
        </p:cNvPr>
        <p:cNvGrpSpPr/>
        <p:nvPr/>
      </p:nvGrpSpPr>
      <p:grpSpPr>
        <a:xfrm>
          <a:off x="0" y="0"/>
          <a:ext cx="0" cy="0"/>
          <a:chOff x="0" y="0"/>
          <a:chExt cx="0" cy="0"/>
        </a:xfrm>
      </p:grpSpPr>
      <p:sp>
        <p:nvSpPr>
          <p:cNvPr id="2344" name="Google Shape;2344;p13">
            <a:extLst>
              <a:ext uri="{FF2B5EF4-FFF2-40B4-BE49-F238E27FC236}">
                <a16:creationId xmlns:a16="http://schemas.microsoft.com/office/drawing/2014/main" id="{32CF1E54-57E9-1271-57A3-B145EC0CBFD7}"/>
              </a:ext>
            </a:extLst>
          </p:cNvPr>
          <p:cNvSpPr txBox="1">
            <a:spLocks noGrp="1"/>
          </p:cNvSpPr>
          <p:nvPr>
            <p:ph type="title"/>
          </p:nvPr>
        </p:nvSpPr>
        <p:spPr>
          <a:xfrm>
            <a:off x="4511039" y="2038771"/>
            <a:ext cx="4077548" cy="957303"/>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200"/>
              <a:buNone/>
            </a:pPr>
            <a:r>
              <a:rPr lang="en" sz="3200" b="1" dirty="0">
                <a:latin typeface="Arial" panose="020B0604020202020204" pitchFamily="34" charset="0"/>
                <a:cs typeface="Arial" panose="020B0604020202020204" pitchFamily="34" charset="0"/>
              </a:rPr>
              <a:t>Les hypothèses de l’étude</a:t>
            </a:r>
            <a:endParaRPr b="1" dirty="0">
              <a:latin typeface="Arial" panose="020B0604020202020204" pitchFamily="34" charset="0"/>
              <a:cs typeface="Arial" panose="020B0604020202020204" pitchFamily="34" charset="0"/>
            </a:endParaRPr>
          </a:p>
        </p:txBody>
      </p:sp>
      <p:sp>
        <p:nvSpPr>
          <p:cNvPr id="2345" name="Google Shape;2345;p13">
            <a:extLst>
              <a:ext uri="{FF2B5EF4-FFF2-40B4-BE49-F238E27FC236}">
                <a16:creationId xmlns:a16="http://schemas.microsoft.com/office/drawing/2014/main" id="{A4752CEA-06DB-77DE-99CF-550A97C2C519}"/>
              </a:ext>
            </a:extLst>
          </p:cNvPr>
          <p:cNvSpPr txBox="1">
            <a:spLocks noGrp="1"/>
          </p:cNvSpPr>
          <p:nvPr>
            <p:ph type="title" idx="2"/>
          </p:nvPr>
        </p:nvSpPr>
        <p:spPr>
          <a:xfrm>
            <a:off x="3377824" y="2038773"/>
            <a:ext cx="1133215" cy="957302"/>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2000"/>
              <a:buNone/>
            </a:pPr>
            <a:r>
              <a:rPr lang="en" sz="5600" dirty="0">
                <a:latin typeface="Arial" panose="020B0604020202020204" pitchFamily="34" charset="0"/>
                <a:cs typeface="Arial" panose="020B0604020202020204" pitchFamily="34" charset="0"/>
              </a:rPr>
              <a:t>04</a:t>
            </a:r>
            <a:endParaRPr sz="5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140813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a:extLst>
              <a:ext uri="{FF2B5EF4-FFF2-40B4-BE49-F238E27FC236}">
                <a16:creationId xmlns:a16="http://schemas.microsoft.com/office/drawing/2014/main" id="{CA7A6D6D-C495-7448-5D68-3A36F7838014}"/>
              </a:ext>
            </a:extLst>
          </p:cNvPr>
          <p:cNvSpPr txBox="1"/>
          <p:nvPr/>
        </p:nvSpPr>
        <p:spPr>
          <a:xfrm>
            <a:off x="514773" y="1122886"/>
            <a:ext cx="8283788" cy="3139321"/>
          </a:xfrm>
          <a:prstGeom prst="rect">
            <a:avLst/>
          </a:prstGeom>
          <a:noFill/>
        </p:spPr>
        <p:txBody>
          <a:bodyPr wrap="square">
            <a:spAutoFit/>
          </a:bodyPr>
          <a:lstStyle/>
          <a:p>
            <a:pPr marL="285750" indent="-285750">
              <a:buClr>
                <a:schemeClr val="tx1"/>
              </a:buClr>
              <a:buFont typeface="Wingdings" panose="05000000000000000000" pitchFamily="2" charset="2"/>
              <a:buChar char="q"/>
            </a:pPr>
            <a:r>
              <a:rPr lang="fr-FR" b="1" i="0" dirty="0">
                <a:effectLst/>
                <a:latin typeface="Arial" panose="020B0604020202020204" pitchFamily="34" charset="0"/>
                <a:cs typeface="Arial" panose="020B0604020202020204" pitchFamily="34" charset="0"/>
              </a:rPr>
              <a:t>H1</a:t>
            </a:r>
            <a:r>
              <a:rPr lang="fr-FR" b="0" i="0" dirty="0">
                <a:effectLst/>
                <a:latin typeface="Arial" panose="020B0604020202020204" pitchFamily="34" charset="0"/>
                <a:cs typeface="Arial" panose="020B0604020202020204" pitchFamily="34" charset="0"/>
              </a:rPr>
              <a:t> — Les joueurs PC préfèrent les genres narratifs (RPG / Simulation)</a:t>
            </a:r>
          </a:p>
          <a:p>
            <a:pPr marL="285750" indent="-285750">
              <a:buClr>
                <a:schemeClr val="tx1"/>
              </a:buClr>
              <a:buFont typeface="Wingdings" panose="05000000000000000000" pitchFamily="2" charset="2"/>
              <a:buChar char="q"/>
            </a:pPr>
            <a:endParaRPr lang="fr-FR" b="0" i="0" dirty="0">
              <a:effectLst/>
              <a:latin typeface="Arial" panose="020B0604020202020204" pitchFamily="34" charset="0"/>
              <a:cs typeface="Arial" panose="020B0604020202020204" pitchFamily="34" charset="0"/>
            </a:endParaRPr>
          </a:p>
          <a:p>
            <a:pPr marL="285750" indent="-285750">
              <a:buClr>
                <a:schemeClr val="tx1"/>
              </a:buClr>
              <a:buFont typeface="Wingdings" panose="05000000000000000000" pitchFamily="2" charset="2"/>
              <a:buChar char="q"/>
            </a:pPr>
            <a:r>
              <a:rPr lang="fr-FR" b="1" dirty="0">
                <a:latin typeface="Arial" panose="020B0604020202020204" pitchFamily="34" charset="0"/>
                <a:cs typeface="Arial" panose="020B0604020202020204" pitchFamily="34" charset="0"/>
              </a:rPr>
              <a:t>H2 </a:t>
            </a:r>
            <a:r>
              <a:rPr lang="fr-FR" dirty="0">
                <a:latin typeface="Arial" panose="020B0604020202020204" pitchFamily="34" charset="0"/>
                <a:cs typeface="Arial" panose="020B0604020202020204" pitchFamily="34" charset="0"/>
              </a:rPr>
              <a:t>— Le scénario est le critère d'achat n°1, quel que soit le segment </a:t>
            </a:r>
          </a:p>
          <a:p>
            <a:pPr marL="285750" indent="-285750">
              <a:buClr>
                <a:schemeClr val="tx1"/>
              </a:buClr>
              <a:buFont typeface="Wingdings" panose="05000000000000000000" pitchFamily="2" charset="2"/>
              <a:buChar char="q"/>
            </a:pPr>
            <a:endParaRPr lang="fr-FR" dirty="0">
              <a:latin typeface="Arial" panose="020B0604020202020204" pitchFamily="34" charset="0"/>
              <a:cs typeface="Arial" panose="020B0604020202020204" pitchFamily="34" charset="0"/>
            </a:endParaRPr>
          </a:p>
          <a:p>
            <a:pPr marL="285750" indent="-285750">
              <a:buClr>
                <a:schemeClr val="tx1"/>
              </a:buClr>
              <a:buFont typeface="Wingdings" panose="05000000000000000000" pitchFamily="2" charset="2"/>
              <a:buChar char="q"/>
            </a:pPr>
            <a:r>
              <a:rPr lang="fr-FR" b="1" dirty="0">
                <a:latin typeface="Arial" panose="020B0604020202020204" pitchFamily="34" charset="0"/>
                <a:cs typeface="Arial" panose="020B0604020202020204" pitchFamily="34" charset="0"/>
              </a:rPr>
              <a:t>H3</a:t>
            </a:r>
            <a:r>
              <a:rPr lang="fr-FR" dirty="0">
                <a:latin typeface="Arial" panose="020B0604020202020204" pitchFamily="34" charset="0"/>
                <a:cs typeface="Arial" panose="020B0604020202020204" pitchFamily="34" charset="0"/>
              </a:rPr>
              <a:t> — Les joueurs solo sont moins sensibles au prix que les joueurs multi </a:t>
            </a:r>
          </a:p>
          <a:p>
            <a:pPr marL="285750" indent="-285750">
              <a:buClr>
                <a:schemeClr val="tx1"/>
              </a:buClr>
              <a:buFont typeface="Wingdings" panose="05000000000000000000" pitchFamily="2" charset="2"/>
              <a:buChar char="q"/>
            </a:pPr>
            <a:endParaRPr lang="fr-FR" dirty="0">
              <a:latin typeface="Arial" panose="020B0604020202020204" pitchFamily="34" charset="0"/>
              <a:cs typeface="Arial" panose="020B0604020202020204" pitchFamily="34" charset="0"/>
            </a:endParaRPr>
          </a:p>
          <a:p>
            <a:pPr marL="285750" indent="-285750">
              <a:buClr>
                <a:schemeClr val="tx1"/>
              </a:buClr>
              <a:buFont typeface="Wingdings" panose="05000000000000000000" pitchFamily="2" charset="2"/>
              <a:buChar char="q"/>
            </a:pPr>
            <a:r>
              <a:rPr lang="fr-FR" b="1" dirty="0">
                <a:latin typeface="Arial" panose="020B0604020202020204" pitchFamily="34" charset="0"/>
                <a:cs typeface="Arial" panose="020B0604020202020204" pitchFamily="34" charset="0"/>
              </a:rPr>
              <a:t>H4 </a:t>
            </a:r>
            <a:r>
              <a:rPr lang="fr-FR" dirty="0">
                <a:latin typeface="Arial" panose="020B0604020202020204" pitchFamily="34" charset="0"/>
                <a:cs typeface="Arial" panose="020B0604020202020204" pitchFamily="34" charset="0"/>
              </a:rPr>
              <a:t>— Les joueurs qui achètent souvent (3–5+ jeux/an) sont plus ouverts aux DLC</a:t>
            </a:r>
          </a:p>
          <a:p>
            <a:pPr marL="285750" indent="-285750">
              <a:buClr>
                <a:schemeClr val="tx1"/>
              </a:buClr>
              <a:buFont typeface="Wingdings" panose="05000000000000000000" pitchFamily="2" charset="2"/>
              <a:buChar char="q"/>
            </a:pPr>
            <a:endParaRPr lang="fr-FR" dirty="0">
              <a:latin typeface="Arial" panose="020B0604020202020204" pitchFamily="34" charset="0"/>
              <a:cs typeface="Arial" panose="020B0604020202020204" pitchFamily="34" charset="0"/>
            </a:endParaRPr>
          </a:p>
          <a:p>
            <a:pPr marL="285750" indent="-285750">
              <a:buClr>
                <a:schemeClr val="tx1"/>
              </a:buClr>
              <a:buFont typeface="Wingdings" panose="05000000000000000000" pitchFamily="2" charset="2"/>
              <a:buChar char="q"/>
            </a:pPr>
            <a:r>
              <a:rPr lang="fr-FR" b="1" dirty="0">
                <a:latin typeface="Arial" panose="020B0604020202020204" pitchFamily="34" charset="0"/>
                <a:cs typeface="Arial" panose="020B0604020202020204" pitchFamily="34" charset="0"/>
              </a:rPr>
              <a:t>H5</a:t>
            </a:r>
            <a:r>
              <a:rPr lang="fr-FR" dirty="0">
                <a:latin typeface="Arial" panose="020B0604020202020204" pitchFamily="34" charset="0"/>
                <a:cs typeface="Arial" panose="020B0604020202020204" pitchFamily="34" charset="0"/>
              </a:rPr>
              <a:t> — Les joueurs console accordent plus d'importance à Metacritic que les joueurs PC</a:t>
            </a:r>
            <a:r>
              <a:rPr lang="fr-FR" b="0" i="0" dirty="0">
                <a:effectLst/>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375468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43"/>
        <p:cNvGrpSpPr/>
        <p:nvPr/>
      </p:nvGrpSpPr>
      <p:grpSpPr>
        <a:xfrm>
          <a:off x="0" y="0"/>
          <a:ext cx="0" cy="0"/>
          <a:chOff x="0" y="0"/>
          <a:chExt cx="0" cy="0"/>
        </a:xfrm>
      </p:grpSpPr>
      <p:sp>
        <p:nvSpPr>
          <p:cNvPr id="2344" name="Google Shape;2344;p13"/>
          <p:cNvSpPr txBox="1">
            <a:spLocks noGrp="1"/>
          </p:cNvSpPr>
          <p:nvPr>
            <p:ph type="title"/>
          </p:nvPr>
        </p:nvSpPr>
        <p:spPr>
          <a:xfrm>
            <a:off x="4287520" y="1930400"/>
            <a:ext cx="4160705" cy="876022"/>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200"/>
              <a:buNone/>
            </a:pPr>
            <a:r>
              <a:rPr lang="en" sz="3200" b="1" dirty="0">
                <a:latin typeface="Arial" panose="020B0604020202020204" pitchFamily="34" charset="0"/>
                <a:cs typeface="Arial" panose="020B0604020202020204" pitchFamily="34" charset="0"/>
              </a:rPr>
              <a:t>Analyses du questionnaire</a:t>
            </a:r>
            <a:endParaRPr b="1" dirty="0">
              <a:latin typeface="Arial" panose="020B0604020202020204" pitchFamily="34" charset="0"/>
              <a:cs typeface="Arial" panose="020B0604020202020204" pitchFamily="34" charset="0"/>
            </a:endParaRPr>
          </a:p>
        </p:txBody>
      </p:sp>
      <p:sp>
        <p:nvSpPr>
          <p:cNvPr id="2345" name="Google Shape;2345;p13"/>
          <p:cNvSpPr txBox="1">
            <a:spLocks noGrp="1"/>
          </p:cNvSpPr>
          <p:nvPr>
            <p:ph type="title" idx="2"/>
          </p:nvPr>
        </p:nvSpPr>
        <p:spPr>
          <a:xfrm>
            <a:off x="3330412" y="1930400"/>
            <a:ext cx="957108" cy="876022"/>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2000"/>
              <a:buNone/>
            </a:pPr>
            <a:r>
              <a:rPr lang="en" sz="5400" dirty="0">
                <a:latin typeface="Arial" panose="020B0604020202020204" pitchFamily="34" charset="0"/>
                <a:cs typeface="Arial" panose="020B0604020202020204" pitchFamily="34" charset="0"/>
              </a:rPr>
              <a:t>05</a:t>
            </a:r>
            <a:endParaRPr sz="5400" dirty="0">
              <a:latin typeface="Arial" panose="020B0604020202020204" pitchFamily="34" charset="0"/>
              <a:cs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orms response chart. Question title: 1. Sur quelle plateforme jouez-vous principalement à des jeux à gros budget (Triple A)?. Number of responses: 16 responses.">
            <a:extLst>
              <a:ext uri="{FF2B5EF4-FFF2-40B4-BE49-F238E27FC236}">
                <a16:creationId xmlns:a16="http://schemas.microsoft.com/office/drawing/2014/main" id="{2E12B20E-077E-7BCB-7424-BA98258D1A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200" y="304801"/>
            <a:ext cx="7802880" cy="3556000"/>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9C4EF7E7-3669-B291-27DE-834D3AF86DFD}"/>
              </a:ext>
            </a:extLst>
          </p:cNvPr>
          <p:cNvSpPr txBox="1"/>
          <p:nvPr/>
        </p:nvSpPr>
        <p:spPr>
          <a:xfrm>
            <a:off x="711201" y="4017453"/>
            <a:ext cx="7802880" cy="646331"/>
          </a:xfrm>
          <a:prstGeom prst="rect">
            <a:avLst/>
          </a:prstGeom>
          <a:noFill/>
        </p:spPr>
        <p:txBody>
          <a:bodyPr wrap="square">
            <a:spAutoFit/>
          </a:bodyPr>
          <a:lstStyle/>
          <a:p>
            <a:r>
              <a:rPr lang="fr-FR" b="0" i="0" dirty="0">
                <a:solidFill>
                  <a:schemeClr val="tx2"/>
                </a:solidFill>
                <a:effectLst/>
                <a:latin typeface="Arial" panose="020B0604020202020204" pitchFamily="34" charset="0"/>
                <a:cs typeface="Arial" panose="020B0604020202020204" pitchFamily="34" charset="0"/>
              </a:rPr>
              <a:t>Le PC écrase les autres plateformes avec 69 % des voix (11/16). PS5 et Xbox </a:t>
            </a:r>
            <a:r>
              <a:rPr lang="fr-FR" b="0" i="0" dirty="0" err="1">
                <a:solidFill>
                  <a:schemeClr val="tx2"/>
                </a:solidFill>
                <a:effectLst/>
                <a:latin typeface="Arial" panose="020B0604020202020204" pitchFamily="34" charset="0"/>
                <a:cs typeface="Arial" panose="020B0604020202020204" pitchFamily="34" charset="0"/>
              </a:rPr>
              <a:t>Series</a:t>
            </a:r>
            <a:r>
              <a:rPr lang="fr-FR" b="0" i="0" dirty="0">
                <a:solidFill>
                  <a:schemeClr val="tx2"/>
                </a:solidFill>
                <a:effectLst/>
                <a:latin typeface="Arial" panose="020B0604020202020204" pitchFamily="34" charset="0"/>
                <a:cs typeface="Arial" panose="020B0604020202020204" pitchFamily="34" charset="0"/>
              </a:rPr>
              <a:t> se partagent 12 % chacun, et la Switch reste marginale à 6 %. </a:t>
            </a:r>
            <a:endParaRPr lang="fr-FR" dirty="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649619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Forms response chart. Question title: 2. Combien de jeux vidéo achetez-vous en moyenne par an (prix fort ou promo) ?. Number of responses: 16 responses.">
            <a:extLst>
              <a:ext uri="{FF2B5EF4-FFF2-40B4-BE49-F238E27FC236}">
                <a16:creationId xmlns:a16="http://schemas.microsoft.com/office/drawing/2014/main" id="{14515EB9-CB6B-A1CF-9A56-D64FB846B5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451" y="230292"/>
            <a:ext cx="8155095" cy="3455247"/>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3136A9F9-6134-3308-1922-18BC8603A4BF}"/>
              </a:ext>
            </a:extLst>
          </p:cNvPr>
          <p:cNvSpPr txBox="1"/>
          <p:nvPr/>
        </p:nvSpPr>
        <p:spPr>
          <a:xfrm>
            <a:off x="494451" y="3964821"/>
            <a:ext cx="8155096" cy="923330"/>
          </a:xfrm>
          <a:prstGeom prst="rect">
            <a:avLst/>
          </a:prstGeom>
          <a:noFill/>
        </p:spPr>
        <p:txBody>
          <a:bodyPr wrap="square">
            <a:spAutoFit/>
          </a:bodyPr>
          <a:lstStyle/>
          <a:p>
            <a:r>
              <a:rPr lang="fr-FR" b="0" i="0" dirty="0">
                <a:solidFill>
                  <a:schemeClr val="tx2"/>
                </a:solidFill>
                <a:effectLst/>
                <a:latin typeface="Arial" panose="020B0604020202020204" pitchFamily="34" charset="0"/>
                <a:cs typeface="Arial" panose="020B0604020202020204" pitchFamily="34" charset="0"/>
              </a:rPr>
              <a:t>L’échantillon se divise en deux blocs quasi égaux : les acheteurs occasionnels (1–2 jeux/an, 44 %) et les acheteurs réguliers (3–5 jeux/an, 44 %). Les gros consommateurs (6–10) ne représentent que 13 %. </a:t>
            </a:r>
            <a:endParaRPr lang="fr-FR" dirty="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996587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Forms response chart. Question title: 3. Quel est votre genre de jeu préféré pour une expérience immersive ?  . Number of responses: 16 responses.">
            <a:extLst>
              <a:ext uri="{FF2B5EF4-FFF2-40B4-BE49-F238E27FC236}">
                <a16:creationId xmlns:a16="http://schemas.microsoft.com/office/drawing/2014/main" id="{66D83CA1-A662-D755-F5DA-74D874AAC2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1228" y="419946"/>
            <a:ext cx="8060266" cy="2926081"/>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a16="http://schemas.microsoft.com/office/drawing/2014/main" id="{322F46CB-6142-2DC1-63C4-6260405A2E7D}"/>
              </a:ext>
            </a:extLst>
          </p:cNvPr>
          <p:cNvSpPr txBox="1"/>
          <p:nvPr/>
        </p:nvSpPr>
        <p:spPr>
          <a:xfrm>
            <a:off x="325121" y="3895275"/>
            <a:ext cx="8236373" cy="584775"/>
          </a:xfrm>
          <a:prstGeom prst="rect">
            <a:avLst/>
          </a:prstGeom>
          <a:noFill/>
        </p:spPr>
        <p:txBody>
          <a:bodyPr wrap="square">
            <a:spAutoFit/>
          </a:bodyPr>
          <a:lstStyle/>
          <a:p>
            <a:r>
              <a:rPr lang="fr-FR" sz="1600" b="0" i="0" dirty="0">
                <a:solidFill>
                  <a:schemeClr val="tx2"/>
                </a:solidFill>
                <a:effectLst/>
                <a:latin typeface="Arial" panose="020B0604020202020204" pitchFamily="34" charset="0"/>
                <a:cs typeface="Arial" panose="020B0604020202020204" pitchFamily="34" charset="0"/>
              </a:rPr>
              <a:t>La Simulation arrive en tête (31 %), suivie à égalité par le RPG et l'Action-Aventure (25 % chacun). Le Shooter, genre </a:t>
            </a:r>
            <a:r>
              <a:rPr lang="fr-FR" sz="1600" b="0" i="0" dirty="0" err="1">
                <a:solidFill>
                  <a:schemeClr val="tx2"/>
                </a:solidFill>
                <a:effectLst/>
                <a:latin typeface="Arial" panose="020B0604020202020204" pitchFamily="34" charset="0"/>
                <a:cs typeface="Arial" panose="020B0604020202020204" pitchFamily="34" charset="0"/>
              </a:rPr>
              <a:t>ultra-dominant</a:t>
            </a:r>
            <a:r>
              <a:rPr lang="fr-FR" sz="1600" b="0" i="0" dirty="0">
                <a:solidFill>
                  <a:schemeClr val="tx2"/>
                </a:solidFill>
                <a:effectLst/>
                <a:latin typeface="Arial" panose="020B0604020202020204" pitchFamily="34" charset="0"/>
                <a:cs typeface="Arial" panose="020B0604020202020204" pitchFamily="34" charset="0"/>
              </a:rPr>
              <a:t> sur le marché mondial, ne recueille que 6 %.</a:t>
            </a:r>
          </a:p>
        </p:txBody>
      </p:sp>
    </p:spTree>
    <p:extLst>
      <p:ext uri="{BB962C8B-B14F-4D97-AF65-F5344CB8AC3E}">
        <p14:creationId xmlns:p14="http://schemas.microsoft.com/office/powerpoint/2010/main" val="3476993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Forms response chart. Question title: 4.  Qu&amp;apos;est-ce qui vous influence le plus avant d&amp;apos;acheter un jeu ?. Number of responses: 16 responses.">
            <a:extLst>
              <a:ext uri="{FF2B5EF4-FFF2-40B4-BE49-F238E27FC236}">
                <a16:creationId xmlns:a16="http://schemas.microsoft.com/office/drawing/2014/main" id="{447BC3FB-FBE0-453D-D2EC-81A439F252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360" y="311573"/>
            <a:ext cx="6753013" cy="3163148"/>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D23F70C2-BAB4-47F9-598B-4DEDFB9BE639}"/>
              </a:ext>
            </a:extLst>
          </p:cNvPr>
          <p:cNvSpPr txBox="1"/>
          <p:nvPr/>
        </p:nvSpPr>
        <p:spPr>
          <a:xfrm>
            <a:off x="866987" y="3660671"/>
            <a:ext cx="6861386" cy="1384995"/>
          </a:xfrm>
          <a:prstGeom prst="rect">
            <a:avLst/>
          </a:prstGeom>
          <a:noFill/>
        </p:spPr>
        <p:txBody>
          <a:bodyPr wrap="square">
            <a:spAutoFit/>
          </a:bodyPr>
          <a:lstStyle/>
          <a:p>
            <a:r>
              <a:rPr lang="fr-FR" sz="1400" b="0" i="0" dirty="0">
                <a:solidFill>
                  <a:schemeClr val="tx2"/>
                </a:solidFill>
                <a:effectLst/>
                <a:latin typeface="Arial" panose="020B0604020202020204" pitchFamily="34" charset="0"/>
                <a:cs typeface="Arial" panose="020B0604020202020204" pitchFamily="34" charset="0"/>
              </a:rPr>
              <a:t>Résultat le plus fort de toute l'enquête — 100 % des répondants citent le scénario et l'univers parmi leurs critères d'achat. </a:t>
            </a:r>
          </a:p>
          <a:p>
            <a:endParaRPr lang="fr-FR" sz="1400" b="0" i="0" dirty="0">
              <a:solidFill>
                <a:schemeClr val="tx2"/>
              </a:solidFill>
              <a:effectLst/>
              <a:latin typeface="Arial" panose="020B0604020202020204" pitchFamily="34" charset="0"/>
              <a:cs typeface="Arial" panose="020B0604020202020204" pitchFamily="34" charset="0"/>
            </a:endParaRPr>
          </a:p>
          <a:p>
            <a:r>
              <a:rPr lang="fr-FR" sz="1400" b="0" i="0" dirty="0">
                <a:solidFill>
                  <a:schemeClr val="tx2"/>
                </a:solidFill>
                <a:effectLst/>
                <a:latin typeface="Arial" panose="020B0604020202020204" pitchFamily="34" charset="0"/>
                <a:cs typeface="Arial" panose="020B0604020202020204" pitchFamily="34" charset="0"/>
              </a:rPr>
              <a:t>La qualité graphique arrive en second (50 %), le prix en troisième (44 %). </a:t>
            </a:r>
          </a:p>
          <a:p>
            <a:endParaRPr lang="fr-FR" sz="1400" b="0" i="0" dirty="0">
              <a:solidFill>
                <a:schemeClr val="tx2"/>
              </a:solidFill>
              <a:effectLst/>
              <a:latin typeface="Arial" panose="020B0604020202020204" pitchFamily="34" charset="0"/>
              <a:cs typeface="Arial" panose="020B0604020202020204" pitchFamily="34" charset="0"/>
            </a:endParaRPr>
          </a:p>
          <a:p>
            <a:r>
              <a:rPr lang="fr-FR" sz="1400" b="0" i="0" dirty="0">
                <a:solidFill>
                  <a:schemeClr val="tx2"/>
                </a:solidFill>
                <a:effectLst/>
                <a:latin typeface="Arial" panose="020B0604020202020204" pitchFamily="34" charset="0"/>
                <a:cs typeface="Arial" panose="020B0604020202020204" pitchFamily="34" charset="0"/>
              </a:rPr>
              <a:t>Les notes Metacritic n'influencent que 19 %</a:t>
            </a:r>
            <a:endParaRPr lang="fr-FR" sz="1400" dirty="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722023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Forms response chart. Question title: 5. Quel est le prix maximum que vous seriez prêt à payer pour un nouveau jeu Triple A complet (sans micro-transactions) ?. Number of responses: 16 responses.">
            <a:extLst>
              <a:ext uri="{FF2B5EF4-FFF2-40B4-BE49-F238E27FC236}">
                <a16:creationId xmlns:a16="http://schemas.microsoft.com/office/drawing/2014/main" id="{25227800-E36F-23B9-CB73-C6FFAFD7BA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387" y="298027"/>
            <a:ext cx="7227146" cy="2885440"/>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81E7BF2D-7415-E5E4-A0F3-36489B54084A}"/>
              </a:ext>
            </a:extLst>
          </p:cNvPr>
          <p:cNvSpPr txBox="1"/>
          <p:nvPr/>
        </p:nvSpPr>
        <p:spPr>
          <a:xfrm>
            <a:off x="596053" y="3538093"/>
            <a:ext cx="7857067" cy="1169551"/>
          </a:xfrm>
          <a:prstGeom prst="rect">
            <a:avLst/>
          </a:prstGeom>
          <a:noFill/>
        </p:spPr>
        <p:txBody>
          <a:bodyPr wrap="square">
            <a:spAutoFit/>
          </a:bodyPr>
          <a:lstStyle/>
          <a:p>
            <a:r>
              <a:rPr lang="fr-FR" sz="1400" b="0" i="0" dirty="0">
                <a:solidFill>
                  <a:schemeClr val="tx2"/>
                </a:solidFill>
                <a:effectLst/>
                <a:latin typeface="Arial" panose="020B0604020202020204" pitchFamily="34" charset="0"/>
                <a:cs typeface="Arial" panose="020B0604020202020204" pitchFamily="34" charset="0"/>
              </a:rPr>
              <a:t>La fourchette 50–60 € concentre 38 % des répondants, à égalité avec le segment "moins de 50 €". La tranche "60–70 €" atteint 19 %. </a:t>
            </a:r>
          </a:p>
          <a:p>
            <a:endParaRPr lang="fr-FR" sz="1400" b="0" i="0" dirty="0">
              <a:solidFill>
                <a:schemeClr val="tx2"/>
              </a:solidFill>
              <a:effectLst/>
              <a:latin typeface="Arial" panose="020B0604020202020204" pitchFamily="34" charset="0"/>
              <a:cs typeface="Arial" panose="020B0604020202020204" pitchFamily="34" charset="0"/>
            </a:endParaRPr>
          </a:p>
          <a:p>
            <a:r>
              <a:rPr lang="fr-FR" sz="1400" b="0" i="0" dirty="0">
                <a:solidFill>
                  <a:schemeClr val="tx2"/>
                </a:solidFill>
                <a:effectLst/>
                <a:latin typeface="Arial" panose="020B0604020202020204" pitchFamily="34" charset="0"/>
                <a:cs typeface="Arial" panose="020B0604020202020204" pitchFamily="34" charset="0"/>
              </a:rPr>
              <a:t>Le point de prix optimal est 59,99 € : il capte le maximum de consentement à payer tout en restant sous le seuil psychologique des 60 €. </a:t>
            </a:r>
          </a:p>
        </p:txBody>
      </p:sp>
    </p:spTree>
    <p:extLst>
      <p:ext uri="{BB962C8B-B14F-4D97-AF65-F5344CB8AC3E}">
        <p14:creationId xmlns:p14="http://schemas.microsoft.com/office/powerpoint/2010/main" val="27163316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Forms response chart. Question title: 6. Préférez-vous un jeu strictement Solo avec une histoire forte, ou un jeu Multijoueur pour jouer avec vos amis ?. Number of responses: 16 responses.">
            <a:extLst>
              <a:ext uri="{FF2B5EF4-FFF2-40B4-BE49-F238E27FC236}">
                <a16:creationId xmlns:a16="http://schemas.microsoft.com/office/drawing/2014/main" id="{8E670C81-78F8-1EC3-F7B0-B9D89D22E9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4721" y="392853"/>
            <a:ext cx="6834292" cy="2980268"/>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E1346785-8614-DDC0-4F8E-2A27E3093C1F}"/>
              </a:ext>
            </a:extLst>
          </p:cNvPr>
          <p:cNvSpPr txBox="1"/>
          <p:nvPr/>
        </p:nvSpPr>
        <p:spPr>
          <a:xfrm>
            <a:off x="866987" y="3490681"/>
            <a:ext cx="7525174" cy="954107"/>
          </a:xfrm>
          <a:prstGeom prst="rect">
            <a:avLst/>
          </a:prstGeom>
          <a:noFill/>
        </p:spPr>
        <p:txBody>
          <a:bodyPr wrap="square">
            <a:spAutoFit/>
          </a:bodyPr>
          <a:lstStyle/>
          <a:p>
            <a:r>
              <a:rPr lang="fr-FR" sz="1400" b="0" i="0" dirty="0">
                <a:solidFill>
                  <a:schemeClr val="tx2"/>
                </a:solidFill>
                <a:effectLst/>
                <a:latin typeface="Arial" panose="020B0604020202020204" pitchFamily="34" charset="0"/>
                <a:cs typeface="Arial" panose="020B0604020202020204" pitchFamily="34" charset="0"/>
              </a:rPr>
              <a:t>Le mode solo l'emporte (56 % vs 44 %).</a:t>
            </a:r>
          </a:p>
          <a:p>
            <a:endParaRPr lang="fr-FR" sz="1400" b="0" i="0" dirty="0">
              <a:solidFill>
                <a:schemeClr val="tx2"/>
              </a:solidFill>
              <a:effectLst/>
              <a:latin typeface="Arial" panose="020B0604020202020204" pitchFamily="34" charset="0"/>
              <a:cs typeface="Arial" panose="020B0604020202020204" pitchFamily="34" charset="0"/>
            </a:endParaRPr>
          </a:p>
          <a:p>
            <a:r>
              <a:rPr lang="fr-FR" sz="1400" b="0" i="0" dirty="0">
                <a:solidFill>
                  <a:schemeClr val="tx2"/>
                </a:solidFill>
                <a:effectLst/>
                <a:latin typeface="Arial" panose="020B0604020202020204" pitchFamily="34" charset="0"/>
                <a:cs typeface="Arial" panose="020B0604020202020204" pitchFamily="34" charset="0"/>
              </a:rPr>
              <a:t>La bonne lecture de ce résultat est : construire un solo fort comme socle, avec une option multijoueur secondaire pour ne pas fermer la porte aux 44 %. </a:t>
            </a:r>
            <a:endParaRPr lang="fr-FR" sz="1400" dirty="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772869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Forms response chart. Question title: 7.  Sur une échelle de 1 à 5, quelle importance accordez-vous aux notes de la presse (Metacritic) et des autres joueurs avant un achat ?. Number of responses: 16 responses.">
            <a:extLst>
              <a:ext uri="{FF2B5EF4-FFF2-40B4-BE49-F238E27FC236}">
                <a16:creationId xmlns:a16="http://schemas.microsoft.com/office/drawing/2014/main" id="{223534A6-6E42-2028-0083-F84A50C212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7280" y="298026"/>
            <a:ext cx="6671733" cy="3294803"/>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A622B141-4C91-9A30-53E1-FB91DAC2603F}"/>
              </a:ext>
            </a:extLst>
          </p:cNvPr>
          <p:cNvSpPr txBox="1"/>
          <p:nvPr/>
        </p:nvSpPr>
        <p:spPr>
          <a:xfrm>
            <a:off x="1016001" y="3799518"/>
            <a:ext cx="6834292" cy="738664"/>
          </a:xfrm>
          <a:prstGeom prst="rect">
            <a:avLst/>
          </a:prstGeom>
          <a:noFill/>
        </p:spPr>
        <p:txBody>
          <a:bodyPr wrap="square">
            <a:spAutoFit/>
          </a:bodyPr>
          <a:lstStyle/>
          <a:p>
            <a:pPr algn="just"/>
            <a:r>
              <a:rPr lang="fr-FR" sz="1400" b="0" i="0" dirty="0">
                <a:solidFill>
                  <a:schemeClr val="tx2"/>
                </a:solidFill>
                <a:effectLst/>
                <a:latin typeface="Arial" panose="020B0604020202020204" pitchFamily="34" charset="0"/>
                <a:cs typeface="Arial" panose="020B0604020202020204" pitchFamily="34" charset="0"/>
              </a:rPr>
              <a:t>La note 3 (position neutre) domine à 50 %. Seuls 25 % accordent une importance forte (notes 4 ou 5), et 25 % la considèrent faible (notes 1 ou 2). Metacritic est un facteur secondaire, pas un déclencheur d'achat. </a:t>
            </a:r>
            <a:endParaRPr lang="fr-FR" sz="1400" dirty="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179788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Forms response chart. Question title: 8.  Quel type de contenu additionnel seriez-vous le plus enclin à acheter après le lancement du jeu ?. Number of responses: 16 responses.">
            <a:extLst>
              <a:ext uri="{FF2B5EF4-FFF2-40B4-BE49-F238E27FC236}">
                <a16:creationId xmlns:a16="http://schemas.microsoft.com/office/drawing/2014/main" id="{3B3CC594-9CA6-EF7B-F92E-F7A18B0933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946" y="214630"/>
            <a:ext cx="7064587" cy="2756747"/>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566E0447-889D-377E-9734-8CE95663A986}"/>
              </a:ext>
            </a:extLst>
          </p:cNvPr>
          <p:cNvSpPr txBox="1"/>
          <p:nvPr/>
        </p:nvSpPr>
        <p:spPr>
          <a:xfrm>
            <a:off x="237066" y="3043297"/>
            <a:ext cx="8385387" cy="1815882"/>
          </a:xfrm>
          <a:prstGeom prst="rect">
            <a:avLst/>
          </a:prstGeom>
          <a:noFill/>
        </p:spPr>
        <p:txBody>
          <a:bodyPr wrap="square">
            <a:spAutoFit/>
          </a:bodyPr>
          <a:lstStyle/>
          <a:p>
            <a:pPr marL="285750" indent="-285750">
              <a:buClr>
                <a:schemeClr val="bg1"/>
              </a:buClr>
              <a:buFont typeface="Arial" panose="020B0604020202020204" pitchFamily="34" charset="0"/>
              <a:buChar char="•"/>
            </a:pPr>
            <a:r>
              <a:rPr lang="fr-FR" sz="1400" b="0" i="0" dirty="0">
                <a:solidFill>
                  <a:schemeClr val="tx2"/>
                </a:solidFill>
                <a:effectLst/>
                <a:latin typeface="Arial" panose="020B0604020202020204" pitchFamily="34" charset="0"/>
                <a:cs typeface="Arial" panose="020B0604020202020204" pitchFamily="34" charset="0"/>
              </a:rPr>
              <a:t>Les extensions narratives (DLC) recueillent 56 % des intentions d'achat: un signal très fort pour la monétisation post-lancement. </a:t>
            </a:r>
          </a:p>
          <a:p>
            <a:pPr marL="285750" indent="-285750">
              <a:buClr>
                <a:schemeClr val="bg1"/>
              </a:buClr>
              <a:buFont typeface="Arial" panose="020B0604020202020204" pitchFamily="34" charset="0"/>
              <a:buChar char="•"/>
            </a:pPr>
            <a:endParaRPr lang="fr-FR" sz="1400" b="0" i="0" dirty="0">
              <a:solidFill>
                <a:schemeClr val="tx2"/>
              </a:solidFill>
              <a:effectLst/>
              <a:latin typeface="Arial" panose="020B0604020202020204" pitchFamily="34" charset="0"/>
              <a:cs typeface="Arial" panose="020B0604020202020204" pitchFamily="34" charset="0"/>
            </a:endParaRPr>
          </a:p>
          <a:p>
            <a:pPr marL="285750" indent="-285750">
              <a:buClr>
                <a:schemeClr val="bg1"/>
              </a:buClr>
              <a:buFont typeface="Arial" panose="020B0604020202020204" pitchFamily="34" charset="0"/>
              <a:buChar char="•"/>
            </a:pPr>
            <a:r>
              <a:rPr lang="fr-FR" sz="1400" b="0" i="0" dirty="0">
                <a:solidFill>
                  <a:schemeClr val="tx2"/>
                </a:solidFill>
                <a:effectLst/>
                <a:latin typeface="Arial" panose="020B0604020202020204" pitchFamily="34" charset="0"/>
                <a:cs typeface="Arial" panose="020B0604020202020204" pitchFamily="34" charset="0"/>
              </a:rPr>
              <a:t>38 % préfèrent un jeu "tout inclus" dès le départ, ce qui plaide pour une édition complète sans coupures artificielles à la sortie. </a:t>
            </a:r>
          </a:p>
          <a:p>
            <a:pPr marL="285750" indent="-285750">
              <a:buClr>
                <a:schemeClr val="bg1"/>
              </a:buClr>
              <a:buFont typeface="Arial" panose="020B0604020202020204" pitchFamily="34" charset="0"/>
              <a:buChar char="•"/>
            </a:pPr>
            <a:endParaRPr lang="fr-FR" sz="1400" b="0" i="0" dirty="0">
              <a:solidFill>
                <a:schemeClr val="tx2"/>
              </a:solidFill>
              <a:effectLst/>
              <a:latin typeface="Arial" panose="020B0604020202020204" pitchFamily="34" charset="0"/>
              <a:cs typeface="Arial" panose="020B0604020202020204" pitchFamily="34" charset="0"/>
            </a:endParaRPr>
          </a:p>
          <a:p>
            <a:pPr marL="285750" indent="-285750">
              <a:buClr>
                <a:schemeClr val="bg1"/>
              </a:buClr>
              <a:buFont typeface="Arial" panose="020B0604020202020204" pitchFamily="34" charset="0"/>
              <a:buChar char="•"/>
            </a:pPr>
            <a:r>
              <a:rPr lang="fr-FR" sz="1400" b="0" i="0" dirty="0">
                <a:solidFill>
                  <a:schemeClr val="tx2"/>
                </a:solidFill>
                <a:effectLst/>
                <a:latin typeface="Arial" panose="020B0604020202020204" pitchFamily="34" charset="0"/>
                <a:cs typeface="Arial" panose="020B0604020202020204" pitchFamily="34" charset="0"/>
              </a:rPr>
              <a:t>Les cosmétiques payants ne séduisent que 6 %, signalant un rejet clair du modèle live service / battle </a:t>
            </a:r>
            <a:r>
              <a:rPr lang="fr-FR" sz="1400" b="0" i="0" dirty="0" err="1">
                <a:solidFill>
                  <a:schemeClr val="tx2"/>
                </a:solidFill>
                <a:effectLst/>
                <a:latin typeface="Arial" panose="020B0604020202020204" pitchFamily="34" charset="0"/>
                <a:cs typeface="Arial" panose="020B0604020202020204" pitchFamily="34" charset="0"/>
              </a:rPr>
              <a:t>pass</a:t>
            </a:r>
            <a:r>
              <a:rPr lang="fr-FR" sz="1400" b="0" i="0" dirty="0">
                <a:solidFill>
                  <a:schemeClr val="tx2"/>
                </a:solidFill>
                <a:effectLst/>
                <a:latin typeface="Arial" panose="020B0604020202020204" pitchFamily="34" charset="0"/>
                <a:cs typeface="Arial" panose="020B0604020202020204" pitchFamily="34" charset="0"/>
              </a:rPr>
              <a:t>.</a:t>
            </a:r>
            <a:endParaRPr lang="fr-FR" sz="1400" dirty="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26898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a:extLst>
              <a:ext uri="{FF2B5EF4-FFF2-40B4-BE49-F238E27FC236}">
                <a16:creationId xmlns:a16="http://schemas.microsoft.com/office/drawing/2014/main" id="{90A3AC68-9674-D5A2-0B83-BA57E0CA72DA}"/>
              </a:ext>
            </a:extLst>
          </p:cNvPr>
          <p:cNvSpPr txBox="1"/>
          <p:nvPr/>
        </p:nvSpPr>
        <p:spPr>
          <a:xfrm>
            <a:off x="514773" y="831026"/>
            <a:ext cx="7978988" cy="3108543"/>
          </a:xfrm>
          <a:prstGeom prst="rect">
            <a:avLst/>
          </a:prstGeom>
          <a:noFill/>
        </p:spPr>
        <p:txBody>
          <a:bodyPr wrap="square">
            <a:spAutoFit/>
          </a:bodyPr>
          <a:lstStyle/>
          <a:p>
            <a:pPr algn="ctr">
              <a:buNone/>
            </a:pPr>
            <a:r>
              <a:rPr lang="fr-FR" sz="2000" b="1" dirty="0">
                <a:solidFill>
                  <a:schemeClr val="tx2"/>
                </a:solidFill>
                <a:latin typeface="Arial" panose="020B0604020202020204" pitchFamily="34" charset="0"/>
                <a:cs typeface="Arial" panose="020B0604020202020204" pitchFamily="34" charset="0"/>
              </a:rPr>
              <a:t>Les 3 signaux les plus forts de l'enquête :</a:t>
            </a:r>
            <a:endParaRPr lang="fr-FR" sz="2000" dirty="0">
              <a:solidFill>
                <a:schemeClr val="tx2"/>
              </a:solidFill>
              <a:latin typeface="Arial" panose="020B0604020202020204" pitchFamily="34" charset="0"/>
              <a:cs typeface="Arial" panose="020B0604020202020204" pitchFamily="34" charset="0"/>
            </a:endParaRPr>
          </a:p>
          <a:p>
            <a:pPr>
              <a:buNone/>
            </a:pPr>
            <a:endParaRPr lang="fr-FR" sz="1600" dirty="0">
              <a:solidFill>
                <a:schemeClr val="tx2"/>
              </a:solidFill>
              <a:latin typeface="Arial" panose="020B0604020202020204" pitchFamily="34" charset="0"/>
              <a:cs typeface="Arial" panose="020B0604020202020204" pitchFamily="34" charset="0"/>
            </a:endParaRPr>
          </a:p>
          <a:p>
            <a:pPr>
              <a:buNone/>
            </a:pPr>
            <a:endParaRPr lang="fr-FR" sz="1600" dirty="0">
              <a:solidFill>
                <a:schemeClr val="tx2"/>
              </a:solidFill>
              <a:latin typeface="Arial" panose="020B0604020202020204" pitchFamily="34" charset="0"/>
              <a:cs typeface="Arial" panose="020B0604020202020204" pitchFamily="34" charset="0"/>
            </a:endParaRPr>
          </a:p>
          <a:p>
            <a:pPr>
              <a:buNone/>
            </a:pPr>
            <a:endParaRPr lang="fr-FR" sz="1600" dirty="0">
              <a:solidFill>
                <a:schemeClr val="tx2"/>
              </a:solidFill>
              <a:latin typeface="Arial" panose="020B0604020202020204" pitchFamily="34" charset="0"/>
              <a:cs typeface="Arial" panose="020B0604020202020204" pitchFamily="34" charset="0"/>
            </a:endParaRPr>
          </a:p>
          <a:p>
            <a:pPr marL="285750" indent="-285750" algn="just">
              <a:buClr>
                <a:schemeClr val="tx1"/>
              </a:buClr>
              <a:buFont typeface="Wingdings" panose="05000000000000000000" pitchFamily="2" charset="2"/>
              <a:buChar char="q"/>
            </a:pPr>
            <a:r>
              <a:rPr lang="fr-FR" sz="1600" dirty="0">
                <a:solidFill>
                  <a:schemeClr val="tx2"/>
                </a:solidFill>
                <a:latin typeface="Arial" panose="020B0604020202020204" pitchFamily="34" charset="0"/>
                <a:cs typeface="Arial" panose="020B0604020202020204" pitchFamily="34" charset="0"/>
              </a:rPr>
              <a:t>100 % des répondants citent le scénario et l'univers comme critère d'achat. C'est un signal fort dans notre enquête et il doit structurer toute ta stratégie produit.</a:t>
            </a:r>
          </a:p>
          <a:p>
            <a:pPr marL="285750" indent="-285750" algn="just">
              <a:buClr>
                <a:schemeClr val="tx1"/>
              </a:buClr>
              <a:buFont typeface="Wingdings" panose="05000000000000000000" pitchFamily="2" charset="2"/>
              <a:buChar char="q"/>
            </a:pPr>
            <a:endParaRPr lang="fr-FR" sz="1600" dirty="0">
              <a:solidFill>
                <a:schemeClr val="tx2"/>
              </a:solidFill>
              <a:latin typeface="Arial" panose="020B0604020202020204" pitchFamily="34" charset="0"/>
              <a:cs typeface="Arial" panose="020B0604020202020204" pitchFamily="34" charset="0"/>
            </a:endParaRPr>
          </a:p>
          <a:p>
            <a:pPr marL="285750" indent="-285750" algn="just">
              <a:buClr>
                <a:schemeClr val="tx1"/>
              </a:buClr>
              <a:buFont typeface="Wingdings" panose="05000000000000000000" pitchFamily="2" charset="2"/>
              <a:buChar char="q"/>
            </a:pPr>
            <a:r>
              <a:rPr lang="fr-FR" sz="1600" dirty="0">
                <a:solidFill>
                  <a:schemeClr val="tx2"/>
                </a:solidFill>
                <a:latin typeface="Arial" panose="020B0604020202020204" pitchFamily="34" charset="0"/>
                <a:cs typeface="Arial" panose="020B0604020202020204" pitchFamily="34" charset="0"/>
              </a:rPr>
              <a:t>Le rejet des </a:t>
            </a:r>
            <a:r>
              <a:rPr lang="fr-FR" sz="1600" dirty="0" err="1">
                <a:solidFill>
                  <a:schemeClr val="tx2"/>
                </a:solidFill>
                <a:latin typeface="Arial" panose="020B0604020202020204" pitchFamily="34" charset="0"/>
                <a:cs typeface="Arial" panose="020B0604020202020204" pitchFamily="34" charset="0"/>
              </a:rPr>
              <a:t>micro-transactions</a:t>
            </a:r>
            <a:r>
              <a:rPr lang="fr-FR" sz="1600" dirty="0">
                <a:solidFill>
                  <a:schemeClr val="tx2"/>
                </a:solidFill>
                <a:latin typeface="Arial" panose="020B0604020202020204" pitchFamily="34" charset="0"/>
                <a:cs typeface="Arial" panose="020B0604020202020204" pitchFamily="34" charset="0"/>
              </a:rPr>
              <a:t> : Avec 94 % des répondants qui n'achèteraient pas de cosmétiques, le modèle live service / battle </a:t>
            </a:r>
            <a:r>
              <a:rPr lang="fr-FR" sz="1600" dirty="0" err="1">
                <a:solidFill>
                  <a:schemeClr val="tx2"/>
                </a:solidFill>
                <a:latin typeface="Arial" panose="020B0604020202020204" pitchFamily="34" charset="0"/>
                <a:cs typeface="Arial" panose="020B0604020202020204" pitchFamily="34" charset="0"/>
              </a:rPr>
              <a:t>pass</a:t>
            </a:r>
            <a:r>
              <a:rPr lang="fr-FR" sz="1600" dirty="0">
                <a:solidFill>
                  <a:schemeClr val="tx2"/>
                </a:solidFill>
                <a:latin typeface="Arial" panose="020B0604020202020204" pitchFamily="34" charset="0"/>
                <a:cs typeface="Arial" panose="020B0604020202020204" pitchFamily="34" charset="0"/>
              </a:rPr>
              <a:t> est clairement à éviter. Le consommateur AAA veut un produit fini et honnête.</a:t>
            </a:r>
          </a:p>
          <a:p>
            <a:pPr marL="285750" indent="-285750" algn="just">
              <a:buClr>
                <a:schemeClr val="tx1"/>
              </a:buClr>
              <a:buFont typeface="Wingdings" panose="05000000000000000000" pitchFamily="2" charset="2"/>
              <a:buChar char="q"/>
            </a:pPr>
            <a:endParaRPr lang="fr-FR" sz="1600" dirty="0">
              <a:solidFill>
                <a:schemeClr val="tx2"/>
              </a:solidFill>
              <a:latin typeface="Arial" panose="020B0604020202020204" pitchFamily="34" charset="0"/>
              <a:cs typeface="Arial" panose="020B0604020202020204" pitchFamily="34" charset="0"/>
            </a:endParaRPr>
          </a:p>
          <a:p>
            <a:pPr marL="285750" indent="-285750" algn="just">
              <a:buClr>
                <a:schemeClr val="tx1"/>
              </a:buClr>
              <a:buFont typeface="Wingdings" panose="05000000000000000000" pitchFamily="2" charset="2"/>
              <a:buChar char="q"/>
            </a:pPr>
            <a:r>
              <a:rPr lang="fr-FR" sz="1600" dirty="0">
                <a:solidFill>
                  <a:schemeClr val="tx2"/>
                </a:solidFill>
                <a:latin typeface="Arial" panose="020B0604020202020204" pitchFamily="34" charset="0"/>
                <a:cs typeface="Arial" panose="020B0604020202020204" pitchFamily="34" charset="0"/>
              </a:rPr>
              <a:t>La domination du PC (69 %) : Combiné à la préférence pour le solo (56).</a:t>
            </a:r>
          </a:p>
        </p:txBody>
      </p:sp>
    </p:spTree>
    <p:extLst>
      <p:ext uri="{BB962C8B-B14F-4D97-AF65-F5344CB8AC3E}">
        <p14:creationId xmlns:p14="http://schemas.microsoft.com/office/powerpoint/2010/main" val="32826388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31"/>
        <p:cNvGrpSpPr/>
        <p:nvPr/>
      </p:nvGrpSpPr>
      <p:grpSpPr>
        <a:xfrm>
          <a:off x="0" y="0"/>
          <a:ext cx="0" cy="0"/>
          <a:chOff x="0" y="0"/>
          <a:chExt cx="0" cy="0"/>
        </a:xfrm>
      </p:grpSpPr>
      <p:sp>
        <p:nvSpPr>
          <p:cNvPr id="2332" name="Google Shape;2332;p11"/>
          <p:cNvSpPr txBox="1">
            <a:spLocks noGrp="1"/>
          </p:cNvSpPr>
          <p:nvPr>
            <p:ph type="title"/>
          </p:nvPr>
        </p:nvSpPr>
        <p:spPr>
          <a:xfrm>
            <a:off x="4280747" y="1943946"/>
            <a:ext cx="4605866" cy="80391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200"/>
              <a:buNone/>
            </a:pPr>
            <a:r>
              <a:rPr lang="en" sz="3000" b="1" dirty="0">
                <a:latin typeface="Arial" panose="020B0604020202020204" pitchFamily="34" charset="0"/>
                <a:cs typeface="Arial" panose="020B0604020202020204" pitchFamily="34" charset="0"/>
              </a:rPr>
              <a:t>Les futures tendances et perspectives</a:t>
            </a:r>
            <a:endParaRPr sz="3000" b="1" dirty="0">
              <a:latin typeface="Arial" panose="020B0604020202020204" pitchFamily="34" charset="0"/>
              <a:cs typeface="Arial" panose="020B0604020202020204" pitchFamily="34" charset="0"/>
            </a:endParaRPr>
          </a:p>
        </p:txBody>
      </p:sp>
      <p:sp>
        <p:nvSpPr>
          <p:cNvPr id="2333" name="Google Shape;2333;p11"/>
          <p:cNvSpPr txBox="1">
            <a:spLocks noGrp="1"/>
          </p:cNvSpPr>
          <p:nvPr>
            <p:ph type="title" idx="2"/>
          </p:nvPr>
        </p:nvSpPr>
        <p:spPr>
          <a:xfrm>
            <a:off x="3228812" y="1943946"/>
            <a:ext cx="1051935" cy="80391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2000"/>
              <a:buNone/>
            </a:pPr>
            <a:r>
              <a:rPr lang="en" sz="5400" dirty="0">
                <a:latin typeface="Arial" panose="020B0604020202020204" pitchFamily="34" charset="0"/>
                <a:cs typeface="Arial" panose="020B0604020202020204" pitchFamily="34" charset="0"/>
              </a:rPr>
              <a:t>06</a:t>
            </a:r>
            <a:endParaRPr sz="5400" dirty="0">
              <a:latin typeface="Arial" panose="020B0604020202020204" pitchFamily="34" charset="0"/>
              <a:cs typeface="Arial" panose="020B0604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a:extLst>
              <a:ext uri="{FF2B5EF4-FFF2-40B4-BE49-F238E27FC236}">
                <a16:creationId xmlns:a16="http://schemas.microsoft.com/office/drawing/2014/main" id="{532B9BD7-E059-4ADB-02E6-F378888DD84F}"/>
              </a:ext>
            </a:extLst>
          </p:cNvPr>
          <p:cNvSpPr txBox="1"/>
          <p:nvPr/>
        </p:nvSpPr>
        <p:spPr>
          <a:xfrm>
            <a:off x="535095" y="808156"/>
            <a:ext cx="7836746" cy="3754874"/>
          </a:xfrm>
          <a:prstGeom prst="rect">
            <a:avLst/>
          </a:prstGeom>
          <a:noFill/>
        </p:spPr>
        <p:txBody>
          <a:bodyPr wrap="square">
            <a:spAutoFit/>
          </a:bodyPr>
          <a:lstStyle/>
          <a:p>
            <a:pPr>
              <a:buClr>
                <a:schemeClr val="tx1"/>
              </a:buClr>
            </a:pPr>
            <a:r>
              <a:rPr lang="fr-FR" sz="1400" dirty="0">
                <a:latin typeface="Arial" panose="020B0604020202020204" pitchFamily="34" charset="0"/>
                <a:cs typeface="Arial" panose="020B0604020202020204" pitchFamily="34" charset="0"/>
              </a:rPr>
              <a:t>L'analyse des fichiers historiques et du questionnaire montre une évolution claire du marché :</a:t>
            </a:r>
          </a:p>
          <a:p>
            <a:pPr marL="285750" indent="-285750" algn="just">
              <a:buClr>
                <a:schemeClr val="tx1"/>
              </a:buClr>
              <a:buFont typeface="Wingdings" panose="05000000000000000000" pitchFamily="2" charset="2"/>
              <a:buChar char="q"/>
            </a:pPr>
            <a:endParaRPr lang="fr-FR" sz="1400" dirty="0">
              <a:latin typeface="Arial" panose="020B0604020202020204" pitchFamily="34" charset="0"/>
              <a:cs typeface="Arial" panose="020B0604020202020204" pitchFamily="34" charset="0"/>
            </a:endParaRPr>
          </a:p>
          <a:p>
            <a:pPr marL="285750" indent="-285750" algn="just">
              <a:buClr>
                <a:schemeClr val="tx1"/>
              </a:buClr>
              <a:buFont typeface="Wingdings" panose="05000000000000000000" pitchFamily="2" charset="2"/>
              <a:buChar char="q"/>
            </a:pPr>
            <a:r>
              <a:rPr lang="fr-FR" sz="1400" b="1" dirty="0">
                <a:latin typeface="Arial" panose="020B0604020202020204" pitchFamily="34" charset="0"/>
                <a:cs typeface="Arial" panose="020B0604020202020204" pitchFamily="34" charset="0"/>
              </a:rPr>
              <a:t>Le sacre de l'immersion narrative :</a:t>
            </a:r>
            <a:r>
              <a:rPr lang="fr-FR" sz="1400" dirty="0">
                <a:latin typeface="Arial" panose="020B0604020202020204" pitchFamily="34" charset="0"/>
                <a:cs typeface="Arial" panose="020B0604020202020204" pitchFamily="34" charset="0"/>
              </a:rPr>
              <a:t> Alors que les anciens jeux misaient sur le score (Arcade), les tendances actuelles et les résultats de questionnaire montrent que le </a:t>
            </a:r>
            <a:r>
              <a:rPr lang="fr-FR" sz="1400" b="1" dirty="0">
                <a:latin typeface="Arial" panose="020B0604020202020204" pitchFamily="34" charset="0"/>
                <a:cs typeface="Arial" panose="020B0604020202020204" pitchFamily="34" charset="0"/>
              </a:rPr>
              <a:t>"Scénario et l'univers"</a:t>
            </a:r>
            <a:r>
              <a:rPr lang="fr-FR" sz="1400" dirty="0">
                <a:latin typeface="Arial" panose="020B0604020202020204" pitchFamily="34" charset="0"/>
                <a:cs typeface="Arial" panose="020B0604020202020204" pitchFamily="34" charset="0"/>
              </a:rPr>
              <a:t> est le critère d'achat n°1. Les futurs Triple A doivent être vécus comme des films interactifs.</a:t>
            </a:r>
          </a:p>
          <a:p>
            <a:pPr marL="285750" indent="-285750" algn="just">
              <a:buClr>
                <a:schemeClr val="tx1"/>
              </a:buClr>
              <a:buFont typeface="Wingdings" panose="05000000000000000000" pitchFamily="2" charset="2"/>
              <a:buChar char="q"/>
            </a:pPr>
            <a:endParaRPr lang="fr-FR" sz="1400" dirty="0">
              <a:latin typeface="Arial" panose="020B0604020202020204" pitchFamily="34" charset="0"/>
              <a:cs typeface="Arial" panose="020B0604020202020204" pitchFamily="34" charset="0"/>
            </a:endParaRPr>
          </a:p>
          <a:p>
            <a:pPr marL="285750" indent="-285750" algn="just">
              <a:buClr>
                <a:schemeClr val="tx1"/>
              </a:buClr>
              <a:buFont typeface="Wingdings" panose="05000000000000000000" pitchFamily="2" charset="2"/>
              <a:buChar char="q"/>
            </a:pPr>
            <a:r>
              <a:rPr lang="fr-FR" sz="1400" b="1" dirty="0">
                <a:latin typeface="Arial" panose="020B0604020202020204" pitchFamily="34" charset="0"/>
                <a:cs typeface="Arial" panose="020B0604020202020204" pitchFamily="34" charset="0"/>
              </a:rPr>
              <a:t>La fin du "Tout-Multijoueur" :</a:t>
            </a:r>
            <a:r>
              <a:rPr lang="fr-FR" sz="1400" dirty="0">
                <a:latin typeface="Arial" panose="020B0604020202020204" pitchFamily="34" charset="0"/>
                <a:cs typeface="Arial" panose="020B0604020202020204" pitchFamily="34" charset="0"/>
              </a:rPr>
              <a:t> l’étude montre un retour en force du </a:t>
            </a:r>
            <a:r>
              <a:rPr lang="fr-FR" sz="1400" b="1" dirty="0">
                <a:latin typeface="Arial" panose="020B0604020202020204" pitchFamily="34" charset="0"/>
                <a:cs typeface="Arial" panose="020B0604020202020204" pitchFamily="34" charset="0"/>
              </a:rPr>
              <a:t>SOLO. </a:t>
            </a:r>
            <a:r>
              <a:rPr lang="fr-FR" sz="1400" dirty="0">
                <a:latin typeface="Arial" panose="020B0604020202020204" pitchFamily="34" charset="0"/>
                <a:cs typeface="Arial" panose="020B0604020202020204" pitchFamily="34" charset="0"/>
              </a:rPr>
              <a:t>Le futur du AAA haut de gamme semble s'orienter vers des expériences solos.</a:t>
            </a:r>
          </a:p>
          <a:p>
            <a:pPr marL="285750" indent="-285750" algn="just">
              <a:buClr>
                <a:schemeClr val="tx1"/>
              </a:buClr>
              <a:buFont typeface="Wingdings" panose="05000000000000000000" pitchFamily="2" charset="2"/>
              <a:buChar char="q"/>
            </a:pPr>
            <a:endParaRPr lang="fr-FR" sz="1400" dirty="0">
              <a:latin typeface="Arial" panose="020B0604020202020204" pitchFamily="34" charset="0"/>
              <a:cs typeface="Arial" panose="020B0604020202020204" pitchFamily="34" charset="0"/>
            </a:endParaRPr>
          </a:p>
          <a:p>
            <a:pPr marL="285750" indent="-285750" algn="just">
              <a:buClr>
                <a:schemeClr val="tx1"/>
              </a:buClr>
              <a:buFont typeface="Wingdings" panose="05000000000000000000" pitchFamily="2" charset="2"/>
              <a:buChar char="q"/>
            </a:pPr>
            <a:r>
              <a:rPr lang="fr-FR" sz="1400" b="1" dirty="0">
                <a:latin typeface="Arial" panose="020B0604020202020204" pitchFamily="34" charset="0"/>
                <a:cs typeface="Arial" panose="020B0604020202020204" pitchFamily="34" charset="0"/>
              </a:rPr>
              <a:t>Modèle économique hybride :</a:t>
            </a:r>
            <a:r>
              <a:rPr lang="fr-FR" sz="1400" dirty="0">
                <a:latin typeface="Arial" panose="020B0604020202020204" pitchFamily="34" charset="0"/>
                <a:cs typeface="Arial" panose="020B0604020202020204" pitchFamily="34" charset="0"/>
              </a:rPr>
              <a:t> La tendance n'est plus aux </a:t>
            </a:r>
            <a:r>
              <a:rPr lang="fr-FR" sz="1400" dirty="0" err="1">
                <a:latin typeface="Arial" panose="020B0604020202020204" pitchFamily="34" charset="0"/>
                <a:cs typeface="Arial" panose="020B0604020202020204" pitchFamily="34" charset="0"/>
              </a:rPr>
              <a:t>micro-transactions</a:t>
            </a:r>
            <a:r>
              <a:rPr lang="fr-FR" sz="1400" dirty="0">
                <a:latin typeface="Arial" panose="020B0604020202020204" pitchFamily="34" charset="0"/>
                <a:cs typeface="Arial" panose="020B0604020202020204" pitchFamily="34" charset="0"/>
              </a:rPr>
              <a:t> agressives, mais aux </a:t>
            </a:r>
            <a:r>
              <a:rPr lang="fr-FR" sz="1400" b="1" dirty="0">
                <a:latin typeface="Arial" panose="020B0604020202020204" pitchFamily="34" charset="0"/>
                <a:cs typeface="Arial" panose="020B0604020202020204" pitchFamily="34" charset="0"/>
              </a:rPr>
              <a:t>DLC narratifs</a:t>
            </a:r>
            <a:r>
              <a:rPr lang="fr-FR" sz="1400" dirty="0">
                <a:latin typeface="Arial" panose="020B0604020202020204" pitchFamily="34" charset="0"/>
                <a:cs typeface="Arial" panose="020B0604020202020204" pitchFamily="34" charset="0"/>
              </a:rPr>
              <a:t> (extensions d'histoire), validés par le questionnaire comme le seul achat additionnel bien accepté.</a:t>
            </a:r>
          </a:p>
          <a:p>
            <a:pPr marL="285750" indent="-285750" algn="just">
              <a:buClr>
                <a:schemeClr val="tx1"/>
              </a:buClr>
              <a:buFont typeface="Wingdings" panose="05000000000000000000" pitchFamily="2" charset="2"/>
              <a:buChar char="q"/>
            </a:pPr>
            <a:endParaRPr lang="fr-FR" sz="1400" dirty="0">
              <a:latin typeface="Arial" panose="020B0604020202020204" pitchFamily="34" charset="0"/>
              <a:cs typeface="Arial" panose="020B0604020202020204" pitchFamily="34" charset="0"/>
            </a:endParaRPr>
          </a:p>
          <a:p>
            <a:pPr marL="285750" indent="-285750" algn="just">
              <a:buClr>
                <a:schemeClr val="tx1"/>
              </a:buClr>
              <a:buFont typeface="Wingdings" panose="05000000000000000000" pitchFamily="2" charset="2"/>
              <a:buChar char="q"/>
            </a:pPr>
            <a:r>
              <a:rPr lang="fr-FR" sz="1400" b="1" dirty="0">
                <a:latin typeface="Arial" panose="020B0604020202020204" pitchFamily="34" charset="0"/>
                <a:cs typeface="Arial" panose="020B0604020202020204" pitchFamily="34" charset="0"/>
              </a:rPr>
              <a:t>Puissance du PC et de la PS5 :</a:t>
            </a:r>
            <a:r>
              <a:rPr lang="fr-FR" sz="1400" dirty="0">
                <a:latin typeface="Arial" panose="020B0604020202020204" pitchFamily="34" charset="0"/>
                <a:cs typeface="Arial" panose="020B0604020202020204" pitchFamily="34" charset="0"/>
              </a:rPr>
              <a:t> Le marché s'éloigne des consoles portables de type DS pour se concentrer sur des machines de salon puissantes capables de gérer le Ray-Tracing et l'IA.</a:t>
            </a:r>
          </a:p>
        </p:txBody>
      </p:sp>
    </p:spTree>
    <p:extLst>
      <p:ext uri="{BB962C8B-B14F-4D97-AF65-F5344CB8AC3E}">
        <p14:creationId xmlns:p14="http://schemas.microsoft.com/office/powerpoint/2010/main" val="10718059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55">
          <a:extLst>
            <a:ext uri="{FF2B5EF4-FFF2-40B4-BE49-F238E27FC236}">
              <a16:creationId xmlns:a16="http://schemas.microsoft.com/office/drawing/2014/main" id="{2433ED9F-B4E1-66B2-6ECC-3D9D0DBF2DE1}"/>
            </a:ext>
          </a:extLst>
        </p:cNvPr>
        <p:cNvGrpSpPr/>
        <p:nvPr/>
      </p:nvGrpSpPr>
      <p:grpSpPr>
        <a:xfrm>
          <a:off x="0" y="0"/>
          <a:ext cx="0" cy="0"/>
          <a:chOff x="0" y="0"/>
          <a:chExt cx="0" cy="0"/>
        </a:xfrm>
      </p:grpSpPr>
      <p:sp>
        <p:nvSpPr>
          <p:cNvPr id="2356" name="Google Shape;2356;p15">
            <a:extLst>
              <a:ext uri="{FF2B5EF4-FFF2-40B4-BE49-F238E27FC236}">
                <a16:creationId xmlns:a16="http://schemas.microsoft.com/office/drawing/2014/main" id="{BC11066C-6169-3CCF-0928-A3A2E05D6C58}"/>
              </a:ext>
            </a:extLst>
          </p:cNvPr>
          <p:cNvSpPr txBox="1">
            <a:spLocks noGrp="1"/>
          </p:cNvSpPr>
          <p:nvPr>
            <p:ph type="title"/>
          </p:nvPr>
        </p:nvSpPr>
        <p:spPr>
          <a:xfrm>
            <a:off x="4395892" y="2166535"/>
            <a:ext cx="4402667" cy="82954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200"/>
              <a:buNone/>
            </a:pPr>
            <a:r>
              <a:rPr lang="en" sz="3000" b="1" dirty="0">
                <a:latin typeface="Arial" panose="020B0604020202020204" pitchFamily="34" charset="0"/>
                <a:cs typeface="Arial" panose="020B0604020202020204" pitchFamily="34" charset="0"/>
              </a:rPr>
              <a:t>Tests Des hypothèses</a:t>
            </a:r>
            <a:endParaRPr sz="3000" b="1" dirty="0">
              <a:latin typeface="Arial" panose="020B0604020202020204" pitchFamily="34" charset="0"/>
              <a:cs typeface="Arial" panose="020B0604020202020204" pitchFamily="34" charset="0"/>
            </a:endParaRPr>
          </a:p>
        </p:txBody>
      </p:sp>
      <p:sp>
        <p:nvSpPr>
          <p:cNvPr id="2357" name="Google Shape;2357;p15">
            <a:extLst>
              <a:ext uri="{FF2B5EF4-FFF2-40B4-BE49-F238E27FC236}">
                <a16:creationId xmlns:a16="http://schemas.microsoft.com/office/drawing/2014/main" id="{24E159CB-00FB-4B44-A8C4-5F554CFE56E2}"/>
              </a:ext>
            </a:extLst>
          </p:cNvPr>
          <p:cNvSpPr txBox="1">
            <a:spLocks noGrp="1"/>
          </p:cNvSpPr>
          <p:nvPr>
            <p:ph type="title" idx="2"/>
          </p:nvPr>
        </p:nvSpPr>
        <p:spPr>
          <a:xfrm>
            <a:off x="3377825" y="2147147"/>
            <a:ext cx="1018068" cy="848928"/>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2000"/>
              <a:buNone/>
            </a:pPr>
            <a:r>
              <a:rPr lang="en" sz="5400" dirty="0">
                <a:latin typeface="Arial" panose="020B0604020202020204" pitchFamily="34" charset="0"/>
                <a:cs typeface="Arial" panose="020B0604020202020204" pitchFamily="34" charset="0"/>
              </a:rPr>
              <a:t>07</a:t>
            </a:r>
            <a:endParaRPr sz="5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812798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au 4">
            <a:extLst>
              <a:ext uri="{FF2B5EF4-FFF2-40B4-BE49-F238E27FC236}">
                <a16:creationId xmlns:a16="http://schemas.microsoft.com/office/drawing/2014/main" id="{377AAE03-AA20-77AF-9075-DD3BA106A211}"/>
              </a:ext>
            </a:extLst>
          </p:cNvPr>
          <p:cNvGraphicFramePr>
            <a:graphicFrameLocks noGrp="1"/>
          </p:cNvGraphicFramePr>
          <p:nvPr>
            <p:extLst>
              <p:ext uri="{D42A27DB-BD31-4B8C-83A1-F6EECF244321}">
                <p14:modId xmlns:p14="http://schemas.microsoft.com/office/powerpoint/2010/main" val="3335237613"/>
              </p:ext>
            </p:extLst>
          </p:nvPr>
        </p:nvGraphicFramePr>
        <p:xfrm>
          <a:off x="501225" y="615711"/>
          <a:ext cx="8243147" cy="2771732"/>
        </p:xfrm>
        <a:graphic>
          <a:graphicData uri="http://schemas.openxmlformats.org/drawingml/2006/table">
            <a:tbl>
              <a:tblPr>
                <a:tableStyleId>{D7AC3CCA-C797-4891-BE02-D94E43425B78}</a:tableStyleId>
              </a:tblPr>
              <a:tblGrid>
                <a:gridCol w="602828">
                  <a:extLst>
                    <a:ext uri="{9D8B030D-6E8A-4147-A177-3AD203B41FA5}">
                      <a16:colId xmlns:a16="http://schemas.microsoft.com/office/drawing/2014/main" val="3158990477"/>
                    </a:ext>
                  </a:extLst>
                </a:gridCol>
                <a:gridCol w="1998133">
                  <a:extLst>
                    <a:ext uri="{9D8B030D-6E8A-4147-A177-3AD203B41FA5}">
                      <a16:colId xmlns:a16="http://schemas.microsoft.com/office/drawing/2014/main" val="1075957636"/>
                    </a:ext>
                  </a:extLst>
                </a:gridCol>
                <a:gridCol w="1361440">
                  <a:extLst>
                    <a:ext uri="{9D8B030D-6E8A-4147-A177-3AD203B41FA5}">
                      <a16:colId xmlns:a16="http://schemas.microsoft.com/office/drawing/2014/main" val="3876200878"/>
                    </a:ext>
                  </a:extLst>
                </a:gridCol>
                <a:gridCol w="955040">
                  <a:extLst>
                    <a:ext uri="{9D8B030D-6E8A-4147-A177-3AD203B41FA5}">
                      <a16:colId xmlns:a16="http://schemas.microsoft.com/office/drawing/2014/main" val="1039457158"/>
                    </a:ext>
                  </a:extLst>
                </a:gridCol>
                <a:gridCol w="1334347">
                  <a:extLst>
                    <a:ext uri="{9D8B030D-6E8A-4147-A177-3AD203B41FA5}">
                      <a16:colId xmlns:a16="http://schemas.microsoft.com/office/drawing/2014/main" val="1502944034"/>
                    </a:ext>
                  </a:extLst>
                </a:gridCol>
                <a:gridCol w="1991359">
                  <a:extLst>
                    <a:ext uri="{9D8B030D-6E8A-4147-A177-3AD203B41FA5}">
                      <a16:colId xmlns:a16="http://schemas.microsoft.com/office/drawing/2014/main" val="3513646076"/>
                    </a:ext>
                  </a:extLst>
                </a:gridCol>
              </a:tblGrid>
              <a:tr h="385612">
                <a:tc>
                  <a:txBody>
                    <a:bodyPr/>
                    <a:lstStyle/>
                    <a:p>
                      <a:pPr algn="l">
                        <a:buNone/>
                      </a:pPr>
                      <a:endParaRPr lang="fr-FR" sz="1100" b="0" dirty="0">
                        <a:solidFill>
                          <a:schemeClr val="bg1"/>
                        </a:solidFill>
                        <a:effectLst/>
                        <a:latin typeface="Arial" panose="020B0604020202020204" pitchFamily="34" charset="0"/>
                        <a:cs typeface="Arial" panose="020B0604020202020204" pitchFamily="34" charset="0"/>
                      </a:endParaRPr>
                    </a:p>
                  </a:txBody>
                  <a:tcPr marL="56650" marR="56650" marT="42488" marB="42488" anchor="ctr"/>
                </a:tc>
                <a:tc>
                  <a:txBody>
                    <a:bodyPr/>
                    <a:lstStyle/>
                    <a:p>
                      <a:pPr algn="l">
                        <a:buNone/>
                      </a:pPr>
                      <a:r>
                        <a:rPr lang="fr-FR" sz="1100" b="1" dirty="0">
                          <a:solidFill>
                            <a:schemeClr val="bg1"/>
                          </a:solidFill>
                          <a:effectLst/>
                          <a:latin typeface="Arial" panose="020B0604020202020204" pitchFamily="34" charset="0"/>
                          <a:cs typeface="Arial" panose="020B0604020202020204" pitchFamily="34" charset="0"/>
                        </a:rPr>
                        <a:t>Hypothèse</a:t>
                      </a:r>
                    </a:p>
                  </a:txBody>
                  <a:tcPr marL="56650" marR="56650" marT="42488" marB="42488" anchor="ctr"/>
                </a:tc>
                <a:tc>
                  <a:txBody>
                    <a:bodyPr/>
                    <a:lstStyle/>
                    <a:p>
                      <a:pPr algn="ctr">
                        <a:buNone/>
                      </a:pPr>
                      <a:r>
                        <a:rPr lang="fr-FR" sz="1100" b="1" dirty="0">
                          <a:solidFill>
                            <a:schemeClr val="bg1"/>
                          </a:solidFill>
                          <a:effectLst/>
                          <a:latin typeface="Arial" panose="020B0604020202020204" pitchFamily="34" charset="0"/>
                          <a:cs typeface="Arial" panose="020B0604020202020204" pitchFamily="34" charset="0"/>
                        </a:rPr>
                        <a:t>Test applicable</a:t>
                      </a:r>
                    </a:p>
                  </a:txBody>
                  <a:tcPr marL="56650" marR="56650" marT="42488" marB="42488" anchor="ctr"/>
                </a:tc>
                <a:tc>
                  <a:txBody>
                    <a:bodyPr/>
                    <a:lstStyle/>
                    <a:p>
                      <a:pPr algn="ctr">
                        <a:buNone/>
                      </a:pPr>
                      <a:r>
                        <a:rPr lang="fr-FR" sz="1100" b="1" dirty="0">
                          <a:solidFill>
                            <a:schemeClr val="bg1"/>
                          </a:solidFill>
                          <a:effectLst/>
                          <a:latin typeface="Arial" panose="020B0604020202020204" pitchFamily="34" charset="0"/>
                          <a:cs typeface="Arial" panose="020B0604020202020204" pitchFamily="34" charset="0"/>
                        </a:rPr>
                        <a:t>p-value estimée</a:t>
                      </a:r>
                    </a:p>
                  </a:txBody>
                  <a:tcPr marL="56650" marR="56650" marT="42488" marB="42488" anchor="ctr"/>
                </a:tc>
                <a:tc>
                  <a:txBody>
                    <a:bodyPr/>
                    <a:lstStyle/>
                    <a:p>
                      <a:pPr algn="ctr">
                        <a:buNone/>
                      </a:pPr>
                      <a:r>
                        <a:rPr lang="fr-FR" sz="1100" b="1" dirty="0">
                          <a:solidFill>
                            <a:schemeClr val="bg1"/>
                          </a:solidFill>
                          <a:effectLst/>
                          <a:latin typeface="Arial" panose="020B0604020202020204" pitchFamily="34" charset="0"/>
                          <a:cs typeface="Arial" panose="020B0604020202020204" pitchFamily="34" charset="0"/>
                        </a:rPr>
                        <a:t>Significatif </a:t>
                      </a:r>
                    </a:p>
                  </a:txBody>
                  <a:tcPr marL="56650" marR="56650" marT="42488" marB="42488" anchor="ctr"/>
                </a:tc>
                <a:tc>
                  <a:txBody>
                    <a:bodyPr/>
                    <a:lstStyle/>
                    <a:p>
                      <a:pPr algn="ctr">
                        <a:buNone/>
                      </a:pPr>
                      <a:r>
                        <a:rPr lang="fr-FR" sz="1100" b="1" dirty="0">
                          <a:solidFill>
                            <a:schemeClr val="bg1"/>
                          </a:solidFill>
                          <a:effectLst/>
                          <a:latin typeface="Arial" panose="020B0604020202020204" pitchFamily="34" charset="0"/>
                          <a:cs typeface="Arial" panose="020B0604020202020204" pitchFamily="34" charset="0"/>
                        </a:rPr>
                        <a:t>Verdict rendu</a:t>
                      </a:r>
                    </a:p>
                  </a:txBody>
                  <a:tcPr marL="56650" marR="56650" marT="42488" marB="42488" anchor="ctr"/>
                </a:tc>
                <a:extLst>
                  <a:ext uri="{0D108BD9-81ED-4DB2-BD59-A6C34878D82A}">
                    <a16:rowId xmlns:a16="http://schemas.microsoft.com/office/drawing/2014/main" val="2441359307"/>
                  </a:ext>
                </a:extLst>
              </a:tr>
              <a:tr h="491466">
                <a:tc>
                  <a:txBody>
                    <a:bodyPr/>
                    <a:lstStyle/>
                    <a:p>
                      <a:pPr algn="ctr">
                        <a:buNone/>
                      </a:pPr>
                      <a:r>
                        <a:rPr lang="fr-FR" sz="1100" b="1" dirty="0">
                          <a:solidFill>
                            <a:schemeClr val="bg1"/>
                          </a:solidFill>
                          <a:effectLst/>
                          <a:latin typeface="Arial" panose="020B0604020202020204" pitchFamily="34" charset="0"/>
                          <a:cs typeface="Arial" panose="020B0604020202020204" pitchFamily="34" charset="0"/>
                        </a:rPr>
                        <a:t>H1</a:t>
                      </a:r>
                    </a:p>
                  </a:txBody>
                  <a:tcPr marL="56650" marR="56650" marT="42488" marB="42488" anchor="ctr"/>
                </a:tc>
                <a:tc>
                  <a:txBody>
                    <a:bodyPr/>
                    <a:lstStyle/>
                    <a:p>
                      <a:pPr algn="l">
                        <a:buNone/>
                      </a:pPr>
                      <a:r>
                        <a:rPr lang="fr-FR" sz="1100" b="0" dirty="0">
                          <a:solidFill>
                            <a:schemeClr val="bg1"/>
                          </a:solidFill>
                          <a:effectLst/>
                          <a:latin typeface="Arial" panose="020B0604020202020204" pitchFamily="34" charset="0"/>
                          <a:cs typeface="Arial" panose="020B0604020202020204" pitchFamily="34" charset="0"/>
                        </a:rPr>
                        <a:t>PC → genres narratifs</a:t>
                      </a:r>
                    </a:p>
                  </a:txBody>
                  <a:tcPr marL="56650" marR="56650" marT="42488" marB="42488" anchor="ctr"/>
                </a:tc>
                <a:tc>
                  <a:txBody>
                    <a:bodyPr/>
                    <a:lstStyle/>
                    <a:p>
                      <a:pPr algn="ctr">
                        <a:buNone/>
                      </a:pPr>
                      <a:r>
                        <a:rPr lang="fr-FR" sz="1100" dirty="0">
                          <a:solidFill>
                            <a:schemeClr val="bg1"/>
                          </a:solidFill>
                          <a:effectLst/>
                          <a:latin typeface="Arial" panose="020B0604020202020204" pitchFamily="34" charset="0"/>
                          <a:cs typeface="Arial" panose="020B0604020202020204" pitchFamily="34" charset="0"/>
                        </a:rPr>
                        <a:t>Fisher</a:t>
                      </a:r>
                    </a:p>
                  </a:txBody>
                  <a:tcPr marL="56650" marR="56650" marT="42488" marB="42488" anchor="ctr"/>
                </a:tc>
                <a:tc>
                  <a:txBody>
                    <a:bodyPr/>
                    <a:lstStyle/>
                    <a:p>
                      <a:pPr algn="ctr">
                        <a:buNone/>
                      </a:pPr>
                      <a:r>
                        <a:rPr lang="fr-FR" sz="1100" dirty="0">
                          <a:solidFill>
                            <a:schemeClr val="bg1"/>
                          </a:solidFill>
                          <a:effectLst/>
                          <a:latin typeface="Arial" panose="020B0604020202020204" pitchFamily="34" charset="0"/>
                          <a:cs typeface="Arial" panose="020B0604020202020204" pitchFamily="34" charset="0"/>
                        </a:rPr>
                        <a:t>~0,34</a:t>
                      </a:r>
                    </a:p>
                  </a:txBody>
                  <a:tcPr marL="56650" marR="56650" marT="42488" marB="42488" anchor="ctr"/>
                </a:tc>
                <a:tc>
                  <a:txBody>
                    <a:bodyPr/>
                    <a:lstStyle/>
                    <a:p>
                      <a:pPr algn="ctr">
                        <a:buNone/>
                      </a:pPr>
                      <a:r>
                        <a:rPr lang="fr-FR" sz="1100" dirty="0">
                          <a:solidFill>
                            <a:schemeClr val="bg1"/>
                          </a:solidFill>
                          <a:effectLst/>
                          <a:latin typeface="Arial" panose="020B0604020202020204" pitchFamily="34" charset="0"/>
                          <a:cs typeface="Arial" panose="020B0604020202020204" pitchFamily="34" charset="0"/>
                        </a:rPr>
                        <a:t>Non (p≥0,10)</a:t>
                      </a:r>
                    </a:p>
                  </a:txBody>
                  <a:tcPr marL="56650" marR="56650" marT="42488" marB="42488" anchor="ctr"/>
                </a:tc>
                <a:tc>
                  <a:txBody>
                    <a:bodyPr/>
                    <a:lstStyle/>
                    <a:p>
                      <a:pPr algn="ctr">
                        <a:buNone/>
                      </a:pPr>
                      <a:r>
                        <a:rPr lang="fr-FR" sz="1100">
                          <a:solidFill>
                            <a:schemeClr val="bg1"/>
                          </a:solidFill>
                          <a:effectLst/>
                          <a:latin typeface="Arial" panose="020B0604020202020204" pitchFamily="34" charset="0"/>
                          <a:cs typeface="Arial" panose="020B0604020202020204" pitchFamily="34" charset="0"/>
                        </a:rPr>
                        <a:t>Tendance directionnelle</a:t>
                      </a:r>
                    </a:p>
                  </a:txBody>
                  <a:tcPr marL="56650" marR="56650" marT="42488" marB="42488" anchor="ctr"/>
                </a:tc>
                <a:extLst>
                  <a:ext uri="{0D108BD9-81ED-4DB2-BD59-A6C34878D82A}">
                    <a16:rowId xmlns:a16="http://schemas.microsoft.com/office/drawing/2014/main" val="2664871556"/>
                  </a:ext>
                </a:extLst>
              </a:tr>
              <a:tr h="385612">
                <a:tc>
                  <a:txBody>
                    <a:bodyPr/>
                    <a:lstStyle/>
                    <a:p>
                      <a:pPr algn="ctr">
                        <a:buNone/>
                      </a:pPr>
                      <a:r>
                        <a:rPr lang="fr-FR" sz="1100" b="1" dirty="0">
                          <a:solidFill>
                            <a:schemeClr val="bg1"/>
                          </a:solidFill>
                          <a:effectLst/>
                          <a:latin typeface="Arial" panose="020B0604020202020204" pitchFamily="34" charset="0"/>
                          <a:cs typeface="Arial" panose="020B0604020202020204" pitchFamily="34" charset="0"/>
                        </a:rPr>
                        <a:t>H2</a:t>
                      </a:r>
                    </a:p>
                  </a:txBody>
                  <a:tcPr marL="56650" marR="56650" marT="42488" marB="42488" anchor="ctr"/>
                </a:tc>
                <a:tc>
                  <a:txBody>
                    <a:bodyPr/>
                    <a:lstStyle/>
                    <a:p>
                      <a:pPr algn="l">
                        <a:buNone/>
                      </a:pPr>
                      <a:r>
                        <a:rPr lang="fr-FR" sz="1100" b="0" dirty="0">
                          <a:solidFill>
                            <a:schemeClr val="bg1"/>
                          </a:solidFill>
                          <a:effectLst/>
                          <a:latin typeface="Arial" panose="020B0604020202020204" pitchFamily="34" charset="0"/>
                          <a:cs typeface="Arial" panose="020B0604020202020204" pitchFamily="34" charset="0"/>
                        </a:rPr>
                        <a:t>Scénario = critère n°1</a:t>
                      </a:r>
                    </a:p>
                  </a:txBody>
                  <a:tcPr marL="56650" marR="56650" marT="42488" marB="42488" anchor="ctr"/>
                </a:tc>
                <a:tc>
                  <a:txBody>
                    <a:bodyPr/>
                    <a:lstStyle/>
                    <a:p>
                      <a:pPr algn="ctr">
                        <a:buNone/>
                      </a:pPr>
                      <a:r>
                        <a:rPr lang="fr-FR" sz="1100">
                          <a:solidFill>
                            <a:schemeClr val="bg1"/>
                          </a:solidFill>
                          <a:effectLst/>
                          <a:latin typeface="Arial" panose="020B0604020202020204" pitchFamily="34" charset="0"/>
                          <a:cs typeface="Arial" panose="020B0604020202020204" pitchFamily="34" charset="0"/>
                        </a:rPr>
                        <a:t>Fréquence brute</a:t>
                      </a:r>
                    </a:p>
                  </a:txBody>
                  <a:tcPr marL="56650" marR="56650" marT="42488" marB="42488" anchor="ctr"/>
                </a:tc>
                <a:tc>
                  <a:txBody>
                    <a:bodyPr/>
                    <a:lstStyle/>
                    <a:p>
                      <a:pPr algn="ctr">
                        <a:buNone/>
                      </a:pPr>
                      <a:r>
                        <a:rPr lang="fr-FR" sz="1100">
                          <a:solidFill>
                            <a:schemeClr val="bg1"/>
                          </a:solidFill>
                          <a:effectLst/>
                          <a:latin typeface="Arial" panose="020B0604020202020204" pitchFamily="34" charset="0"/>
                          <a:cs typeface="Arial" panose="020B0604020202020204" pitchFamily="34" charset="0"/>
                        </a:rPr>
                        <a:t>—</a:t>
                      </a:r>
                    </a:p>
                  </a:txBody>
                  <a:tcPr marL="56650" marR="56650" marT="42488" marB="42488" anchor="ctr"/>
                </a:tc>
                <a:tc>
                  <a:txBody>
                    <a:bodyPr/>
                    <a:lstStyle/>
                    <a:p>
                      <a:pPr algn="ctr">
                        <a:buNone/>
                      </a:pPr>
                      <a:r>
                        <a:rPr lang="fr-FR" sz="1100">
                          <a:solidFill>
                            <a:schemeClr val="bg1"/>
                          </a:solidFill>
                          <a:effectLst/>
                          <a:latin typeface="Arial" panose="020B0604020202020204" pitchFamily="34" charset="0"/>
                          <a:cs typeface="Arial" panose="020B0604020202020204" pitchFamily="34" charset="0"/>
                        </a:rPr>
                        <a:t>100% = absolu</a:t>
                      </a:r>
                    </a:p>
                  </a:txBody>
                  <a:tcPr marL="56650" marR="56650" marT="42488" marB="42488" anchor="ctr"/>
                </a:tc>
                <a:tc>
                  <a:txBody>
                    <a:bodyPr/>
                    <a:lstStyle/>
                    <a:p>
                      <a:pPr algn="ctr">
                        <a:buNone/>
                      </a:pPr>
                      <a:r>
                        <a:rPr lang="fr-FR" sz="1100" dirty="0">
                          <a:solidFill>
                            <a:schemeClr val="bg1"/>
                          </a:solidFill>
                          <a:effectLst/>
                          <a:latin typeface="Arial" panose="020B0604020202020204" pitchFamily="34" charset="0"/>
                          <a:cs typeface="Arial" panose="020B0604020202020204" pitchFamily="34" charset="0"/>
                        </a:rPr>
                        <a:t>Confirmée sans test</a:t>
                      </a:r>
                    </a:p>
                  </a:txBody>
                  <a:tcPr marL="56650" marR="56650" marT="42488" marB="42488" anchor="ctr"/>
                </a:tc>
                <a:extLst>
                  <a:ext uri="{0D108BD9-81ED-4DB2-BD59-A6C34878D82A}">
                    <a16:rowId xmlns:a16="http://schemas.microsoft.com/office/drawing/2014/main" val="314901471"/>
                  </a:ext>
                </a:extLst>
              </a:tr>
              <a:tr h="491466">
                <a:tc>
                  <a:txBody>
                    <a:bodyPr/>
                    <a:lstStyle/>
                    <a:p>
                      <a:pPr algn="ctr">
                        <a:buNone/>
                      </a:pPr>
                      <a:r>
                        <a:rPr lang="fr-FR" sz="1100" b="1" dirty="0">
                          <a:solidFill>
                            <a:schemeClr val="bg1"/>
                          </a:solidFill>
                          <a:effectLst/>
                          <a:latin typeface="Arial" panose="020B0604020202020204" pitchFamily="34" charset="0"/>
                          <a:cs typeface="Arial" panose="020B0604020202020204" pitchFamily="34" charset="0"/>
                        </a:rPr>
                        <a:t>H3</a:t>
                      </a:r>
                    </a:p>
                  </a:txBody>
                  <a:tcPr marL="56650" marR="56650" marT="42488" marB="42488" anchor="ctr"/>
                </a:tc>
                <a:tc>
                  <a:txBody>
                    <a:bodyPr/>
                    <a:lstStyle/>
                    <a:p>
                      <a:pPr algn="l">
                        <a:buNone/>
                      </a:pPr>
                      <a:r>
                        <a:rPr lang="fr-FR" sz="1100" b="0">
                          <a:solidFill>
                            <a:schemeClr val="bg1"/>
                          </a:solidFill>
                          <a:effectLst/>
                          <a:latin typeface="Arial" panose="020B0604020202020204" pitchFamily="34" charset="0"/>
                          <a:cs typeface="Arial" panose="020B0604020202020204" pitchFamily="34" charset="0"/>
                        </a:rPr>
                        <a:t>Solo → moins sensible prix</a:t>
                      </a:r>
                    </a:p>
                  </a:txBody>
                  <a:tcPr marL="56650" marR="56650" marT="42488" marB="42488" anchor="ctr"/>
                </a:tc>
                <a:tc>
                  <a:txBody>
                    <a:bodyPr/>
                    <a:lstStyle/>
                    <a:p>
                      <a:pPr algn="ctr">
                        <a:buNone/>
                      </a:pPr>
                      <a:r>
                        <a:rPr lang="fr-FR" sz="1100" dirty="0">
                          <a:solidFill>
                            <a:schemeClr val="bg1"/>
                          </a:solidFill>
                          <a:effectLst/>
                          <a:latin typeface="Arial" panose="020B0604020202020204" pitchFamily="34" charset="0"/>
                          <a:cs typeface="Arial" panose="020B0604020202020204" pitchFamily="34" charset="0"/>
                        </a:rPr>
                        <a:t>Mann-Whitney</a:t>
                      </a:r>
                    </a:p>
                  </a:txBody>
                  <a:tcPr marL="56650" marR="56650" marT="42488" marB="42488" anchor="ctr"/>
                </a:tc>
                <a:tc>
                  <a:txBody>
                    <a:bodyPr/>
                    <a:lstStyle/>
                    <a:p>
                      <a:pPr algn="ctr">
                        <a:buNone/>
                      </a:pPr>
                      <a:r>
                        <a:rPr lang="fr-FR" sz="1100">
                          <a:solidFill>
                            <a:schemeClr val="bg1"/>
                          </a:solidFill>
                          <a:effectLst/>
                          <a:latin typeface="Arial" panose="020B0604020202020204" pitchFamily="34" charset="0"/>
                          <a:cs typeface="Arial" panose="020B0604020202020204" pitchFamily="34" charset="0"/>
                        </a:rPr>
                        <a:t>~0,72</a:t>
                      </a:r>
                    </a:p>
                  </a:txBody>
                  <a:tcPr marL="56650" marR="56650" marT="42488" marB="42488" anchor="ctr"/>
                </a:tc>
                <a:tc>
                  <a:txBody>
                    <a:bodyPr/>
                    <a:lstStyle/>
                    <a:p>
                      <a:pPr algn="ctr">
                        <a:buNone/>
                      </a:pPr>
                      <a:r>
                        <a:rPr lang="fr-FR" sz="1100" dirty="0">
                          <a:solidFill>
                            <a:schemeClr val="bg1"/>
                          </a:solidFill>
                          <a:effectLst/>
                          <a:latin typeface="Arial" panose="020B0604020202020204" pitchFamily="34" charset="0"/>
                          <a:cs typeface="Arial" panose="020B0604020202020204" pitchFamily="34" charset="0"/>
                        </a:rPr>
                        <a:t>Non (p≥0,10)</a:t>
                      </a:r>
                    </a:p>
                  </a:txBody>
                  <a:tcPr marL="56650" marR="56650" marT="42488" marB="42488" anchor="ctr"/>
                </a:tc>
                <a:tc>
                  <a:txBody>
                    <a:bodyPr/>
                    <a:lstStyle/>
                    <a:p>
                      <a:pPr algn="ctr">
                        <a:buNone/>
                      </a:pPr>
                      <a:r>
                        <a:rPr lang="fr-FR" sz="1100" dirty="0">
                          <a:solidFill>
                            <a:schemeClr val="bg1"/>
                          </a:solidFill>
                          <a:effectLst/>
                          <a:latin typeface="Arial" panose="020B0604020202020204" pitchFamily="34" charset="0"/>
                          <a:cs typeface="Arial" panose="020B0604020202020204" pitchFamily="34" charset="0"/>
                        </a:rPr>
                        <a:t>Infirmée (faible écart)</a:t>
                      </a:r>
                    </a:p>
                  </a:txBody>
                  <a:tcPr marL="56650" marR="56650" marT="42488" marB="42488" anchor="ctr"/>
                </a:tc>
                <a:extLst>
                  <a:ext uri="{0D108BD9-81ED-4DB2-BD59-A6C34878D82A}">
                    <a16:rowId xmlns:a16="http://schemas.microsoft.com/office/drawing/2014/main" val="698108133"/>
                  </a:ext>
                </a:extLst>
              </a:tr>
              <a:tr h="491466">
                <a:tc>
                  <a:txBody>
                    <a:bodyPr/>
                    <a:lstStyle/>
                    <a:p>
                      <a:pPr algn="ctr">
                        <a:buNone/>
                      </a:pPr>
                      <a:r>
                        <a:rPr lang="fr-FR" sz="1100" b="1" dirty="0">
                          <a:solidFill>
                            <a:schemeClr val="bg1"/>
                          </a:solidFill>
                          <a:effectLst/>
                          <a:latin typeface="Arial" panose="020B0604020202020204" pitchFamily="34" charset="0"/>
                          <a:cs typeface="Arial" panose="020B0604020202020204" pitchFamily="34" charset="0"/>
                        </a:rPr>
                        <a:t>H4</a:t>
                      </a:r>
                    </a:p>
                  </a:txBody>
                  <a:tcPr marL="56650" marR="56650" marT="42488" marB="42488" anchor="ctr"/>
                </a:tc>
                <a:tc>
                  <a:txBody>
                    <a:bodyPr/>
                    <a:lstStyle/>
                    <a:p>
                      <a:pPr algn="l">
                        <a:buNone/>
                      </a:pPr>
                      <a:r>
                        <a:rPr lang="fr-FR" sz="1100" b="0" dirty="0">
                          <a:solidFill>
                            <a:schemeClr val="bg1"/>
                          </a:solidFill>
                          <a:effectLst/>
                          <a:latin typeface="Arial" panose="020B0604020202020204" pitchFamily="34" charset="0"/>
                          <a:cs typeface="Arial" panose="020B0604020202020204" pitchFamily="34" charset="0"/>
                        </a:rPr>
                        <a:t>Fréquence achat → DLC</a:t>
                      </a:r>
                    </a:p>
                  </a:txBody>
                  <a:tcPr marL="56650" marR="56650" marT="42488" marB="42488" anchor="ctr"/>
                </a:tc>
                <a:tc>
                  <a:txBody>
                    <a:bodyPr/>
                    <a:lstStyle/>
                    <a:p>
                      <a:pPr algn="ctr">
                        <a:buNone/>
                      </a:pPr>
                      <a:r>
                        <a:rPr lang="fr-FR" sz="1100" dirty="0">
                          <a:solidFill>
                            <a:schemeClr val="bg1"/>
                          </a:solidFill>
                          <a:effectLst/>
                          <a:latin typeface="Arial" panose="020B0604020202020204" pitchFamily="34" charset="0"/>
                          <a:cs typeface="Arial" panose="020B0604020202020204" pitchFamily="34" charset="0"/>
                        </a:rPr>
                        <a:t>Fisher</a:t>
                      </a:r>
                    </a:p>
                  </a:txBody>
                  <a:tcPr marL="56650" marR="56650" marT="42488" marB="42488" anchor="ctr"/>
                </a:tc>
                <a:tc>
                  <a:txBody>
                    <a:bodyPr/>
                    <a:lstStyle/>
                    <a:p>
                      <a:pPr algn="ctr">
                        <a:buNone/>
                      </a:pPr>
                      <a:r>
                        <a:rPr lang="fr-FR" sz="1100">
                          <a:solidFill>
                            <a:schemeClr val="bg1"/>
                          </a:solidFill>
                          <a:effectLst/>
                          <a:latin typeface="Arial" panose="020B0604020202020204" pitchFamily="34" charset="0"/>
                          <a:cs typeface="Arial" panose="020B0604020202020204" pitchFamily="34" charset="0"/>
                        </a:rPr>
                        <a:t>~0,31</a:t>
                      </a:r>
                    </a:p>
                  </a:txBody>
                  <a:tcPr marL="56650" marR="56650" marT="42488" marB="42488" anchor="ctr"/>
                </a:tc>
                <a:tc>
                  <a:txBody>
                    <a:bodyPr/>
                    <a:lstStyle/>
                    <a:p>
                      <a:pPr algn="ctr">
                        <a:buNone/>
                      </a:pPr>
                      <a:r>
                        <a:rPr lang="fr-FR" sz="1100">
                          <a:solidFill>
                            <a:schemeClr val="bg1"/>
                          </a:solidFill>
                          <a:effectLst/>
                          <a:latin typeface="Arial" panose="020B0604020202020204" pitchFamily="34" charset="0"/>
                          <a:cs typeface="Arial" panose="020B0604020202020204" pitchFamily="34" charset="0"/>
                        </a:rPr>
                        <a:t>Non (p≥0,10)</a:t>
                      </a:r>
                    </a:p>
                  </a:txBody>
                  <a:tcPr marL="56650" marR="56650" marT="42488" marB="42488" anchor="ctr"/>
                </a:tc>
                <a:tc>
                  <a:txBody>
                    <a:bodyPr/>
                    <a:lstStyle/>
                    <a:p>
                      <a:pPr algn="ctr">
                        <a:buNone/>
                      </a:pPr>
                      <a:r>
                        <a:rPr lang="fr-FR" sz="1100" dirty="0">
                          <a:solidFill>
                            <a:schemeClr val="bg1"/>
                          </a:solidFill>
                          <a:effectLst/>
                          <a:latin typeface="Arial" panose="020B0604020202020204" pitchFamily="34" charset="0"/>
                          <a:cs typeface="Arial" panose="020B0604020202020204" pitchFamily="34" charset="0"/>
                        </a:rPr>
                        <a:t>Tendance directionnelle</a:t>
                      </a:r>
                    </a:p>
                  </a:txBody>
                  <a:tcPr marL="56650" marR="56650" marT="42488" marB="42488" anchor="ctr"/>
                </a:tc>
                <a:extLst>
                  <a:ext uri="{0D108BD9-81ED-4DB2-BD59-A6C34878D82A}">
                    <a16:rowId xmlns:a16="http://schemas.microsoft.com/office/drawing/2014/main" val="2048346305"/>
                  </a:ext>
                </a:extLst>
              </a:tr>
              <a:tr h="491466">
                <a:tc>
                  <a:txBody>
                    <a:bodyPr/>
                    <a:lstStyle/>
                    <a:p>
                      <a:pPr algn="ctr">
                        <a:buNone/>
                      </a:pPr>
                      <a:r>
                        <a:rPr lang="fr-FR" sz="1100" b="1" dirty="0">
                          <a:solidFill>
                            <a:schemeClr val="bg1"/>
                          </a:solidFill>
                          <a:effectLst/>
                          <a:latin typeface="Arial" panose="020B0604020202020204" pitchFamily="34" charset="0"/>
                          <a:cs typeface="Arial" panose="020B0604020202020204" pitchFamily="34" charset="0"/>
                        </a:rPr>
                        <a:t>H5</a:t>
                      </a:r>
                    </a:p>
                  </a:txBody>
                  <a:tcPr marL="56650" marR="56650" marT="42488" marB="42488" anchor="ctr"/>
                </a:tc>
                <a:tc>
                  <a:txBody>
                    <a:bodyPr/>
                    <a:lstStyle/>
                    <a:p>
                      <a:pPr algn="l">
                        <a:buNone/>
                      </a:pPr>
                      <a:r>
                        <a:rPr lang="fr-FR" sz="1100" b="0" dirty="0">
                          <a:solidFill>
                            <a:schemeClr val="bg1"/>
                          </a:solidFill>
                          <a:effectLst/>
                          <a:latin typeface="Arial" panose="020B0604020202020204" pitchFamily="34" charset="0"/>
                          <a:cs typeface="Arial" panose="020B0604020202020204" pitchFamily="34" charset="0"/>
                        </a:rPr>
                        <a:t>Console →  Metacritic</a:t>
                      </a:r>
                    </a:p>
                  </a:txBody>
                  <a:tcPr marL="56650" marR="56650" marT="42488" marB="42488" anchor="ctr"/>
                </a:tc>
                <a:tc>
                  <a:txBody>
                    <a:bodyPr/>
                    <a:lstStyle/>
                    <a:p>
                      <a:pPr algn="ctr">
                        <a:buNone/>
                      </a:pPr>
                      <a:r>
                        <a:rPr lang="fr-FR" sz="1100">
                          <a:solidFill>
                            <a:schemeClr val="bg1"/>
                          </a:solidFill>
                          <a:effectLst/>
                          <a:latin typeface="Arial" panose="020B0604020202020204" pitchFamily="34" charset="0"/>
                          <a:cs typeface="Arial" panose="020B0604020202020204" pitchFamily="34" charset="0"/>
                        </a:rPr>
                        <a:t>Mann-Whitney</a:t>
                      </a:r>
                    </a:p>
                  </a:txBody>
                  <a:tcPr marL="56650" marR="56650" marT="42488" marB="42488" anchor="ctr"/>
                </a:tc>
                <a:tc>
                  <a:txBody>
                    <a:bodyPr/>
                    <a:lstStyle/>
                    <a:p>
                      <a:pPr algn="ctr">
                        <a:buNone/>
                      </a:pPr>
                      <a:r>
                        <a:rPr lang="fr-FR" sz="1100">
                          <a:solidFill>
                            <a:schemeClr val="bg1"/>
                          </a:solidFill>
                          <a:effectLst/>
                          <a:latin typeface="Arial" panose="020B0604020202020204" pitchFamily="34" charset="0"/>
                          <a:cs typeface="Arial" panose="020B0604020202020204" pitchFamily="34" charset="0"/>
                        </a:rPr>
                        <a:t>~0,91</a:t>
                      </a:r>
                    </a:p>
                  </a:txBody>
                  <a:tcPr marL="56650" marR="56650" marT="42488" marB="42488" anchor="ctr"/>
                </a:tc>
                <a:tc>
                  <a:txBody>
                    <a:bodyPr/>
                    <a:lstStyle/>
                    <a:p>
                      <a:pPr algn="ctr">
                        <a:buNone/>
                      </a:pPr>
                      <a:r>
                        <a:rPr lang="fr-FR" sz="1100">
                          <a:solidFill>
                            <a:schemeClr val="bg1"/>
                          </a:solidFill>
                          <a:effectLst/>
                          <a:latin typeface="Arial" panose="020B0604020202020204" pitchFamily="34" charset="0"/>
                          <a:cs typeface="Arial" panose="020B0604020202020204" pitchFamily="34" charset="0"/>
                        </a:rPr>
                        <a:t>Non (p≥0,10)</a:t>
                      </a:r>
                    </a:p>
                  </a:txBody>
                  <a:tcPr marL="56650" marR="56650" marT="42488" marB="42488" anchor="ctr"/>
                </a:tc>
                <a:tc>
                  <a:txBody>
                    <a:bodyPr/>
                    <a:lstStyle/>
                    <a:p>
                      <a:pPr algn="ctr">
                        <a:buNone/>
                      </a:pPr>
                      <a:r>
                        <a:rPr lang="fr-FR" sz="1100" dirty="0">
                          <a:solidFill>
                            <a:schemeClr val="bg1"/>
                          </a:solidFill>
                          <a:effectLst/>
                          <a:latin typeface="Arial" panose="020B0604020202020204" pitchFamily="34" charset="0"/>
                          <a:cs typeface="Arial" panose="020B0604020202020204" pitchFamily="34" charset="0"/>
                        </a:rPr>
                        <a:t>Infirmée (quasi nulle)</a:t>
                      </a:r>
                    </a:p>
                  </a:txBody>
                  <a:tcPr marL="56650" marR="56650" marT="42488" marB="42488" anchor="ctr"/>
                </a:tc>
                <a:extLst>
                  <a:ext uri="{0D108BD9-81ED-4DB2-BD59-A6C34878D82A}">
                    <a16:rowId xmlns:a16="http://schemas.microsoft.com/office/drawing/2014/main" val="3535732189"/>
                  </a:ext>
                </a:extLst>
              </a:tr>
            </a:tbl>
          </a:graphicData>
        </a:graphic>
      </p:graphicFrame>
      <p:sp>
        <p:nvSpPr>
          <p:cNvPr id="7" name="ZoneTexte 6">
            <a:extLst>
              <a:ext uri="{FF2B5EF4-FFF2-40B4-BE49-F238E27FC236}">
                <a16:creationId xmlns:a16="http://schemas.microsoft.com/office/drawing/2014/main" id="{9F5FBC02-C2A5-0039-FE02-3B4A61B5895F}"/>
              </a:ext>
            </a:extLst>
          </p:cNvPr>
          <p:cNvSpPr txBox="1"/>
          <p:nvPr/>
        </p:nvSpPr>
        <p:spPr>
          <a:xfrm>
            <a:off x="501225" y="3570110"/>
            <a:ext cx="8243146" cy="1323439"/>
          </a:xfrm>
          <a:prstGeom prst="rect">
            <a:avLst/>
          </a:prstGeom>
          <a:noFill/>
        </p:spPr>
        <p:txBody>
          <a:bodyPr wrap="square">
            <a:spAutoFit/>
          </a:bodyPr>
          <a:lstStyle/>
          <a:p>
            <a:pPr>
              <a:spcAft>
                <a:spcPts val="2400"/>
              </a:spcAft>
              <a:buNone/>
            </a:pPr>
            <a:r>
              <a:rPr lang="fr-FR" sz="1200" b="0" i="0" dirty="0">
                <a:effectLst/>
                <a:latin typeface="Arial" panose="020B0604020202020204" pitchFamily="34" charset="0"/>
                <a:cs typeface="Arial" panose="020B0604020202020204" pitchFamily="34" charset="0"/>
              </a:rPr>
              <a:t>Aucune hypothèse n'atteint la significativité statistique à p&lt;0,05. Ce résultat est </a:t>
            </a:r>
            <a:r>
              <a:rPr lang="fr-FR" sz="1200" b="1" i="0" dirty="0">
                <a:effectLst/>
                <a:latin typeface="Arial" panose="020B0604020202020204" pitchFamily="34" charset="0"/>
                <a:cs typeface="Arial" panose="020B0604020202020204" pitchFamily="34" charset="0"/>
              </a:rPr>
              <a:t>normal et attendu</a:t>
            </a:r>
            <a:r>
              <a:rPr lang="fr-FR" sz="1200" b="0" i="0" dirty="0">
                <a:effectLst/>
                <a:latin typeface="Arial" panose="020B0604020202020204" pitchFamily="34" charset="0"/>
                <a:cs typeface="Arial" panose="020B0604020202020204" pitchFamily="34" charset="0"/>
              </a:rPr>
              <a:t> avec n=16. Il ne remet pas en cause les tendances observées — il signifie seulement qu'on ne peut pas les généraliser à la population entière avec ce niveau de certitude.</a:t>
            </a:r>
          </a:p>
          <a:p>
            <a:pPr>
              <a:spcAft>
                <a:spcPts val="2400"/>
              </a:spcAft>
              <a:buNone/>
            </a:pPr>
            <a:r>
              <a:rPr lang="fr-FR" sz="1200" b="1" dirty="0">
                <a:latin typeface="Arial" panose="020B0604020202020204" pitchFamily="34" charset="0"/>
                <a:cs typeface="Arial" panose="020B0604020202020204" pitchFamily="34" charset="0"/>
              </a:rPr>
              <a:t>Pour les tests ordinaux (H3, H5):</a:t>
            </a:r>
            <a:r>
              <a:rPr lang="fr-FR" sz="1200" dirty="0">
                <a:latin typeface="Arial" panose="020B0604020202020204" pitchFamily="34" charset="0"/>
                <a:cs typeface="Arial" panose="020B0604020202020204" pitchFamily="34" charset="0"/>
              </a:rPr>
              <a:t> le test de Mann-Whitney compare les rangs entre deux groupes indépendants. Avec n=16, la p-value calculée est approximative. </a:t>
            </a:r>
          </a:p>
        </p:txBody>
      </p:sp>
    </p:spTree>
    <p:extLst>
      <p:ext uri="{BB962C8B-B14F-4D97-AF65-F5344CB8AC3E}">
        <p14:creationId xmlns:p14="http://schemas.microsoft.com/office/powerpoint/2010/main" val="8235762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55">
          <a:extLst>
            <a:ext uri="{FF2B5EF4-FFF2-40B4-BE49-F238E27FC236}">
              <a16:creationId xmlns:a16="http://schemas.microsoft.com/office/drawing/2014/main" id="{021D8C41-51E7-6A62-0EAF-F3D8D6947D6F}"/>
            </a:ext>
          </a:extLst>
        </p:cNvPr>
        <p:cNvGrpSpPr/>
        <p:nvPr/>
      </p:nvGrpSpPr>
      <p:grpSpPr>
        <a:xfrm>
          <a:off x="0" y="0"/>
          <a:ext cx="0" cy="0"/>
          <a:chOff x="0" y="0"/>
          <a:chExt cx="0" cy="0"/>
        </a:xfrm>
      </p:grpSpPr>
      <p:sp>
        <p:nvSpPr>
          <p:cNvPr id="2356" name="Google Shape;2356;p15">
            <a:extLst>
              <a:ext uri="{FF2B5EF4-FFF2-40B4-BE49-F238E27FC236}">
                <a16:creationId xmlns:a16="http://schemas.microsoft.com/office/drawing/2014/main" id="{DBDD78CB-B81C-A77F-1443-8EEFD4911896}"/>
              </a:ext>
            </a:extLst>
          </p:cNvPr>
          <p:cNvSpPr txBox="1">
            <a:spLocks noGrp="1"/>
          </p:cNvSpPr>
          <p:nvPr>
            <p:ph type="title"/>
          </p:nvPr>
        </p:nvSpPr>
        <p:spPr>
          <a:xfrm>
            <a:off x="4463627" y="2099732"/>
            <a:ext cx="4447498" cy="896342"/>
          </a:xfrm>
          <a:prstGeom prst="rect">
            <a:avLst/>
          </a:prstGeom>
          <a:noFill/>
          <a:ln>
            <a:noFill/>
          </a:ln>
        </p:spPr>
        <p:txBody>
          <a:bodyPr spcFirstLastPara="1" wrap="square" lIns="91425" tIns="91425" rIns="91425" bIns="91425" anchor="ctr" anchorCtr="0">
            <a:noAutofit/>
          </a:bodyPr>
          <a:lstStyle/>
          <a:p>
            <a:pPr lvl="0"/>
            <a:r>
              <a:rPr lang="en" sz="2800" b="1" dirty="0">
                <a:latin typeface="Arial" panose="020B0604020202020204" pitchFamily="34" charset="0"/>
                <a:cs typeface="Arial" panose="020B0604020202020204" pitchFamily="34" charset="0"/>
              </a:rPr>
              <a:t>Analyse du segment</a:t>
            </a:r>
            <a:endParaRPr dirty="0">
              <a:latin typeface="Arial" panose="020B0604020202020204" pitchFamily="34" charset="0"/>
              <a:cs typeface="Arial" panose="020B0604020202020204" pitchFamily="34" charset="0"/>
            </a:endParaRPr>
          </a:p>
        </p:txBody>
      </p:sp>
      <p:sp>
        <p:nvSpPr>
          <p:cNvPr id="2357" name="Google Shape;2357;p15">
            <a:extLst>
              <a:ext uri="{FF2B5EF4-FFF2-40B4-BE49-F238E27FC236}">
                <a16:creationId xmlns:a16="http://schemas.microsoft.com/office/drawing/2014/main" id="{0791866A-9D91-015C-1D99-7215D051130F}"/>
              </a:ext>
            </a:extLst>
          </p:cNvPr>
          <p:cNvSpPr txBox="1">
            <a:spLocks noGrp="1"/>
          </p:cNvSpPr>
          <p:nvPr>
            <p:ph type="title" idx="2"/>
          </p:nvPr>
        </p:nvSpPr>
        <p:spPr>
          <a:xfrm>
            <a:off x="3377825" y="2099733"/>
            <a:ext cx="1085802" cy="896342"/>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2000"/>
              <a:buNone/>
            </a:pPr>
            <a:r>
              <a:rPr lang="en" sz="5400" dirty="0">
                <a:latin typeface="Arial" panose="020B0604020202020204" pitchFamily="34" charset="0"/>
                <a:cs typeface="Arial" panose="020B0604020202020204" pitchFamily="34" charset="0"/>
              </a:rPr>
              <a:t>08</a:t>
            </a:r>
            <a:endParaRPr sz="5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05112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49"/>
        <p:cNvGrpSpPr/>
        <p:nvPr/>
      </p:nvGrpSpPr>
      <p:grpSpPr>
        <a:xfrm>
          <a:off x="0" y="0"/>
          <a:ext cx="0" cy="0"/>
          <a:chOff x="0" y="0"/>
          <a:chExt cx="0" cy="0"/>
        </a:xfrm>
      </p:grpSpPr>
      <p:sp>
        <p:nvSpPr>
          <p:cNvPr id="2351" name="Google Shape;2351;p14"/>
          <p:cNvSpPr txBox="1"/>
          <p:nvPr/>
        </p:nvSpPr>
        <p:spPr>
          <a:xfrm>
            <a:off x="508770" y="909043"/>
            <a:ext cx="8235603" cy="3534264"/>
          </a:xfrm>
          <a:prstGeom prst="rect">
            <a:avLst/>
          </a:prstGeom>
          <a:noFill/>
          <a:ln>
            <a:noFill/>
          </a:ln>
        </p:spPr>
        <p:txBody>
          <a:bodyPr spcFirstLastPara="1" wrap="square" lIns="91425" tIns="91425" rIns="91425" bIns="91425" anchor="t" anchorCtr="0">
            <a:noAutofit/>
          </a:bodyPr>
          <a:lstStyle/>
          <a:p>
            <a:pPr marL="285750" indent="-285750" algn="just">
              <a:buClr>
                <a:schemeClr val="tx1"/>
              </a:buClr>
              <a:buFont typeface="Wingdings" panose="05000000000000000000" pitchFamily="2" charset="2"/>
              <a:buChar char="q"/>
            </a:pPr>
            <a:r>
              <a:rPr lang="fr-FR" sz="1600" b="1" dirty="0">
                <a:latin typeface="Arial" panose="020B0604020202020204" pitchFamily="34" charset="0"/>
                <a:cs typeface="Arial" panose="020B0604020202020204" pitchFamily="34" charset="0"/>
              </a:rPr>
              <a:t>Profil :</a:t>
            </a:r>
            <a:r>
              <a:rPr lang="fr-FR" sz="1600" dirty="0">
                <a:latin typeface="Arial" panose="020B0604020202020204" pitchFamily="34" charset="0"/>
                <a:cs typeface="Arial" panose="020B0604020202020204" pitchFamily="34" charset="0"/>
              </a:rPr>
              <a:t> Le "</a:t>
            </a:r>
            <a:r>
              <a:rPr lang="fr-FR" sz="1600" dirty="0" err="1">
                <a:latin typeface="Arial" panose="020B0604020202020204" pitchFamily="34" charset="0"/>
                <a:cs typeface="Arial" panose="020B0604020202020204" pitchFamily="34" charset="0"/>
              </a:rPr>
              <a:t>Core</a:t>
            </a:r>
            <a:r>
              <a:rPr lang="fr-FR" sz="1600" dirty="0">
                <a:latin typeface="Arial" panose="020B0604020202020204" pitchFamily="34" charset="0"/>
                <a:cs typeface="Arial" panose="020B0604020202020204" pitchFamily="34" charset="0"/>
              </a:rPr>
              <a:t> Gamer" passionné.</a:t>
            </a:r>
          </a:p>
          <a:p>
            <a:pPr marL="285750" indent="-285750" algn="just">
              <a:buClr>
                <a:schemeClr val="tx1"/>
              </a:buClr>
              <a:buFont typeface="Wingdings" panose="05000000000000000000" pitchFamily="2" charset="2"/>
              <a:buChar char="q"/>
            </a:pPr>
            <a:endParaRPr lang="fr-FR" sz="1600" dirty="0">
              <a:latin typeface="Arial" panose="020B0604020202020204" pitchFamily="34" charset="0"/>
              <a:cs typeface="Arial" panose="020B0604020202020204" pitchFamily="34" charset="0"/>
            </a:endParaRPr>
          </a:p>
          <a:p>
            <a:pPr marL="285750" indent="-285750" algn="just">
              <a:buClr>
                <a:schemeClr val="tx1"/>
              </a:buClr>
              <a:buFont typeface="Wingdings" panose="05000000000000000000" pitchFamily="2" charset="2"/>
              <a:buChar char="q"/>
            </a:pPr>
            <a:r>
              <a:rPr lang="fr-FR" sz="1600" b="1" dirty="0">
                <a:latin typeface="Arial" panose="020B0604020202020204" pitchFamily="34" charset="0"/>
                <a:cs typeface="Arial" panose="020B0604020202020204" pitchFamily="34" charset="0"/>
              </a:rPr>
              <a:t>Plateforme de prédilection :</a:t>
            </a:r>
            <a:r>
              <a:rPr lang="fr-FR" sz="1600" dirty="0">
                <a:latin typeface="Arial" panose="020B0604020202020204" pitchFamily="34" charset="0"/>
                <a:cs typeface="Arial" panose="020B0604020202020204" pitchFamily="34" charset="0"/>
              </a:rPr>
              <a:t> Principalement </a:t>
            </a:r>
            <a:r>
              <a:rPr lang="fr-FR" sz="1600" b="1" dirty="0">
                <a:latin typeface="Arial" panose="020B0604020202020204" pitchFamily="34" charset="0"/>
                <a:cs typeface="Arial" panose="020B0604020202020204" pitchFamily="34" charset="0"/>
              </a:rPr>
              <a:t>PC</a:t>
            </a:r>
            <a:r>
              <a:rPr lang="fr-FR" sz="1600" dirty="0">
                <a:latin typeface="Arial" panose="020B0604020202020204" pitchFamily="34" charset="0"/>
                <a:cs typeface="Arial" panose="020B0604020202020204" pitchFamily="34" charset="0"/>
              </a:rPr>
              <a:t> et </a:t>
            </a:r>
            <a:r>
              <a:rPr lang="fr-FR" sz="1600" b="1" dirty="0">
                <a:latin typeface="Arial" panose="020B0604020202020204" pitchFamily="34" charset="0"/>
                <a:cs typeface="Arial" panose="020B0604020202020204" pitchFamily="34" charset="0"/>
              </a:rPr>
              <a:t>PS5</a:t>
            </a:r>
            <a:r>
              <a:rPr lang="fr-FR" sz="1600" dirty="0">
                <a:latin typeface="Arial" panose="020B0604020202020204" pitchFamily="34" charset="0"/>
                <a:cs typeface="Arial" panose="020B0604020202020204" pitchFamily="34" charset="0"/>
              </a:rPr>
              <a:t>. Ces joueurs privilégient la performance technique.</a:t>
            </a:r>
          </a:p>
          <a:p>
            <a:pPr marL="285750" indent="-285750" algn="just">
              <a:buClr>
                <a:schemeClr val="tx1"/>
              </a:buClr>
              <a:buFont typeface="Wingdings" panose="05000000000000000000" pitchFamily="2" charset="2"/>
              <a:buChar char="q"/>
            </a:pPr>
            <a:endParaRPr lang="fr-FR" sz="1600" dirty="0">
              <a:latin typeface="Arial" panose="020B0604020202020204" pitchFamily="34" charset="0"/>
              <a:cs typeface="Arial" panose="020B0604020202020204" pitchFamily="34" charset="0"/>
            </a:endParaRPr>
          </a:p>
          <a:p>
            <a:pPr marL="285750" indent="-285750" algn="just">
              <a:buClr>
                <a:schemeClr val="tx1"/>
              </a:buClr>
              <a:buFont typeface="Wingdings" panose="05000000000000000000" pitchFamily="2" charset="2"/>
              <a:buChar char="q"/>
            </a:pPr>
            <a:r>
              <a:rPr lang="fr-FR" sz="1600" b="1" dirty="0">
                <a:latin typeface="Arial" panose="020B0604020202020204" pitchFamily="34" charset="0"/>
                <a:cs typeface="Arial" panose="020B0604020202020204" pitchFamily="34" charset="0"/>
              </a:rPr>
              <a:t>Comportement d'achat :</a:t>
            </a:r>
            <a:r>
              <a:rPr lang="fr-FR" sz="1600" dirty="0">
                <a:latin typeface="Arial" panose="020B0604020202020204" pitchFamily="34" charset="0"/>
                <a:cs typeface="Arial" panose="020B0604020202020204" pitchFamily="34" charset="0"/>
              </a:rPr>
              <a:t> Très sélectif (3 à 5 jeux par an). Il ne "consomme" pas, il choisit ses expériences.</a:t>
            </a:r>
          </a:p>
          <a:p>
            <a:pPr marL="285750" indent="-285750" algn="just">
              <a:buClr>
                <a:schemeClr val="tx1"/>
              </a:buClr>
              <a:buFont typeface="Wingdings" panose="05000000000000000000" pitchFamily="2" charset="2"/>
              <a:buChar char="q"/>
            </a:pPr>
            <a:endParaRPr lang="fr-FR" sz="1600" dirty="0">
              <a:latin typeface="Arial" panose="020B0604020202020204" pitchFamily="34" charset="0"/>
              <a:cs typeface="Arial" panose="020B0604020202020204" pitchFamily="34" charset="0"/>
            </a:endParaRPr>
          </a:p>
          <a:p>
            <a:pPr marL="285750" indent="-285750" algn="just">
              <a:buClr>
                <a:schemeClr val="tx1"/>
              </a:buClr>
              <a:buFont typeface="Wingdings" panose="05000000000000000000" pitchFamily="2" charset="2"/>
              <a:buChar char="q"/>
            </a:pPr>
            <a:r>
              <a:rPr lang="fr-FR" sz="1600" b="1" dirty="0">
                <a:latin typeface="Arial" panose="020B0604020202020204" pitchFamily="34" charset="0"/>
                <a:cs typeface="Arial" panose="020B0604020202020204" pitchFamily="34" charset="0"/>
              </a:rPr>
              <a:t>Sensibilité à la qualité :</a:t>
            </a:r>
            <a:r>
              <a:rPr lang="fr-FR" sz="1600" dirty="0">
                <a:latin typeface="Arial" panose="020B0604020202020204" pitchFamily="34" charset="0"/>
                <a:cs typeface="Arial" panose="020B0604020202020204" pitchFamily="34" charset="0"/>
              </a:rPr>
              <a:t> Avec une importance moyenne de </a:t>
            </a:r>
            <a:r>
              <a:rPr lang="fr-FR" sz="1600" b="1" dirty="0">
                <a:latin typeface="Arial" panose="020B0604020202020204" pitchFamily="34" charset="0"/>
                <a:cs typeface="Arial" panose="020B0604020202020204" pitchFamily="34" charset="0"/>
              </a:rPr>
              <a:t>4/5 accordée aux notes</a:t>
            </a:r>
            <a:r>
              <a:rPr lang="fr-FR" sz="1600" dirty="0">
                <a:latin typeface="Arial" panose="020B0604020202020204" pitchFamily="34" charset="0"/>
                <a:cs typeface="Arial" panose="020B0604020202020204" pitchFamily="34" charset="0"/>
              </a:rPr>
              <a:t> (Metacritic/Presse), ce segment n'achète que si le jeu est une réussite critique.</a:t>
            </a:r>
          </a:p>
          <a:p>
            <a:pPr marL="285750" indent="-285750" algn="just">
              <a:buClr>
                <a:schemeClr val="tx1"/>
              </a:buClr>
              <a:buFont typeface="Wingdings" panose="05000000000000000000" pitchFamily="2" charset="2"/>
              <a:buChar char="q"/>
            </a:pPr>
            <a:endParaRPr lang="fr-FR" sz="1600" dirty="0">
              <a:latin typeface="Arial" panose="020B0604020202020204" pitchFamily="34" charset="0"/>
              <a:cs typeface="Arial" panose="020B0604020202020204" pitchFamily="34" charset="0"/>
            </a:endParaRPr>
          </a:p>
          <a:p>
            <a:pPr marL="285750" indent="-285750" algn="just">
              <a:buClr>
                <a:schemeClr val="tx1"/>
              </a:buClr>
              <a:buFont typeface="Wingdings" panose="05000000000000000000" pitchFamily="2" charset="2"/>
              <a:buChar char="q"/>
            </a:pPr>
            <a:r>
              <a:rPr lang="fr-FR" sz="1600" b="1" dirty="0">
                <a:latin typeface="Arial" panose="020B0604020202020204" pitchFamily="34" charset="0"/>
                <a:cs typeface="Arial" panose="020B0604020202020204" pitchFamily="34" charset="0"/>
              </a:rPr>
              <a:t>Budget :</a:t>
            </a:r>
            <a:r>
              <a:rPr lang="fr-FR" sz="1600" dirty="0">
                <a:latin typeface="Arial" panose="020B0604020202020204" pitchFamily="34" charset="0"/>
                <a:cs typeface="Arial" panose="020B0604020202020204" pitchFamily="34" charset="0"/>
              </a:rPr>
              <a:t> Prêt à investir entre </a:t>
            </a:r>
            <a:r>
              <a:rPr lang="fr-FR" sz="1600" b="1" dirty="0">
                <a:latin typeface="Arial" panose="020B0604020202020204" pitchFamily="34" charset="0"/>
                <a:cs typeface="Arial" panose="020B0604020202020204" pitchFamily="34" charset="0"/>
              </a:rPr>
              <a:t>50€ et 60€</a:t>
            </a:r>
            <a:r>
              <a:rPr lang="fr-FR" sz="1600" dirty="0">
                <a:latin typeface="Arial" panose="020B0604020202020204" pitchFamily="34" charset="0"/>
                <a:cs typeface="Arial" panose="020B0604020202020204" pitchFamily="34" charset="0"/>
              </a:rPr>
              <a:t> pour un jeu complet, confirmant que le prix "Premium" est accepté pour la qualité AAA.</a:t>
            </a:r>
          </a:p>
          <a:p>
            <a:pPr marL="285750" indent="-285750" algn="just">
              <a:buClr>
                <a:schemeClr val="tx1"/>
              </a:buClr>
              <a:buFont typeface="Wingdings" panose="05000000000000000000" pitchFamily="2" charset="2"/>
              <a:buChar char="q"/>
            </a:pPr>
            <a:endParaRPr lang="fr-FR" sz="1600" dirty="0">
              <a:latin typeface="Arial" panose="020B0604020202020204" pitchFamily="34" charset="0"/>
              <a:cs typeface="Arial" panose="020B0604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355"/>
        <p:cNvGrpSpPr/>
        <p:nvPr/>
      </p:nvGrpSpPr>
      <p:grpSpPr>
        <a:xfrm>
          <a:off x="0" y="0"/>
          <a:ext cx="0" cy="0"/>
          <a:chOff x="0" y="0"/>
          <a:chExt cx="0" cy="0"/>
        </a:xfrm>
      </p:grpSpPr>
      <p:sp>
        <p:nvSpPr>
          <p:cNvPr id="2356" name="Google Shape;2356;p15"/>
          <p:cNvSpPr txBox="1">
            <a:spLocks noGrp="1"/>
          </p:cNvSpPr>
          <p:nvPr>
            <p:ph type="title"/>
          </p:nvPr>
        </p:nvSpPr>
        <p:spPr>
          <a:xfrm>
            <a:off x="4422986" y="2045547"/>
            <a:ext cx="3481494" cy="887306"/>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200"/>
              <a:buNone/>
            </a:pPr>
            <a:r>
              <a:rPr lang="en" sz="2800" b="1" dirty="0">
                <a:latin typeface="Arial" panose="020B0604020202020204" pitchFamily="34" charset="0"/>
                <a:cs typeface="Arial" panose="020B0604020202020204" pitchFamily="34" charset="0"/>
              </a:rPr>
              <a:t>Recommandations stratégiques</a:t>
            </a:r>
            <a:endParaRPr b="1" dirty="0">
              <a:latin typeface="Arial" panose="020B0604020202020204" pitchFamily="34" charset="0"/>
              <a:cs typeface="Arial" panose="020B0604020202020204" pitchFamily="34" charset="0"/>
            </a:endParaRPr>
          </a:p>
        </p:txBody>
      </p:sp>
      <p:sp>
        <p:nvSpPr>
          <p:cNvPr id="2357" name="Google Shape;2357;p15"/>
          <p:cNvSpPr txBox="1">
            <a:spLocks noGrp="1"/>
          </p:cNvSpPr>
          <p:nvPr>
            <p:ph type="title" idx="2"/>
          </p:nvPr>
        </p:nvSpPr>
        <p:spPr>
          <a:xfrm>
            <a:off x="3296326" y="2045547"/>
            <a:ext cx="1126659" cy="887307"/>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2000"/>
              <a:buNone/>
            </a:pPr>
            <a:r>
              <a:rPr lang="en" sz="5400" dirty="0">
                <a:latin typeface="Arial" panose="020B0604020202020204" pitchFamily="34" charset="0"/>
                <a:cs typeface="Arial" panose="020B0604020202020204" pitchFamily="34" charset="0"/>
              </a:rPr>
              <a:t>09</a:t>
            </a:r>
            <a:endParaRPr sz="5400" dirty="0">
              <a:latin typeface="Arial" panose="020B0604020202020204" pitchFamily="34" charset="0"/>
              <a:cs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361"/>
        <p:cNvGrpSpPr/>
        <p:nvPr/>
      </p:nvGrpSpPr>
      <p:grpSpPr>
        <a:xfrm>
          <a:off x="0" y="0"/>
          <a:ext cx="0" cy="0"/>
          <a:chOff x="0" y="0"/>
          <a:chExt cx="0" cy="0"/>
        </a:xfrm>
      </p:grpSpPr>
      <p:sp>
        <p:nvSpPr>
          <p:cNvPr id="5" name="Google Shape;2363;p16"/>
          <p:cNvSpPr txBox="1"/>
          <p:nvPr/>
        </p:nvSpPr>
        <p:spPr>
          <a:xfrm>
            <a:off x="1886458" y="1586029"/>
            <a:ext cx="5106000" cy="1472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endParaRPr dirty="0"/>
          </a:p>
        </p:txBody>
      </p:sp>
      <p:sp>
        <p:nvSpPr>
          <p:cNvPr id="6" name="Rectangle 5">
            <a:extLst>
              <a:ext uri="{FF2B5EF4-FFF2-40B4-BE49-F238E27FC236}">
                <a16:creationId xmlns:a16="http://schemas.microsoft.com/office/drawing/2014/main" id="{A646448E-3808-62E4-9537-CF15F0ED388C}"/>
              </a:ext>
            </a:extLst>
          </p:cNvPr>
          <p:cNvSpPr>
            <a:spLocks noChangeArrowheads="1"/>
          </p:cNvSpPr>
          <p:nvPr/>
        </p:nvSpPr>
        <p:spPr bwMode="auto">
          <a:xfrm>
            <a:off x="1125913" y="1032867"/>
            <a:ext cx="7065817" cy="3077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800" b="1" i="0" u="none" strike="noStrike" cap="none" normalizeH="0" baseline="0" dirty="0">
                <a:ln>
                  <a:noFill/>
                </a:ln>
                <a:effectLst/>
                <a:latin typeface="Arial" panose="020B0604020202020204" pitchFamily="34" charset="0"/>
              </a:rPr>
              <a:t>Choix du Genre et de la Plateforme</a:t>
            </a:r>
          </a:p>
          <a:p>
            <a:pPr marL="0" marR="0" lvl="0" indent="0" algn="ctr" defTabSz="914400" rtl="0" eaLnBrk="0" fontAlgn="base" latinLnBrk="0" hangingPunct="0">
              <a:lnSpc>
                <a:spcPct val="100000"/>
              </a:lnSpc>
              <a:spcBef>
                <a:spcPct val="0"/>
              </a:spcBef>
              <a:spcAft>
                <a:spcPct val="0"/>
              </a:spcAft>
              <a:buClrTx/>
              <a:buSzTx/>
              <a:buFontTx/>
              <a:buNone/>
              <a:tabLst/>
            </a:pPr>
            <a:endParaRPr lang="fr-FR" altLang="fr-FR" sz="1800" b="1" dirty="0">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fr-FR" altLang="fr-FR" sz="1800" b="1" i="0" u="none" strike="noStrike" cap="none" normalizeH="0" baseline="0" dirty="0">
              <a:ln>
                <a:noFill/>
              </a:ln>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fr-FR" altLang="fr-FR" sz="1600" b="1" i="0" u="none" strike="noStrike" cap="none" normalizeH="0" baseline="0" dirty="0">
                <a:ln>
                  <a:noFill/>
                </a:ln>
                <a:effectLst/>
                <a:latin typeface="Arial" panose="020B0604020202020204" pitchFamily="34" charset="0"/>
              </a:rPr>
              <a:t>Prioriser l'Action et les Genres Narratifs :</a:t>
            </a:r>
            <a:r>
              <a:rPr kumimoji="0" lang="fr-FR" altLang="fr-FR" sz="1600" b="0" i="0" u="none" strike="noStrike" cap="none" normalizeH="0" baseline="0" dirty="0">
                <a:ln>
                  <a:noFill/>
                </a:ln>
                <a:effectLst/>
                <a:latin typeface="Arial" panose="020B0604020202020204" pitchFamily="34" charset="0"/>
              </a:rPr>
              <a:t> Les tests montrent une tendance forte pour les genres narratifs sur PC. Les données historiques de ventes confirment que les jeux d'</a:t>
            </a:r>
            <a:r>
              <a:rPr kumimoji="0" lang="fr-FR" altLang="fr-FR" sz="1600" b="1" i="0" u="none" strike="noStrike" cap="none" normalizeH="0" baseline="0" dirty="0">
                <a:ln>
                  <a:noFill/>
                </a:ln>
                <a:effectLst/>
                <a:latin typeface="Arial" panose="020B0604020202020204" pitchFamily="34" charset="0"/>
              </a:rPr>
              <a:t>Action</a:t>
            </a:r>
            <a:r>
              <a:rPr kumimoji="0" lang="fr-FR" altLang="fr-FR" sz="1600" b="0" i="0" u="none" strike="noStrike" cap="none" normalizeH="0" baseline="0" dirty="0">
                <a:ln>
                  <a:noFill/>
                </a:ln>
                <a:effectLst/>
                <a:latin typeface="Arial" panose="020B0604020202020204" pitchFamily="34" charset="0"/>
              </a:rPr>
              <a:t> et de </a:t>
            </a:r>
            <a:r>
              <a:rPr kumimoji="0" lang="fr-FR" altLang="fr-FR" sz="1600" b="1" i="0" u="none" strike="noStrike" cap="none" normalizeH="0" baseline="0" dirty="0">
                <a:ln>
                  <a:noFill/>
                </a:ln>
                <a:effectLst/>
                <a:latin typeface="Arial" panose="020B0604020202020204" pitchFamily="34" charset="0"/>
              </a:rPr>
              <a:t>Shooter</a:t>
            </a:r>
            <a:r>
              <a:rPr kumimoji="0" lang="fr-FR" altLang="fr-FR" sz="1600" b="0" i="0" u="none" strike="noStrike" cap="none" normalizeH="0" baseline="0" dirty="0">
                <a:ln>
                  <a:noFill/>
                </a:ln>
                <a:effectLst/>
                <a:latin typeface="Arial" panose="020B0604020202020204" pitchFamily="34" charset="0"/>
              </a:rPr>
              <a:t> dominent souvent le marché mondial en termes de volume.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fr-FR" altLang="fr-FR" sz="1600" b="0" i="0" u="none" strike="noStrike" cap="none" normalizeH="0" baseline="0" dirty="0">
              <a:ln>
                <a:noFill/>
              </a:ln>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fr-FR" altLang="fr-FR" sz="1600" b="1" i="0" u="none" strike="noStrike" cap="none" normalizeH="0" baseline="0" dirty="0">
                <a:ln>
                  <a:noFill/>
                </a:ln>
                <a:effectLst/>
                <a:latin typeface="Arial" panose="020B0604020202020204" pitchFamily="34" charset="0"/>
              </a:rPr>
              <a:t>Cibler la PS5 et le PC :</a:t>
            </a:r>
            <a:r>
              <a:rPr kumimoji="0" lang="fr-FR" altLang="fr-FR" sz="1600" b="0" i="0" u="none" strike="noStrike" cap="none" normalizeH="0" baseline="0" dirty="0">
                <a:ln>
                  <a:noFill/>
                </a:ln>
                <a:effectLst/>
                <a:latin typeface="Arial" panose="020B0604020202020204" pitchFamily="34" charset="0"/>
              </a:rPr>
              <a:t> Étant donné que le segment "</a:t>
            </a:r>
            <a:r>
              <a:rPr kumimoji="0" lang="fr-FR" altLang="fr-FR" sz="1600" b="0" i="0" u="none" strike="noStrike" cap="none" normalizeH="0" baseline="0" dirty="0" err="1">
                <a:ln>
                  <a:noFill/>
                </a:ln>
                <a:effectLst/>
                <a:latin typeface="Arial" panose="020B0604020202020204" pitchFamily="34" charset="0"/>
              </a:rPr>
              <a:t>Core</a:t>
            </a:r>
            <a:r>
              <a:rPr kumimoji="0" lang="fr-FR" altLang="fr-FR" sz="1600" b="0" i="0" u="none" strike="noStrike" cap="none" normalizeH="0" baseline="0" dirty="0">
                <a:ln>
                  <a:noFill/>
                </a:ln>
                <a:effectLst/>
                <a:latin typeface="Arial" panose="020B0604020202020204" pitchFamily="34" charset="0"/>
              </a:rPr>
              <a:t> Gamer" privilégie ces plateformes pour la performance technique, le jeu doit être optimisé pour exploiter le Ray Tracing et les SSD haute vitesse.</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fr-FR" altLang="fr-FR" sz="1200" b="0" i="0" u="none" strike="noStrike" cap="none" normalizeH="0" baseline="0" dirty="0">
              <a:ln>
                <a:noFill/>
              </a:ln>
              <a:effectLst/>
              <a:latin typeface="Arial" panose="020B0604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6FD11559-BDB8-FCFD-185D-B6EC6457A1C4}"/>
              </a:ext>
            </a:extLst>
          </p:cNvPr>
          <p:cNvSpPr>
            <a:spLocks noChangeArrowheads="1"/>
          </p:cNvSpPr>
          <p:nvPr/>
        </p:nvSpPr>
        <p:spPr bwMode="auto">
          <a:xfrm>
            <a:off x="990599" y="774015"/>
            <a:ext cx="7575115"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b="1" i="0" u="none" strike="noStrike" cap="none" normalizeH="0" baseline="0" dirty="0">
                <a:ln>
                  <a:noFill/>
                </a:ln>
                <a:effectLst/>
                <a:latin typeface="Arial" panose="020B0604020202020204" pitchFamily="34" charset="0"/>
                <a:cs typeface="Arial" panose="020B0604020202020204" pitchFamily="34" charset="0"/>
              </a:rPr>
              <a:t>Stratégie de Monétisation et Contenu</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fr-FR" altLang="fr-FR" sz="1600" b="1" i="0" u="none" strike="noStrike" cap="none" normalizeH="0" baseline="0" dirty="0">
              <a:ln>
                <a:noFill/>
              </a:ln>
              <a:effectLst/>
              <a:latin typeface="Arial" panose="020B0604020202020204" pitchFamily="34"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fr-FR" altLang="fr-FR" sz="1600" b="1" i="0" u="none" strike="noStrike" cap="none" normalizeH="0" baseline="0" dirty="0">
              <a:ln>
                <a:noFill/>
              </a:ln>
              <a:effectLst/>
              <a:latin typeface="Arial" panose="020B0604020202020204" pitchFamily="34"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fr-FR" altLang="fr-FR" sz="1600" b="1" i="0" u="none" strike="noStrike" cap="none" normalizeH="0" baseline="0" dirty="0">
              <a:ln>
                <a:noFill/>
              </a:ln>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fr-FR" altLang="fr-FR" sz="1600" b="1" i="0" u="none" strike="noStrike" cap="none" normalizeH="0" baseline="0" dirty="0">
                <a:ln>
                  <a:noFill/>
                </a:ln>
                <a:effectLst/>
                <a:latin typeface="Arial" panose="020B0604020202020204" pitchFamily="34" charset="0"/>
                <a:cs typeface="Arial" panose="020B0604020202020204" pitchFamily="34" charset="0"/>
              </a:rPr>
              <a:t>Modèle Premium avec DLC narratifs :</a:t>
            </a:r>
            <a:r>
              <a:rPr kumimoji="0" lang="fr-FR" altLang="fr-FR" sz="1600" b="0" i="0" u="none" strike="noStrike" cap="none" normalizeH="0" baseline="0" dirty="0">
                <a:ln>
                  <a:noFill/>
                </a:ln>
                <a:effectLst/>
                <a:latin typeface="Arial" panose="020B0604020202020204" pitchFamily="34" charset="0"/>
                <a:cs typeface="Arial" panose="020B0604020202020204" pitchFamily="34" charset="0"/>
              </a:rPr>
              <a:t> Les analyses indiquent que le prix n'est pas le premier critère pour les joueurs solo passionnés, contrairement au scénario qui est le critère n°1 (confirmé à 100% dans tes données).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fr-FR" altLang="fr-FR" sz="1600" b="0" i="0" u="none" strike="noStrike" cap="none" normalizeH="0" baseline="0" dirty="0">
              <a:ln>
                <a:noFill/>
              </a:ln>
              <a:effectLst/>
              <a:latin typeface="Arial" panose="020B0604020202020204" pitchFamily="34" charset="0"/>
              <a:cs typeface="Arial" panose="020B0604020202020204" pitchFamily="34" charset="0"/>
            </a:endParaRPr>
          </a:p>
          <a:p>
            <a:pPr lvl="0" algn="just" eaLnBrk="0" fontAlgn="base" hangingPunct="0">
              <a:spcBef>
                <a:spcPct val="0"/>
              </a:spcBef>
              <a:spcAft>
                <a:spcPct val="0"/>
              </a:spcAft>
              <a:buClrTx/>
              <a:buFontTx/>
              <a:buChar char="•"/>
            </a:pPr>
            <a:r>
              <a:rPr kumimoji="0" lang="fr-FR" altLang="fr-FR" sz="1600" b="1" i="0" u="none" strike="noStrike" cap="none" normalizeH="0" baseline="0" dirty="0">
                <a:ln>
                  <a:noFill/>
                </a:ln>
                <a:effectLst/>
                <a:latin typeface="Arial" panose="020B0604020202020204" pitchFamily="34" charset="0"/>
                <a:cs typeface="Arial" panose="020B0604020202020204" pitchFamily="34" charset="0"/>
              </a:rPr>
              <a:t>Recommandation :</a:t>
            </a:r>
            <a:r>
              <a:rPr kumimoji="0" lang="fr-FR" altLang="fr-FR" sz="1600" b="0" i="0" u="none" strike="noStrike" cap="none" normalizeH="0" baseline="0" dirty="0">
                <a:ln>
                  <a:noFill/>
                </a:ln>
                <a:effectLst/>
                <a:latin typeface="Arial" panose="020B0604020202020204" pitchFamily="34" charset="0"/>
                <a:cs typeface="Arial" panose="020B0604020202020204" pitchFamily="34" charset="0"/>
              </a:rPr>
              <a:t> Lancer un jeu complet (modèle «</a:t>
            </a:r>
            <a:r>
              <a:rPr kumimoji="0" lang="fr-FR" altLang="fr-FR" sz="1600" b="0" i="0" u="none" strike="noStrike" cap="none" normalizeH="0" baseline="0" dirty="0" err="1">
                <a:ln>
                  <a:noFill/>
                </a:ln>
                <a:effectLst/>
                <a:latin typeface="Arial" panose="020B0604020202020204" pitchFamily="34" charset="0"/>
                <a:cs typeface="Arial" panose="020B0604020202020204" pitchFamily="34" charset="0"/>
              </a:rPr>
              <a:t>Buy</a:t>
            </a:r>
            <a:r>
              <a:rPr kumimoji="0" lang="fr-FR" altLang="fr-FR" sz="1600" b="0" i="0" u="none" strike="noStrike" cap="none" normalizeH="0" baseline="0" dirty="0">
                <a:ln>
                  <a:noFill/>
                </a:ln>
                <a:effectLst/>
                <a:latin typeface="Arial" panose="020B0604020202020204" pitchFamily="34" charset="0"/>
                <a:cs typeface="Arial" panose="020B0604020202020204" pitchFamily="34" charset="0"/>
              </a:rPr>
              <a:t>-to-Play</a:t>
            </a:r>
            <a:r>
              <a:rPr lang="fr-FR" altLang="fr-FR" sz="1600" dirty="0">
                <a:latin typeface="Arial" panose="020B0604020202020204" pitchFamily="34" charset="0"/>
                <a:cs typeface="Arial" panose="020B0604020202020204" pitchFamily="34" charset="0"/>
              </a:rPr>
              <a:t>»</a:t>
            </a:r>
            <a:r>
              <a:rPr kumimoji="0" lang="fr-FR" altLang="fr-FR" sz="1600" b="0" i="0" u="none" strike="noStrike" cap="none" normalizeH="0" baseline="0" dirty="0">
                <a:ln>
                  <a:noFill/>
                </a:ln>
                <a:effectLst/>
                <a:latin typeface="Arial" panose="020B0604020202020204" pitchFamily="34" charset="0"/>
                <a:cs typeface="Arial" panose="020B0604020202020204" pitchFamily="34" charset="0"/>
              </a:rPr>
              <a:t> à </a:t>
            </a:r>
            <a:r>
              <a:rPr lang="fr-FR" sz="1600" dirty="0">
                <a:latin typeface="Arial" panose="020B0604020202020204" pitchFamily="34" charset="0"/>
                <a:cs typeface="Arial" panose="020B0604020202020204" pitchFamily="34" charset="0"/>
              </a:rPr>
              <a:t>59,99 €</a:t>
            </a:r>
            <a:r>
              <a:rPr kumimoji="0" lang="fr-FR" altLang="fr-FR" sz="1600" b="0" i="0" u="none" strike="noStrike" cap="none" normalizeH="0" baseline="0" dirty="0">
                <a:ln>
                  <a:noFill/>
                </a:ln>
                <a:effectLst/>
                <a:latin typeface="Arial" panose="020B0604020202020204" pitchFamily="34" charset="0"/>
                <a:cs typeface="Arial" panose="020B0604020202020204" pitchFamily="34" charset="0"/>
              </a:rPr>
              <a:t>) pour établir la confiance, puis proposer des extensions narratives qui enrichissent l'univers, plutôt que des microtransactions cosmétiques qui pourraient nuire à l'image "Triple A" de qualité.</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fr-FR" altLang="fr-FR" sz="1600" b="0" i="0" u="none" strike="noStrike" cap="none" normalizeH="0" baseline="0" dirty="0">
              <a:ln>
                <a:noFill/>
              </a:ln>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657269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D0F24A60-2A46-E767-CD00-27D401B8D121}"/>
              </a:ext>
            </a:extLst>
          </p:cNvPr>
          <p:cNvSpPr txBox="1"/>
          <p:nvPr/>
        </p:nvSpPr>
        <p:spPr>
          <a:xfrm>
            <a:off x="596054" y="1195636"/>
            <a:ext cx="7522863" cy="2339102"/>
          </a:xfrm>
          <a:prstGeom prst="rect">
            <a:avLst/>
          </a:prstGeom>
          <a:noFill/>
        </p:spPr>
        <p:txBody>
          <a:bodyPr wrap="square">
            <a:spAutoFit/>
          </a:bodyPr>
          <a:lstStyle/>
          <a:p>
            <a:pPr algn="ctr">
              <a:buNone/>
            </a:pPr>
            <a:r>
              <a:rPr lang="fr-FR" b="1" dirty="0">
                <a:latin typeface="Arial" panose="020B0604020202020204" pitchFamily="34" charset="0"/>
                <a:cs typeface="Arial" panose="020B0604020202020204" pitchFamily="34" charset="0"/>
              </a:rPr>
              <a:t>Écosystème et Lancement</a:t>
            </a:r>
            <a:endParaRPr lang="fr-FR" sz="1600" b="1" dirty="0">
              <a:latin typeface="Arial" panose="020B0604020202020204" pitchFamily="34" charset="0"/>
              <a:cs typeface="Arial" panose="020B0604020202020204" pitchFamily="34" charset="0"/>
            </a:endParaRPr>
          </a:p>
          <a:p>
            <a:pPr algn="just">
              <a:buNone/>
            </a:pPr>
            <a:endParaRPr lang="fr-FR" sz="1600" b="1" dirty="0">
              <a:latin typeface="Arial" panose="020B0604020202020204" pitchFamily="34" charset="0"/>
              <a:cs typeface="Arial" panose="020B0604020202020204" pitchFamily="34" charset="0"/>
            </a:endParaRPr>
          </a:p>
          <a:p>
            <a:pPr algn="just">
              <a:buNone/>
            </a:pPr>
            <a:endParaRPr lang="fr-FR" sz="1600" b="1" dirty="0">
              <a:latin typeface="Arial" panose="020B0604020202020204" pitchFamily="34" charset="0"/>
              <a:cs typeface="Arial" panose="020B0604020202020204" pitchFamily="34" charset="0"/>
            </a:endParaRPr>
          </a:p>
          <a:p>
            <a:pPr algn="just"/>
            <a:r>
              <a:rPr lang="fr-FR" sz="1600" b="1" dirty="0">
                <a:latin typeface="Arial" panose="020B0604020202020204" pitchFamily="34" charset="0"/>
                <a:cs typeface="Arial" panose="020B0604020202020204" pitchFamily="34" charset="0"/>
              </a:rPr>
              <a:t>Partenariats Influenceurs "Techniques" :</a:t>
            </a:r>
            <a:r>
              <a:rPr lang="fr-FR" sz="1600" dirty="0">
                <a:latin typeface="Arial" panose="020B0604020202020204" pitchFamily="34" charset="0"/>
                <a:cs typeface="Arial" panose="020B0604020202020204" pitchFamily="34" charset="0"/>
              </a:rPr>
              <a:t> Collaborer avec des influenceurs spécialisés dans le hardware et les analyses de performance pour valider la promesse de "Triple A technique".</a:t>
            </a:r>
          </a:p>
          <a:p>
            <a:pPr algn="just">
              <a:buFont typeface="Arial" panose="020B0604020202020204" pitchFamily="34" charset="0"/>
              <a:buChar char="•"/>
            </a:pPr>
            <a:endParaRPr lang="fr-FR" sz="1600" dirty="0">
              <a:latin typeface="Arial" panose="020B0604020202020204" pitchFamily="34" charset="0"/>
              <a:cs typeface="Arial" panose="020B0604020202020204" pitchFamily="34" charset="0"/>
            </a:endParaRPr>
          </a:p>
          <a:p>
            <a:pPr algn="just"/>
            <a:r>
              <a:rPr lang="fr-FR" sz="1600" b="1" dirty="0">
                <a:latin typeface="Arial" panose="020B0604020202020204" pitchFamily="34" charset="0"/>
                <a:cs typeface="Arial" panose="020B0604020202020204" pitchFamily="34" charset="0"/>
              </a:rPr>
              <a:t>Engagement Communautaire :</a:t>
            </a:r>
            <a:r>
              <a:rPr lang="fr-FR" sz="1600" dirty="0">
                <a:latin typeface="Arial" panose="020B0604020202020204" pitchFamily="34" charset="0"/>
                <a:cs typeface="Arial" panose="020B0604020202020204" pitchFamily="34" charset="0"/>
              </a:rPr>
              <a:t> Créer un accès anticipé pour le segment "</a:t>
            </a:r>
            <a:r>
              <a:rPr lang="fr-FR" sz="1600" dirty="0" err="1">
                <a:latin typeface="Arial" panose="020B0604020202020204" pitchFamily="34" charset="0"/>
                <a:cs typeface="Arial" panose="020B0604020202020204" pitchFamily="34" charset="0"/>
              </a:rPr>
              <a:t>Core</a:t>
            </a:r>
            <a:r>
              <a:rPr lang="fr-FR" sz="1600" dirty="0">
                <a:latin typeface="Arial" panose="020B0604020202020204" pitchFamily="34" charset="0"/>
                <a:cs typeface="Arial" panose="020B0604020202020204" pitchFamily="34" charset="0"/>
              </a:rPr>
              <a:t> Gamer" afin de créer des ambassadeurs de marque avant la sortie officielle. </a:t>
            </a:r>
          </a:p>
        </p:txBody>
      </p:sp>
    </p:spTree>
    <p:extLst>
      <p:ext uri="{BB962C8B-B14F-4D97-AF65-F5344CB8AC3E}">
        <p14:creationId xmlns:p14="http://schemas.microsoft.com/office/powerpoint/2010/main" val="26279499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81F2B5CB-18CF-CE33-CF40-AB4EA9AE9A9A}"/>
              </a:ext>
            </a:extLst>
          </p:cNvPr>
          <p:cNvSpPr txBox="1"/>
          <p:nvPr/>
        </p:nvSpPr>
        <p:spPr>
          <a:xfrm>
            <a:off x="973280" y="858165"/>
            <a:ext cx="7554191" cy="2923877"/>
          </a:xfrm>
          <a:prstGeom prst="rect">
            <a:avLst/>
          </a:prstGeom>
          <a:noFill/>
        </p:spPr>
        <p:txBody>
          <a:bodyPr wrap="square">
            <a:spAutoFit/>
          </a:bodyPr>
          <a:lstStyle/>
          <a:p>
            <a:pPr algn="ctr">
              <a:buNone/>
            </a:pPr>
            <a:r>
              <a:rPr lang="fr-FR" b="1" dirty="0">
                <a:latin typeface="Arial" panose="020B0604020202020204" pitchFamily="34" charset="0"/>
                <a:cs typeface="Arial" panose="020B0604020202020204" pitchFamily="34" charset="0"/>
              </a:rPr>
              <a:t>Prévisions des ventes</a:t>
            </a:r>
          </a:p>
          <a:p>
            <a:pPr algn="ctr">
              <a:buNone/>
            </a:pPr>
            <a:endParaRPr lang="fr-FR" b="1" dirty="0">
              <a:latin typeface="Arial" panose="020B0604020202020204" pitchFamily="34" charset="0"/>
              <a:cs typeface="Arial" panose="020B0604020202020204" pitchFamily="34" charset="0"/>
            </a:endParaRPr>
          </a:p>
          <a:p>
            <a:pPr algn="ctr">
              <a:buNone/>
            </a:pPr>
            <a:endParaRPr lang="fr-FR" b="1" dirty="0">
              <a:latin typeface="Arial" panose="020B0604020202020204" pitchFamily="34" charset="0"/>
              <a:cs typeface="Arial" panose="020B0604020202020204" pitchFamily="34" charset="0"/>
            </a:endParaRPr>
          </a:p>
          <a:p>
            <a:pPr algn="ctr">
              <a:buNone/>
            </a:pPr>
            <a:endParaRPr lang="fr-FR" b="1" dirty="0">
              <a:latin typeface="Arial" panose="020B0604020202020204" pitchFamily="34" charset="0"/>
              <a:cs typeface="Arial" panose="020B0604020202020204" pitchFamily="34" charset="0"/>
            </a:endParaRPr>
          </a:p>
          <a:p>
            <a:pPr algn="just"/>
            <a:r>
              <a:rPr lang="fr-FR" sz="1600" b="1" dirty="0">
                <a:latin typeface="Arial" panose="020B0604020202020204" pitchFamily="34" charset="0"/>
                <a:cs typeface="Arial" panose="020B0604020202020204" pitchFamily="34" charset="0"/>
              </a:rPr>
              <a:t>Concept :</a:t>
            </a:r>
            <a:r>
              <a:rPr lang="fr-FR" sz="1600" dirty="0">
                <a:latin typeface="Arial" panose="020B0604020202020204" pitchFamily="34" charset="0"/>
                <a:cs typeface="Arial" panose="020B0604020202020204" pitchFamily="34" charset="0"/>
              </a:rPr>
              <a:t> Un RPG d'action narratif (Action-RPG) se déroulant dans un univers original.</a:t>
            </a:r>
          </a:p>
          <a:p>
            <a:pPr algn="just"/>
            <a:endParaRPr lang="fr-FR" sz="1600" dirty="0">
              <a:latin typeface="Arial" panose="020B0604020202020204" pitchFamily="34" charset="0"/>
              <a:cs typeface="Arial" panose="020B0604020202020204" pitchFamily="34" charset="0"/>
            </a:endParaRPr>
          </a:p>
          <a:p>
            <a:pPr algn="just"/>
            <a:r>
              <a:rPr lang="fr-FR" sz="1600" b="1" dirty="0">
                <a:latin typeface="Arial" panose="020B0604020202020204" pitchFamily="34" charset="0"/>
                <a:cs typeface="Arial" panose="020B0604020202020204" pitchFamily="34" charset="0"/>
              </a:rPr>
              <a:t>Prévision des ventes :</a:t>
            </a:r>
            <a:r>
              <a:rPr lang="fr-FR" sz="1600" dirty="0">
                <a:latin typeface="Arial" panose="020B0604020202020204" pitchFamily="34" charset="0"/>
                <a:cs typeface="Arial" panose="020B0604020202020204" pitchFamily="34" charset="0"/>
              </a:rPr>
              <a:t> En se basant sur les performances des nouveaux Triple A de studios émergents, on peut viser un objectif conservateur de </a:t>
            </a:r>
            <a:r>
              <a:rPr lang="fr-FR" sz="1600" b="1" dirty="0">
                <a:latin typeface="Arial" panose="020B0604020202020204" pitchFamily="34" charset="0"/>
                <a:cs typeface="Arial" panose="020B0604020202020204" pitchFamily="34" charset="0"/>
              </a:rPr>
              <a:t>1,5 à 2,5 millions d'unités</a:t>
            </a:r>
            <a:r>
              <a:rPr lang="fr-FR" sz="1600" dirty="0">
                <a:latin typeface="Arial" panose="020B0604020202020204" pitchFamily="34" charset="0"/>
                <a:cs typeface="Arial" panose="020B0604020202020204" pitchFamily="34" charset="0"/>
              </a:rPr>
              <a:t> la première année, à condition d'avoir une note Metacritic supérieure à 80.</a:t>
            </a:r>
          </a:p>
        </p:txBody>
      </p:sp>
    </p:spTree>
    <p:extLst>
      <p:ext uri="{BB962C8B-B14F-4D97-AF65-F5344CB8AC3E}">
        <p14:creationId xmlns:p14="http://schemas.microsoft.com/office/powerpoint/2010/main" val="11607380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EC76B5"/>
      </a:hlink>
      <a:folHlink>
        <a:srgbClr val="E8ACCD"/>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A207AED3-9ABC-4A18-9978-A59B65688B15}"/>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838</TotalTime>
  <Words>2396</Words>
  <Application>Microsoft Office PowerPoint</Application>
  <PresentationFormat>Affichage à l'écran (16:9)</PresentationFormat>
  <Paragraphs>260</Paragraphs>
  <Slides>34</Slides>
  <Notes>15</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34</vt:i4>
      </vt:variant>
    </vt:vector>
  </HeadingPairs>
  <TitlesOfParts>
    <vt:vector size="41" baseType="lpstr">
      <vt:lpstr>Arial</vt:lpstr>
      <vt:lpstr>Wingdings 3</vt:lpstr>
      <vt:lpstr>Space Grotesk Medium</vt:lpstr>
      <vt:lpstr>Wingdings</vt:lpstr>
      <vt:lpstr>Century Gothic</vt:lpstr>
      <vt:lpstr>Space Grotesk</vt:lpstr>
      <vt:lpstr>Ion</vt:lpstr>
      <vt:lpstr>Présentation PowerPoint</vt:lpstr>
      <vt:lpstr>Le contexte</vt:lpstr>
      <vt:lpstr>Le contexte</vt:lpstr>
      <vt:lpstr>L'entreprise : UOI Games est un acteur spécialisé dans l'industrie du jeu vidéo. Forte de son expertise, l'entreprise souhaite aujourd'hui franchir un cap stratégique majeur : le développement et le lancement de son premier jeu vidéo Triple A (AAA).  L'enjeu du projet "Triple A" : Dans l'industrie, un projet Triple A représente le haut de gamme :  Investissements massifs : Budgets de développement et de marketing s'élevant à plusieurs dizaines (voire centaines) de millions d'euros.  Équipes multidisciplinaires : Intervention coordonnée de développeurs, designers, scénaristes, testeurs, et experts en communication.  Écosystème complexe : Un jeu ne vit plus seul ; il s'accompagne de produits dérivés, de séries, d'influenceurs et de communautés actives.</vt:lpstr>
      <vt:lpstr>La matrice SWOT/PESTEL</vt:lpstr>
      <vt:lpstr>Présentation PowerPoint</vt:lpstr>
      <vt:lpstr>Politique Soutien des gouvernements au secteur (ex: Crédit d'Impôt Jeu Vidéo en France). Régulations sur la protection des mineurs et les "loot boxes" (achats intégrés) qui sont surveillées par l'Union Européenne.</vt:lpstr>
      <vt:lpstr>Analyses des tendances actuelles</vt:lpstr>
      <vt:lpstr>Présentation PowerPoint</vt:lpstr>
      <vt:lpstr>Présentation PowerPoint</vt:lpstr>
      <vt:lpstr>Présentation PowerPoint</vt:lpstr>
      <vt:lpstr>Les hypothèses de l’étude</vt:lpstr>
      <vt:lpstr>Présentation PowerPoint</vt:lpstr>
      <vt:lpstr>Analyses du questionnaire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Les futures tendances et perspectives</vt:lpstr>
      <vt:lpstr>Présentation PowerPoint</vt:lpstr>
      <vt:lpstr>Tests Des hypothèses</vt:lpstr>
      <vt:lpstr>Présentation PowerPoint</vt:lpstr>
      <vt:lpstr>Analyse du segment</vt:lpstr>
      <vt:lpstr>Présentation PowerPoint</vt:lpstr>
      <vt:lpstr>Recommandations stratégiques</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Jeremy</dc:creator>
  <cp:lastModifiedBy>Assia KAMOUNE</cp:lastModifiedBy>
  <cp:revision>14</cp:revision>
  <dcterms:modified xsi:type="dcterms:W3CDTF">2026-04-10T15:23:57Z</dcterms:modified>
</cp:coreProperties>
</file>